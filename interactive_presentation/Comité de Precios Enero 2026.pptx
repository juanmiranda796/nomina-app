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1.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sldIdLst>
    <p:sldId id="265" r:id="rId5"/>
    <p:sldId id="256" r:id="rId6"/>
    <p:sldId id="262" r:id="rId7"/>
    <p:sldId id="268" r:id="rId8"/>
    <p:sldId id="283" r:id="rId9"/>
    <p:sldId id="269" r:id="rId10"/>
    <p:sldId id="270" r:id="rId11"/>
    <p:sldId id="271" r:id="rId12"/>
    <p:sldId id="272" r:id="rId13"/>
    <p:sldId id="273" r:id="rId14"/>
    <p:sldId id="291" r:id="rId15"/>
    <p:sldId id="290" r:id="rId16"/>
    <p:sldId id="289" r:id="rId17"/>
    <p:sldId id="288" r:id="rId18"/>
    <p:sldId id="287" r:id="rId19"/>
    <p:sldId id="286" r:id="rId20"/>
    <p:sldId id="292" r:id="rId21"/>
    <p:sldId id="294" r:id="rId22"/>
    <p:sldId id="293" r:id="rId23"/>
    <p:sldId id="295" r:id="rId24"/>
    <p:sldId id="296" r:id="rId25"/>
    <p:sldId id="298" r:id="rId26"/>
    <p:sldId id="297" r:id="rId27"/>
    <p:sldId id="274" r:id="rId28"/>
    <p:sldId id="275" r:id="rId29"/>
    <p:sldId id="276" r:id="rId30"/>
    <p:sldId id="277" r:id="rId31"/>
    <p:sldId id="278" r:id="rId32"/>
    <p:sldId id="299" r:id="rId33"/>
    <p:sldId id="303" r:id="rId34"/>
    <p:sldId id="302" r:id="rId35"/>
    <p:sldId id="301" r:id="rId36"/>
    <p:sldId id="266" r:id="rId37"/>
    <p:sldId id="264" r:id="rId3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00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4" autoAdjust="0"/>
    <p:restoredTop sz="94658"/>
  </p:normalViewPr>
  <p:slideViewPr>
    <p:cSldViewPr snapToGrid="0">
      <p:cViewPr>
        <p:scale>
          <a:sx n="76" d="100"/>
          <a:sy n="76" d="100"/>
        </p:scale>
        <p:origin x="42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oleObject" Target="file:///\\980fondow\Financiera\Comite%20de%20Precios\2026\1.%20Enero%202026\5.%20Metodologia%20atribuciones%20tasa%20viviend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980fondow\Financiera\Comite%20de%20Precios\2026\1.%20Enero%202026\3.%20Colocaci&#243;n_Diciembr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980fondow\Financiera\Comite%20de%20Precios\2026\1.%20Enero%202026\3.%20Colocaci&#243;n_Diciembr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980fondow\Financiera\Comite%20de%20Precios\2026\1.%20Enero%202026\3.%20Colocaci&#243;n_Diciembr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980fondow\Financiera\Comite%20de%20Precios\2026\1.%20Enero%202026\3.%20Colocaci&#243;n_Diciembr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980fondow\Financiera\Comite%20de%20Precios\2026\1.%20Enero%202026\4.%20Benchmarking%20de%20TPP%20consumo%20-%20Sector%20Financiero%20-%20vehiculo.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980fondow\Financiera\Comite%20de%20Precios\2025\11.%20NOVIEMBRE%202025\2.%20Captaci&#243;n%20Octubre%202025.xlsx" TargetMode="External"/><Relationship Id="rId2" Type="http://schemas.microsoft.com/office/2011/relationships/chartColorStyle" Target="colors25.xml"/><Relationship Id="rId1" Type="http://schemas.microsoft.com/office/2011/relationships/chartStyle" Target="style2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a:t>Inflación</a:t>
            </a:r>
            <a:r>
              <a:rPr lang="es-CO" baseline="0"/>
              <a:t> y Tasa de intervención </a:t>
            </a:r>
            <a:endParaRPr lang="es-CO"/>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lineChart>
        <c:grouping val="standard"/>
        <c:varyColors val="0"/>
        <c:ser>
          <c:idx val="0"/>
          <c:order val="0"/>
          <c:tx>
            <c:strRef>
              <c:f>Hoja1!$D$1</c:f>
              <c:strCache>
                <c:ptCount val="1"/>
                <c:pt idx="0">
                  <c:v> Inflación anual</c:v>
                </c:pt>
              </c:strCache>
            </c:strRef>
          </c:tx>
          <c:spPr>
            <a:ln w="28575" cap="rnd">
              <a:solidFill>
                <a:schemeClr val="accent1"/>
              </a:solidFill>
              <a:round/>
            </a:ln>
            <a:effectLst/>
          </c:spPr>
          <c:marker>
            <c:symbol val="none"/>
          </c:marker>
          <c:cat>
            <c:numRef>
              <c:f>Hoja1!$C$2:$C$308</c:f>
              <c:numCache>
                <c:formatCode>m/d/yyyy</c:formatCode>
                <c:ptCount val="307"/>
                <c:pt idx="0">
                  <c:v>36678</c:v>
                </c:pt>
                <c:pt idx="1">
                  <c:v>36708</c:v>
                </c:pt>
                <c:pt idx="2">
                  <c:v>36739</c:v>
                </c:pt>
                <c:pt idx="3">
                  <c:v>36770</c:v>
                </c:pt>
                <c:pt idx="4">
                  <c:v>36800</c:v>
                </c:pt>
                <c:pt idx="5">
                  <c:v>36831</c:v>
                </c:pt>
                <c:pt idx="6">
                  <c:v>36861</c:v>
                </c:pt>
                <c:pt idx="7">
                  <c:v>36892</c:v>
                </c:pt>
                <c:pt idx="8">
                  <c:v>36923</c:v>
                </c:pt>
                <c:pt idx="9">
                  <c:v>36951</c:v>
                </c:pt>
                <c:pt idx="10">
                  <c:v>36982</c:v>
                </c:pt>
                <c:pt idx="11">
                  <c:v>37012</c:v>
                </c:pt>
                <c:pt idx="12">
                  <c:v>37043</c:v>
                </c:pt>
                <c:pt idx="13">
                  <c:v>37073</c:v>
                </c:pt>
                <c:pt idx="14">
                  <c:v>37104</c:v>
                </c:pt>
                <c:pt idx="15">
                  <c:v>37135</c:v>
                </c:pt>
                <c:pt idx="16">
                  <c:v>37165</c:v>
                </c:pt>
                <c:pt idx="17">
                  <c:v>37196</c:v>
                </c:pt>
                <c:pt idx="18">
                  <c:v>37226</c:v>
                </c:pt>
                <c:pt idx="19">
                  <c:v>37257</c:v>
                </c:pt>
                <c:pt idx="20">
                  <c:v>37288</c:v>
                </c:pt>
                <c:pt idx="21">
                  <c:v>37316</c:v>
                </c:pt>
                <c:pt idx="22">
                  <c:v>37347</c:v>
                </c:pt>
                <c:pt idx="23">
                  <c:v>37377</c:v>
                </c:pt>
                <c:pt idx="24">
                  <c:v>37408</c:v>
                </c:pt>
                <c:pt idx="25">
                  <c:v>37438</c:v>
                </c:pt>
                <c:pt idx="26">
                  <c:v>37469</c:v>
                </c:pt>
                <c:pt idx="27">
                  <c:v>37500</c:v>
                </c:pt>
                <c:pt idx="28">
                  <c:v>37530</c:v>
                </c:pt>
                <c:pt idx="29">
                  <c:v>37561</c:v>
                </c:pt>
                <c:pt idx="30">
                  <c:v>37591</c:v>
                </c:pt>
                <c:pt idx="31">
                  <c:v>37622</c:v>
                </c:pt>
                <c:pt idx="32">
                  <c:v>37653</c:v>
                </c:pt>
                <c:pt idx="33">
                  <c:v>37681</c:v>
                </c:pt>
                <c:pt idx="34">
                  <c:v>37712</c:v>
                </c:pt>
                <c:pt idx="35">
                  <c:v>37742</c:v>
                </c:pt>
                <c:pt idx="36">
                  <c:v>37773</c:v>
                </c:pt>
                <c:pt idx="37">
                  <c:v>37803</c:v>
                </c:pt>
                <c:pt idx="38">
                  <c:v>37834</c:v>
                </c:pt>
                <c:pt idx="39">
                  <c:v>37865</c:v>
                </c:pt>
                <c:pt idx="40">
                  <c:v>37895</c:v>
                </c:pt>
                <c:pt idx="41">
                  <c:v>37926</c:v>
                </c:pt>
                <c:pt idx="42">
                  <c:v>37956</c:v>
                </c:pt>
                <c:pt idx="43">
                  <c:v>37987</c:v>
                </c:pt>
                <c:pt idx="44">
                  <c:v>38018</c:v>
                </c:pt>
                <c:pt idx="45">
                  <c:v>38047</c:v>
                </c:pt>
                <c:pt idx="46">
                  <c:v>38078</c:v>
                </c:pt>
                <c:pt idx="47">
                  <c:v>38108</c:v>
                </c:pt>
                <c:pt idx="48">
                  <c:v>38139</c:v>
                </c:pt>
                <c:pt idx="49">
                  <c:v>38169</c:v>
                </c:pt>
                <c:pt idx="50">
                  <c:v>38200</c:v>
                </c:pt>
                <c:pt idx="51">
                  <c:v>38231</c:v>
                </c:pt>
                <c:pt idx="52">
                  <c:v>38261</c:v>
                </c:pt>
                <c:pt idx="53">
                  <c:v>38292</c:v>
                </c:pt>
                <c:pt idx="54">
                  <c:v>38322</c:v>
                </c:pt>
                <c:pt idx="55">
                  <c:v>38353</c:v>
                </c:pt>
                <c:pt idx="56">
                  <c:v>38384</c:v>
                </c:pt>
                <c:pt idx="57">
                  <c:v>38412</c:v>
                </c:pt>
                <c:pt idx="58">
                  <c:v>38443</c:v>
                </c:pt>
                <c:pt idx="59">
                  <c:v>38473</c:v>
                </c:pt>
                <c:pt idx="60">
                  <c:v>38504</c:v>
                </c:pt>
                <c:pt idx="61">
                  <c:v>38534</c:v>
                </c:pt>
                <c:pt idx="62">
                  <c:v>38565</c:v>
                </c:pt>
                <c:pt idx="63">
                  <c:v>38596</c:v>
                </c:pt>
                <c:pt idx="64">
                  <c:v>38626</c:v>
                </c:pt>
                <c:pt idx="65">
                  <c:v>38657</c:v>
                </c:pt>
                <c:pt idx="66">
                  <c:v>38687</c:v>
                </c:pt>
                <c:pt idx="67">
                  <c:v>38718</c:v>
                </c:pt>
                <c:pt idx="68">
                  <c:v>38749</c:v>
                </c:pt>
                <c:pt idx="69">
                  <c:v>38777</c:v>
                </c:pt>
                <c:pt idx="70">
                  <c:v>38808</c:v>
                </c:pt>
                <c:pt idx="71">
                  <c:v>38838</c:v>
                </c:pt>
                <c:pt idx="72">
                  <c:v>38869</c:v>
                </c:pt>
                <c:pt idx="73">
                  <c:v>38899</c:v>
                </c:pt>
                <c:pt idx="74">
                  <c:v>38930</c:v>
                </c:pt>
                <c:pt idx="75">
                  <c:v>38961</c:v>
                </c:pt>
                <c:pt idx="76">
                  <c:v>38991</c:v>
                </c:pt>
                <c:pt idx="77">
                  <c:v>39022</c:v>
                </c:pt>
                <c:pt idx="78">
                  <c:v>39052</c:v>
                </c:pt>
                <c:pt idx="79">
                  <c:v>39083</c:v>
                </c:pt>
                <c:pt idx="80">
                  <c:v>39114</c:v>
                </c:pt>
                <c:pt idx="81">
                  <c:v>39142</c:v>
                </c:pt>
                <c:pt idx="82">
                  <c:v>39173</c:v>
                </c:pt>
                <c:pt idx="83">
                  <c:v>39203</c:v>
                </c:pt>
                <c:pt idx="84">
                  <c:v>39234</c:v>
                </c:pt>
                <c:pt idx="85">
                  <c:v>39264</c:v>
                </c:pt>
                <c:pt idx="86">
                  <c:v>39295</c:v>
                </c:pt>
                <c:pt idx="87">
                  <c:v>39326</c:v>
                </c:pt>
                <c:pt idx="88">
                  <c:v>39356</c:v>
                </c:pt>
                <c:pt idx="89">
                  <c:v>39387</c:v>
                </c:pt>
                <c:pt idx="90">
                  <c:v>39417</c:v>
                </c:pt>
                <c:pt idx="91">
                  <c:v>39448</c:v>
                </c:pt>
                <c:pt idx="92">
                  <c:v>39479</c:v>
                </c:pt>
                <c:pt idx="93">
                  <c:v>39508</c:v>
                </c:pt>
                <c:pt idx="94">
                  <c:v>39539</c:v>
                </c:pt>
                <c:pt idx="95">
                  <c:v>39569</c:v>
                </c:pt>
                <c:pt idx="96">
                  <c:v>39600</c:v>
                </c:pt>
                <c:pt idx="97">
                  <c:v>39630</c:v>
                </c:pt>
                <c:pt idx="98">
                  <c:v>39661</c:v>
                </c:pt>
                <c:pt idx="99">
                  <c:v>39692</c:v>
                </c:pt>
                <c:pt idx="100">
                  <c:v>39722</c:v>
                </c:pt>
                <c:pt idx="101">
                  <c:v>39753</c:v>
                </c:pt>
                <c:pt idx="102">
                  <c:v>39783</c:v>
                </c:pt>
                <c:pt idx="103">
                  <c:v>39814</c:v>
                </c:pt>
                <c:pt idx="104">
                  <c:v>39845</c:v>
                </c:pt>
                <c:pt idx="105">
                  <c:v>39873</c:v>
                </c:pt>
                <c:pt idx="106">
                  <c:v>39904</c:v>
                </c:pt>
                <c:pt idx="107">
                  <c:v>39934</c:v>
                </c:pt>
                <c:pt idx="108">
                  <c:v>39965</c:v>
                </c:pt>
                <c:pt idx="109">
                  <c:v>39995</c:v>
                </c:pt>
                <c:pt idx="110">
                  <c:v>40026</c:v>
                </c:pt>
                <c:pt idx="111">
                  <c:v>40057</c:v>
                </c:pt>
                <c:pt idx="112">
                  <c:v>40087</c:v>
                </c:pt>
                <c:pt idx="113">
                  <c:v>40118</c:v>
                </c:pt>
                <c:pt idx="114">
                  <c:v>40148</c:v>
                </c:pt>
                <c:pt idx="115">
                  <c:v>40179</c:v>
                </c:pt>
                <c:pt idx="116">
                  <c:v>40210</c:v>
                </c:pt>
                <c:pt idx="117">
                  <c:v>40238</c:v>
                </c:pt>
                <c:pt idx="118">
                  <c:v>40269</c:v>
                </c:pt>
                <c:pt idx="119">
                  <c:v>40299</c:v>
                </c:pt>
                <c:pt idx="120">
                  <c:v>40330</c:v>
                </c:pt>
                <c:pt idx="121">
                  <c:v>40360</c:v>
                </c:pt>
                <c:pt idx="122">
                  <c:v>40391</c:v>
                </c:pt>
                <c:pt idx="123">
                  <c:v>40422</c:v>
                </c:pt>
                <c:pt idx="124">
                  <c:v>40452</c:v>
                </c:pt>
                <c:pt idx="125">
                  <c:v>40483</c:v>
                </c:pt>
                <c:pt idx="126">
                  <c:v>40513</c:v>
                </c:pt>
                <c:pt idx="127">
                  <c:v>40544</c:v>
                </c:pt>
                <c:pt idx="128">
                  <c:v>40575</c:v>
                </c:pt>
                <c:pt idx="129">
                  <c:v>40603</c:v>
                </c:pt>
                <c:pt idx="130">
                  <c:v>40634</c:v>
                </c:pt>
                <c:pt idx="131">
                  <c:v>40664</c:v>
                </c:pt>
                <c:pt idx="132">
                  <c:v>40695</c:v>
                </c:pt>
                <c:pt idx="133">
                  <c:v>40725</c:v>
                </c:pt>
                <c:pt idx="134">
                  <c:v>40756</c:v>
                </c:pt>
                <c:pt idx="135">
                  <c:v>40787</c:v>
                </c:pt>
                <c:pt idx="136">
                  <c:v>40817</c:v>
                </c:pt>
                <c:pt idx="137">
                  <c:v>40848</c:v>
                </c:pt>
                <c:pt idx="138">
                  <c:v>40878</c:v>
                </c:pt>
                <c:pt idx="139">
                  <c:v>40909</c:v>
                </c:pt>
                <c:pt idx="140">
                  <c:v>40940</c:v>
                </c:pt>
                <c:pt idx="141">
                  <c:v>40969</c:v>
                </c:pt>
                <c:pt idx="142">
                  <c:v>41000</c:v>
                </c:pt>
                <c:pt idx="143">
                  <c:v>41030</c:v>
                </c:pt>
                <c:pt idx="144">
                  <c:v>41061</c:v>
                </c:pt>
                <c:pt idx="145">
                  <c:v>41091</c:v>
                </c:pt>
                <c:pt idx="146">
                  <c:v>41122</c:v>
                </c:pt>
                <c:pt idx="147">
                  <c:v>41153</c:v>
                </c:pt>
                <c:pt idx="148">
                  <c:v>41183</c:v>
                </c:pt>
                <c:pt idx="149">
                  <c:v>41214</c:v>
                </c:pt>
                <c:pt idx="150">
                  <c:v>41244</c:v>
                </c:pt>
                <c:pt idx="151">
                  <c:v>41275</c:v>
                </c:pt>
                <c:pt idx="152">
                  <c:v>41306</c:v>
                </c:pt>
                <c:pt idx="153">
                  <c:v>41334</c:v>
                </c:pt>
                <c:pt idx="154">
                  <c:v>41365</c:v>
                </c:pt>
                <c:pt idx="155">
                  <c:v>41395</c:v>
                </c:pt>
                <c:pt idx="156">
                  <c:v>41426</c:v>
                </c:pt>
                <c:pt idx="157">
                  <c:v>41456</c:v>
                </c:pt>
                <c:pt idx="158">
                  <c:v>41487</c:v>
                </c:pt>
                <c:pt idx="159">
                  <c:v>41518</c:v>
                </c:pt>
                <c:pt idx="160">
                  <c:v>41548</c:v>
                </c:pt>
                <c:pt idx="161">
                  <c:v>41579</c:v>
                </c:pt>
                <c:pt idx="162">
                  <c:v>41609</c:v>
                </c:pt>
                <c:pt idx="163">
                  <c:v>41640</c:v>
                </c:pt>
                <c:pt idx="164">
                  <c:v>41671</c:v>
                </c:pt>
                <c:pt idx="165">
                  <c:v>41699</c:v>
                </c:pt>
                <c:pt idx="166">
                  <c:v>41730</c:v>
                </c:pt>
                <c:pt idx="167">
                  <c:v>41760</c:v>
                </c:pt>
                <c:pt idx="168">
                  <c:v>41791</c:v>
                </c:pt>
                <c:pt idx="169">
                  <c:v>41821</c:v>
                </c:pt>
                <c:pt idx="170">
                  <c:v>41852</c:v>
                </c:pt>
                <c:pt idx="171">
                  <c:v>41883</c:v>
                </c:pt>
                <c:pt idx="172">
                  <c:v>41913</c:v>
                </c:pt>
                <c:pt idx="173">
                  <c:v>41944</c:v>
                </c:pt>
                <c:pt idx="174">
                  <c:v>41974</c:v>
                </c:pt>
                <c:pt idx="175">
                  <c:v>42005</c:v>
                </c:pt>
                <c:pt idx="176">
                  <c:v>42036</c:v>
                </c:pt>
                <c:pt idx="177">
                  <c:v>42064</c:v>
                </c:pt>
                <c:pt idx="178">
                  <c:v>42095</c:v>
                </c:pt>
                <c:pt idx="179">
                  <c:v>42125</c:v>
                </c:pt>
                <c:pt idx="180">
                  <c:v>42156</c:v>
                </c:pt>
                <c:pt idx="181">
                  <c:v>42186</c:v>
                </c:pt>
                <c:pt idx="182">
                  <c:v>42217</c:v>
                </c:pt>
                <c:pt idx="183">
                  <c:v>42248</c:v>
                </c:pt>
                <c:pt idx="184">
                  <c:v>42278</c:v>
                </c:pt>
                <c:pt idx="185">
                  <c:v>42309</c:v>
                </c:pt>
                <c:pt idx="186">
                  <c:v>42339</c:v>
                </c:pt>
                <c:pt idx="187">
                  <c:v>42370</c:v>
                </c:pt>
                <c:pt idx="188">
                  <c:v>42401</c:v>
                </c:pt>
                <c:pt idx="189">
                  <c:v>42430</c:v>
                </c:pt>
                <c:pt idx="190">
                  <c:v>42461</c:v>
                </c:pt>
                <c:pt idx="191">
                  <c:v>42491</c:v>
                </c:pt>
                <c:pt idx="192">
                  <c:v>42522</c:v>
                </c:pt>
                <c:pt idx="193">
                  <c:v>42552</c:v>
                </c:pt>
                <c:pt idx="194">
                  <c:v>42583</c:v>
                </c:pt>
                <c:pt idx="195">
                  <c:v>42614</c:v>
                </c:pt>
                <c:pt idx="196">
                  <c:v>42644</c:v>
                </c:pt>
                <c:pt idx="197">
                  <c:v>42675</c:v>
                </c:pt>
                <c:pt idx="198">
                  <c:v>42705</c:v>
                </c:pt>
                <c:pt idx="199">
                  <c:v>42736</c:v>
                </c:pt>
                <c:pt idx="200">
                  <c:v>42767</c:v>
                </c:pt>
                <c:pt idx="201">
                  <c:v>42795</c:v>
                </c:pt>
                <c:pt idx="202">
                  <c:v>42826</c:v>
                </c:pt>
                <c:pt idx="203">
                  <c:v>42856</c:v>
                </c:pt>
                <c:pt idx="204">
                  <c:v>42887</c:v>
                </c:pt>
                <c:pt idx="205">
                  <c:v>42917</c:v>
                </c:pt>
                <c:pt idx="206">
                  <c:v>42948</c:v>
                </c:pt>
                <c:pt idx="207">
                  <c:v>42979</c:v>
                </c:pt>
                <c:pt idx="208">
                  <c:v>43009</c:v>
                </c:pt>
                <c:pt idx="209">
                  <c:v>43040</c:v>
                </c:pt>
                <c:pt idx="210">
                  <c:v>43070</c:v>
                </c:pt>
                <c:pt idx="211">
                  <c:v>43101</c:v>
                </c:pt>
                <c:pt idx="212">
                  <c:v>43132</c:v>
                </c:pt>
                <c:pt idx="213">
                  <c:v>43160</c:v>
                </c:pt>
                <c:pt idx="214">
                  <c:v>43191</c:v>
                </c:pt>
                <c:pt idx="215">
                  <c:v>43221</c:v>
                </c:pt>
                <c:pt idx="216">
                  <c:v>43252</c:v>
                </c:pt>
                <c:pt idx="217">
                  <c:v>43282</c:v>
                </c:pt>
                <c:pt idx="218">
                  <c:v>43313</c:v>
                </c:pt>
                <c:pt idx="219">
                  <c:v>43344</c:v>
                </c:pt>
                <c:pt idx="220">
                  <c:v>43374</c:v>
                </c:pt>
                <c:pt idx="221">
                  <c:v>43405</c:v>
                </c:pt>
                <c:pt idx="222">
                  <c:v>43435</c:v>
                </c:pt>
                <c:pt idx="223">
                  <c:v>43466</c:v>
                </c:pt>
                <c:pt idx="224">
                  <c:v>43497</c:v>
                </c:pt>
                <c:pt idx="225">
                  <c:v>43525</c:v>
                </c:pt>
                <c:pt idx="226">
                  <c:v>43556</c:v>
                </c:pt>
                <c:pt idx="227">
                  <c:v>43586</c:v>
                </c:pt>
                <c:pt idx="228">
                  <c:v>43617</c:v>
                </c:pt>
                <c:pt idx="229">
                  <c:v>43647</c:v>
                </c:pt>
                <c:pt idx="230">
                  <c:v>43678</c:v>
                </c:pt>
                <c:pt idx="231">
                  <c:v>43709</c:v>
                </c:pt>
                <c:pt idx="232">
                  <c:v>43739</c:v>
                </c:pt>
                <c:pt idx="233">
                  <c:v>43770</c:v>
                </c:pt>
                <c:pt idx="234">
                  <c:v>43800</c:v>
                </c:pt>
                <c:pt idx="235">
                  <c:v>43831</c:v>
                </c:pt>
                <c:pt idx="236">
                  <c:v>43862</c:v>
                </c:pt>
                <c:pt idx="237">
                  <c:v>43891</c:v>
                </c:pt>
                <c:pt idx="238">
                  <c:v>43922</c:v>
                </c:pt>
                <c:pt idx="239">
                  <c:v>43952</c:v>
                </c:pt>
                <c:pt idx="240">
                  <c:v>43983</c:v>
                </c:pt>
                <c:pt idx="241">
                  <c:v>44013</c:v>
                </c:pt>
                <c:pt idx="242">
                  <c:v>44044</c:v>
                </c:pt>
                <c:pt idx="243">
                  <c:v>44075</c:v>
                </c:pt>
                <c:pt idx="244">
                  <c:v>44105</c:v>
                </c:pt>
                <c:pt idx="245">
                  <c:v>44136</c:v>
                </c:pt>
                <c:pt idx="246">
                  <c:v>44166</c:v>
                </c:pt>
                <c:pt idx="247">
                  <c:v>44197</c:v>
                </c:pt>
                <c:pt idx="248">
                  <c:v>44228</c:v>
                </c:pt>
                <c:pt idx="249">
                  <c:v>44256</c:v>
                </c:pt>
                <c:pt idx="250">
                  <c:v>44287</c:v>
                </c:pt>
                <c:pt idx="251">
                  <c:v>44317</c:v>
                </c:pt>
                <c:pt idx="252">
                  <c:v>44348</c:v>
                </c:pt>
                <c:pt idx="253">
                  <c:v>44378</c:v>
                </c:pt>
                <c:pt idx="254">
                  <c:v>44409</c:v>
                </c:pt>
                <c:pt idx="255">
                  <c:v>44440</c:v>
                </c:pt>
                <c:pt idx="256">
                  <c:v>44470</c:v>
                </c:pt>
                <c:pt idx="257">
                  <c:v>44501</c:v>
                </c:pt>
                <c:pt idx="258">
                  <c:v>44531</c:v>
                </c:pt>
                <c:pt idx="259">
                  <c:v>44562</c:v>
                </c:pt>
                <c:pt idx="260">
                  <c:v>44593</c:v>
                </c:pt>
                <c:pt idx="261">
                  <c:v>44621</c:v>
                </c:pt>
                <c:pt idx="262">
                  <c:v>44652</c:v>
                </c:pt>
                <c:pt idx="263">
                  <c:v>44682</c:v>
                </c:pt>
                <c:pt idx="264">
                  <c:v>44713</c:v>
                </c:pt>
                <c:pt idx="265">
                  <c:v>44743</c:v>
                </c:pt>
                <c:pt idx="266">
                  <c:v>44774</c:v>
                </c:pt>
                <c:pt idx="267">
                  <c:v>44805</c:v>
                </c:pt>
                <c:pt idx="268">
                  <c:v>44835</c:v>
                </c:pt>
                <c:pt idx="269">
                  <c:v>44866</c:v>
                </c:pt>
                <c:pt idx="270">
                  <c:v>44896</c:v>
                </c:pt>
                <c:pt idx="271">
                  <c:v>44927</c:v>
                </c:pt>
                <c:pt idx="272">
                  <c:v>44958</c:v>
                </c:pt>
                <c:pt idx="273">
                  <c:v>44986</c:v>
                </c:pt>
                <c:pt idx="274">
                  <c:v>45017</c:v>
                </c:pt>
                <c:pt idx="275">
                  <c:v>45047</c:v>
                </c:pt>
                <c:pt idx="276">
                  <c:v>45078</c:v>
                </c:pt>
                <c:pt idx="277">
                  <c:v>45108</c:v>
                </c:pt>
                <c:pt idx="278">
                  <c:v>45139</c:v>
                </c:pt>
                <c:pt idx="279">
                  <c:v>45170</c:v>
                </c:pt>
                <c:pt idx="280">
                  <c:v>45200</c:v>
                </c:pt>
                <c:pt idx="281">
                  <c:v>45231</c:v>
                </c:pt>
                <c:pt idx="282">
                  <c:v>45261</c:v>
                </c:pt>
                <c:pt idx="283">
                  <c:v>45292</c:v>
                </c:pt>
                <c:pt idx="284">
                  <c:v>45323</c:v>
                </c:pt>
                <c:pt idx="285">
                  <c:v>45352</c:v>
                </c:pt>
                <c:pt idx="286">
                  <c:v>45383</c:v>
                </c:pt>
                <c:pt idx="287">
                  <c:v>45413</c:v>
                </c:pt>
                <c:pt idx="288">
                  <c:v>45444</c:v>
                </c:pt>
                <c:pt idx="289">
                  <c:v>45474</c:v>
                </c:pt>
                <c:pt idx="290">
                  <c:v>45505</c:v>
                </c:pt>
                <c:pt idx="291">
                  <c:v>45536</c:v>
                </c:pt>
                <c:pt idx="292">
                  <c:v>45566</c:v>
                </c:pt>
                <c:pt idx="293">
                  <c:v>45597</c:v>
                </c:pt>
                <c:pt idx="294">
                  <c:v>45627</c:v>
                </c:pt>
                <c:pt idx="295">
                  <c:v>45658</c:v>
                </c:pt>
                <c:pt idx="296">
                  <c:v>45689</c:v>
                </c:pt>
                <c:pt idx="297">
                  <c:v>45717</c:v>
                </c:pt>
                <c:pt idx="298">
                  <c:v>45748</c:v>
                </c:pt>
                <c:pt idx="299">
                  <c:v>45778</c:v>
                </c:pt>
                <c:pt idx="300">
                  <c:v>45809</c:v>
                </c:pt>
                <c:pt idx="301">
                  <c:v>45839</c:v>
                </c:pt>
                <c:pt idx="302">
                  <c:v>45870</c:v>
                </c:pt>
                <c:pt idx="303">
                  <c:v>45901</c:v>
                </c:pt>
                <c:pt idx="304">
                  <c:v>45931</c:v>
                </c:pt>
                <c:pt idx="305">
                  <c:v>45962</c:v>
                </c:pt>
                <c:pt idx="306">
                  <c:v>45992</c:v>
                </c:pt>
              </c:numCache>
            </c:numRef>
          </c:cat>
          <c:val>
            <c:numRef>
              <c:f>Hoja1!$D$2:$D$308</c:f>
              <c:numCache>
                <c:formatCode>0.00</c:formatCode>
                <c:ptCount val="307"/>
                <c:pt idx="0">
                  <c:v>9.68</c:v>
                </c:pt>
                <c:pt idx="1">
                  <c:v>9.2899999999999991</c:v>
                </c:pt>
                <c:pt idx="2">
                  <c:v>9.1</c:v>
                </c:pt>
                <c:pt idx="3">
                  <c:v>9.1999999999999993</c:v>
                </c:pt>
                <c:pt idx="4">
                  <c:v>8.99</c:v>
                </c:pt>
                <c:pt idx="5">
                  <c:v>8.82</c:v>
                </c:pt>
                <c:pt idx="6">
                  <c:v>8.75</c:v>
                </c:pt>
                <c:pt idx="7">
                  <c:v>8.49</c:v>
                </c:pt>
                <c:pt idx="8">
                  <c:v>8.06</c:v>
                </c:pt>
                <c:pt idx="9">
                  <c:v>7.81</c:v>
                </c:pt>
                <c:pt idx="10">
                  <c:v>7.98</c:v>
                </c:pt>
                <c:pt idx="11">
                  <c:v>7.87</c:v>
                </c:pt>
                <c:pt idx="12">
                  <c:v>7.93</c:v>
                </c:pt>
                <c:pt idx="13">
                  <c:v>8.09</c:v>
                </c:pt>
                <c:pt idx="14">
                  <c:v>8.0299999999999994</c:v>
                </c:pt>
                <c:pt idx="15">
                  <c:v>7.97</c:v>
                </c:pt>
                <c:pt idx="16">
                  <c:v>8.01</c:v>
                </c:pt>
                <c:pt idx="17">
                  <c:v>7.78</c:v>
                </c:pt>
                <c:pt idx="18">
                  <c:v>7.65</c:v>
                </c:pt>
                <c:pt idx="19">
                  <c:v>7.37</c:v>
                </c:pt>
                <c:pt idx="20">
                  <c:v>6.7</c:v>
                </c:pt>
                <c:pt idx="21">
                  <c:v>5.89</c:v>
                </c:pt>
                <c:pt idx="22">
                  <c:v>5.65</c:v>
                </c:pt>
                <c:pt idx="23">
                  <c:v>5.84</c:v>
                </c:pt>
                <c:pt idx="24">
                  <c:v>6.25</c:v>
                </c:pt>
                <c:pt idx="25">
                  <c:v>6.16</c:v>
                </c:pt>
                <c:pt idx="26">
                  <c:v>5.98</c:v>
                </c:pt>
                <c:pt idx="27">
                  <c:v>5.97</c:v>
                </c:pt>
                <c:pt idx="28">
                  <c:v>6.37</c:v>
                </c:pt>
                <c:pt idx="29">
                  <c:v>7.07</c:v>
                </c:pt>
                <c:pt idx="30">
                  <c:v>6.99</c:v>
                </c:pt>
                <c:pt idx="31">
                  <c:v>7.39</c:v>
                </c:pt>
                <c:pt idx="32">
                  <c:v>7.24</c:v>
                </c:pt>
                <c:pt idx="33">
                  <c:v>7.6</c:v>
                </c:pt>
                <c:pt idx="34">
                  <c:v>7.85</c:v>
                </c:pt>
                <c:pt idx="35">
                  <c:v>7.73</c:v>
                </c:pt>
                <c:pt idx="36">
                  <c:v>7.21</c:v>
                </c:pt>
                <c:pt idx="37">
                  <c:v>7.04</c:v>
                </c:pt>
                <c:pt idx="38">
                  <c:v>7.26</c:v>
                </c:pt>
                <c:pt idx="39">
                  <c:v>7.11</c:v>
                </c:pt>
                <c:pt idx="40">
                  <c:v>6.58</c:v>
                </c:pt>
                <c:pt idx="41">
                  <c:v>6.13</c:v>
                </c:pt>
                <c:pt idx="42">
                  <c:v>6.49</c:v>
                </c:pt>
                <c:pt idx="43">
                  <c:v>6.19</c:v>
                </c:pt>
                <c:pt idx="44">
                  <c:v>6.28</c:v>
                </c:pt>
                <c:pt idx="45">
                  <c:v>6.21</c:v>
                </c:pt>
                <c:pt idx="46">
                  <c:v>5.49</c:v>
                </c:pt>
                <c:pt idx="47">
                  <c:v>5.37</c:v>
                </c:pt>
                <c:pt idx="48">
                  <c:v>6.07</c:v>
                </c:pt>
                <c:pt idx="49">
                  <c:v>6.19</c:v>
                </c:pt>
                <c:pt idx="50">
                  <c:v>5.89</c:v>
                </c:pt>
                <c:pt idx="51">
                  <c:v>5.97</c:v>
                </c:pt>
                <c:pt idx="52">
                  <c:v>5.9</c:v>
                </c:pt>
                <c:pt idx="53">
                  <c:v>5.82</c:v>
                </c:pt>
                <c:pt idx="54">
                  <c:v>5.5</c:v>
                </c:pt>
                <c:pt idx="55">
                  <c:v>5.43</c:v>
                </c:pt>
                <c:pt idx="56">
                  <c:v>5.25</c:v>
                </c:pt>
                <c:pt idx="57">
                  <c:v>5.03</c:v>
                </c:pt>
                <c:pt idx="58">
                  <c:v>5.01</c:v>
                </c:pt>
                <c:pt idx="59">
                  <c:v>5.04</c:v>
                </c:pt>
                <c:pt idx="60">
                  <c:v>4.83</c:v>
                </c:pt>
                <c:pt idx="61">
                  <c:v>4.91</c:v>
                </c:pt>
                <c:pt idx="62">
                  <c:v>4.88</c:v>
                </c:pt>
                <c:pt idx="63">
                  <c:v>5.0199999999999996</c:v>
                </c:pt>
                <c:pt idx="64">
                  <c:v>5.27</c:v>
                </c:pt>
                <c:pt idx="65">
                  <c:v>5.0999999999999996</c:v>
                </c:pt>
                <c:pt idx="66">
                  <c:v>4.8499999999999996</c:v>
                </c:pt>
                <c:pt idx="67">
                  <c:v>4.5599999999999996</c:v>
                </c:pt>
                <c:pt idx="68">
                  <c:v>4.1900000000000004</c:v>
                </c:pt>
                <c:pt idx="69">
                  <c:v>4.1100000000000003</c:v>
                </c:pt>
                <c:pt idx="70">
                  <c:v>4.12</c:v>
                </c:pt>
                <c:pt idx="71">
                  <c:v>4.04</c:v>
                </c:pt>
                <c:pt idx="72">
                  <c:v>3.94</c:v>
                </c:pt>
                <c:pt idx="73">
                  <c:v>4.32</c:v>
                </c:pt>
                <c:pt idx="74">
                  <c:v>4.72</c:v>
                </c:pt>
                <c:pt idx="75">
                  <c:v>4.58</c:v>
                </c:pt>
                <c:pt idx="76">
                  <c:v>4.1900000000000004</c:v>
                </c:pt>
                <c:pt idx="77">
                  <c:v>4.3099999999999996</c:v>
                </c:pt>
                <c:pt idx="78">
                  <c:v>4.4800000000000004</c:v>
                </c:pt>
                <c:pt idx="79">
                  <c:v>4.71</c:v>
                </c:pt>
                <c:pt idx="80">
                  <c:v>5.25</c:v>
                </c:pt>
                <c:pt idx="81">
                  <c:v>5.78</c:v>
                </c:pt>
                <c:pt idx="82">
                  <c:v>6.26</c:v>
                </c:pt>
                <c:pt idx="83">
                  <c:v>6.23</c:v>
                </c:pt>
                <c:pt idx="84">
                  <c:v>6.03</c:v>
                </c:pt>
                <c:pt idx="85">
                  <c:v>5.77</c:v>
                </c:pt>
                <c:pt idx="86">
                  <c:v>5.22</c:v>
                </c:pt>
                <c:pt idx="87">
                  <c:v>5.01</c:v>
                </c:pt>
                <c:pt idx="88">
                  <c:v>5.16</c:v>
                </c:pt>
                <c:pt idx="89">
                  <c:v>5.41</c:v>
                </c:pt>
                <c:pt idx="90">
                  <c:v>5.69</c:v>
                </c:pt>
                <c:pt idx="91">
                  <c:v>6</c:v>
                </c:pt>
                <c:pt idx="92">
                  <c:v>6.35</c:v>
                </c:pt>
                <c:pt idx="93">
                  <c:v>5.93</c:v>
                </c:pt>
                <c:pt idx="94">
                  <c:v>5.73</c:v>
                </c:pt>
                <c:pt idx="95">
                  <c:v>6.39</c:v>
                </c:pt>
                <c:pt idx="96">
                  <c:v>7.18</c:v>
                </c:pt>
                <c:pt idx="97">
                  <c:v>7.52</c:v>
                </c:pt>
                <c:pt idx="98">
                  <c:v>7.87</c:v>
                </c:pt>
                <c:pt idx="99">
                  <c:v>7.57</c:v>
                </c:pt>
                <c:pt idx="100">
                  <c:v>7.94</c:v>
                </c:pt>
                <c:pt idx="101">
                  <c:v>7.73</c:v>
                </c:pt>
                <c:pt idx="102">
                  <c:v>7.67</c:v>
                </c:pt>
                <c:pt idx="103">
                  <c:v>7.18</c:v>
                </c:pt>
                <c:pt idx="104">
                  <c:v>6.47</c:v>
                </c:pt>
                <c:pt idx="105">
                  <c:v>6.14</c:v>
                </c:pt>
                <c:pt idx="106">
                  <c:v>5.73</c:v>
                </c:pt>
                <c:pt idx="107">
                  <c:v>4.7699999999999996</c:v>
                </c:pt>
                <c:pt idx="108">
                  <c:v>3.81</c:v>
                </c:pt>
                <c:pt idx="109">
                  <c:v>3.28</c:v>
                </c:pt>
                <c:pt idx="110">
                  <c:v>3.13</c:v>
                </c:pt>
                <c:pt idx="111">
                  <c:v>3.21</c:v>
                </c:pt>
                <c:pt idx="112">
                  <c:v>2.72</c:v>
                </c:pt>
                <c:pt idx="113">
                  <c:v>2.37</c:v>
                </c:pt>
                <c:pt idx="114">
                  <c:v>2</c:v>
                </c:pt>
                <c:pt idx="115">
                  <c:v>2.1</c:v>
                </c:pt>
                <c:pt idx="116">
                  <c:v>2.09</c:v>
                </c:pt>
                <c:pt idx="117">
                  <c:v>1.84</c:v>
                </c:pt>
                <c:pt idx="118">
                  <c:v>1.98</c:v>
                </c:pt>
                <c:pt idx="119">
                  <c:v>2.0699999999999998</c:v>
                </c:pt>
                <c:pt idx="120">
                  <c:v>2.25</c:v>
                </c:pt>
                <c:pt idx="121">
                  <c:v>2.2400000000000002</c:v>
                </c:pt>
                <c:pt idx="122">
                  <c:v>2.31</c:v>
                </c:pt>
                <c:pt idx="123">
                  <c:v>2.2799999999999998</c:v>
                </c:pt>
                <c:pt idx="124">
                  <c:v>2.33</c:v>
                </c:pt>
                <c:pt idx="125">
                  <c:v>2.59</c:v>
                </c:pt>
                <c:pt idx="126">
                  <c:v>3.17</c:v>
                </c:pt>
                <c:pt idx="127">
                  <c:v>3.4</c:v>
                </c:pt>
                <c:pt idx="128">
                  <c:v>3.17</c:v>
                </c:pt>
                <c:pt idx="129">
                  <c:v>3.19</c:v>
                </c:pt>
                <c:pt idx="130">
                  <c:v>2.84</c:v>
                </c:pt>
                <c:pt idx="131">
                  <c:v>3.02</c:v>
                </c:pt>
                <c:pt idx="132">
                  <c:v>3.23</c:v>
                </c:pt>
                <c:pt idx="133">
                  <c:v>3.42</c:v>
                </c:pt>
                <c:pt idx="134">
                  <c:v>3.27</c:v>
                </c:pt>
                <c:pt idx="135">
                  <c:v>3.73</c:v>
                </c:pt>
                <c:pt idx="136">
                  <c:v>4.0199999999999996</c:v>
                </c:pt>
                <c:pt idx="137">
                  <c:v>3.96</c:v>
                </c:pt>
                <c:pt idx="138">
                  <c:v>3.73</c:v>
                </c:pt>
                <c:pt idx="139">
                  <c:v>3.54</c:v>
                </c:pt>
                <c:pt idx="140">
                  <c:v>3.55</c:v>
                </c:pt>
                <c:pt idx="141">
                  <c:v>3.4</c:v>
                </c:pt>
                <c:pt idx="142">
                  <c:v>3.43</c:v>
                </c:pt>
                <c:pt idx="143">
                  <c:v>3.44</c:v>
                </c:pt>
                <c:pt idx="144">
                  <c:v>3.2</c:v>
                </c:pt>
                <c:pt idx="145">
                  <c:v>3.03</c:v>
                </c:pt>
                <c:pt idx="146">
                  <c:v>3.11</c:v>
                </c:pt>
                <c:pt idx="147">
                  <c:v>3.08</c:v>
                </c:pt>
                <c:pt idx="148">
                  <c:v>3.06</c:v>
                </c:pt>
                <c:pt idx="149">
                  <c:v>2.77</c:v>
                </c:pt>
                <c:pt idx="150">
                  <c:v>2.44</c:v>
                </c:pt>
                <c:pt idx="151">
                  <c:v>2</c:v>
                </c:pt>
                <c:pt idx="152">
                  <c:v>1.83</c:v>
                </c:pt>
                <c:pt idx="153">
                  <c:v>1.91</c:v>
                </c:pt>
                <c:pt idx="154">
                  <c:v>2.02</c:v>
                </c:pt>
                <c:pt idx="155">
                  <c:v>2</c:v>
                </c:pt>
                <c:pt idx="156">
                  <c:v>2.16</c:v>
                </c:pt>
                <c:pt idx="157">
                  <c:v>2.2200000000000002</c:v>
                </c:pt>
                <c:pt idx="158">
                  <c:v>2.27</c:v>
                </c:pt>
                <c:pt idx="159">
                  <c:v>2.27</c:v>
                </c:pt>
                <c:pt idx="160">
                  <c:v>1.84</c:v>
                </c:pt>
                <c:pt idx="161">
                  <c:v>1.76</c:v>
                </c:pt>
                <c:pt idx="162">
                  <c:v>1.94</c:v>
                </c:pt>
                <c:pt idx="163">
                  <c:v>2.13</c:v>
                </c:pt>
                <c:pt idx="164">
                  <c:v>2.3199999999999998</c:v>
                </c:pt>
                <c:pt idx="165">
                  <c:v>2.5099999999999998</c:v>
                </c:pt>
                <c:pt idx="166">
                  <c:v>2.72</c:v>
                </c:pt>
                <c:pt idx="167">
                  <c:v>2.93</c:v>
                </c:pt>
                <c:pt idx="168">
                  <c:v>2.79</c:v>
                </c:pt>
                <c:pt idx="169">
                  <c:v>2.89</c:v>
                </c:pt>
                <c:pt idx="170">
                  <c:v>3.02</c:v>
                </c:pt>
                <c:pt idx="171">
                  <c:v>2.86</c:v>
                </c:pt>
                <c:pt idx="172">
                  <c:v>3.29</c:v>
                </c:pt>
                <c:pt idx="173">
                  <c:v>3.65</c:v>
                </c:pt>
                <c:pt idx="174">
                  <c:v>3.66</c:v>
                </c:pt>
                <c:pt idx="175">
                  <c:v>3.82</c:v>
                </c:pt>
                <c:pt idx="176">
                  <c:v>4.3600000000000003</c:v>
                </c:pt>
                <c:pt idx="177">
                  <c:v>4.5599999999999996</c:v>
                </c:pt>
                <c:pt idx="178">
                  <c:v>4.6399999999999997</c:v>
                </c:pt>
                <c:pt idx="179">
                  <c:v>4.41</c:v>
                </c:pt>
                <c:pt idx="180">
                  <c:v>4.42</c:v>
                </c:pt>
                <c:pt idx="181">
                  <c:v>4.46</c:v>
                </c:pt>
                <c:pt idx="182">
                  <c:v>4.74</c:v>
                </c:pt>
                <c:pt idx="183">
                  <c:v>5.35</c:v>
                </c:pt>
                <c:pt idx="184">
                  <c:v>5.89</c:v>
                </c:pt>
                <c:pt idx="185">
                  <c:v>6.39</c:v>
                </c:pt>
                <c:pt idx="186">
                  <c:v>6.77</c:v>
                </c:pt>
                <c:pt idx="187">
                  <c:v>7.45</c:v>
                </c:pt>
                <c:pt idx="188">
                  <c:v>7.59</c:v>
                </c:pt>
                <c:pt idx="189">
                  <c:v>7.98</c:v>
                </c:pt>
                <c:pt idx="190">
                  <c:v>7.93</c:v>
                </c:pt>
                <c:pt idx="191">
                  <c:v>8.1999999999999993</c:v>
                </c:pt>
                <c:pt idx="192">
                  <c:v>8.6</c:v>
                </c:pt>
                <c:pt idx="193">
                  <c:v>8.9700000000000006</c:v>
                </c:pt>
                <c:pt idx="194">
                  <c:v>8.1</c:v>
                </c:pt>
                <c:pt idx="195">
                  <c:v>7.27</c:v>
                </c:pt>
                <c:pt idx="196">
                  <c:v>6.48</c:v>
                </c:pt>
                <c:pt idx="197">
                  <c:v>5.96</c:v>
                </c:pt>
                <c:pt idx="198">
                  <c:v>5.75</c:v>
                </c:pt>
                <c:pt idx="199">
                  <c:v>5.47</c:v>
                </c:pt>
                <c:pt idx="200">
                  <c:v>5.18</c:v>
                </c:pt>
                <c:pt idx="201">
                  <c:v>4.6900000000000004</c:v>
                </c:pt>
                <c:pt idx="202">
                  <c:v>4.66</c:v>
                </c:pt>
                <c:pt idx="203">
                  <c:v>4.37</c:v>
                </c:pt>
                <c:pt idx="204">
                  <c:v>3.99</c:v>
                </c:pt>
                <c:pt idx="205">
                  <c:v>3.4</c:v>
                </c:pt>
                <c:pt idx="206">
                  <c:v>3.87</c:v>
                </c:pt>
                <c:pt idx="207">
                  <c:v>3.97</c:v>
                </c:pt>
                <c:pt idx="208">
                  <c:v>4.05</c:v>
                </c:pt>
                <c:pt idx="209">
                  <c:v>4.12</c:v>
                </c:pt>
                <c:pt idx="210">
                  <c:v>4.09</c:v>
                </c:pt>
                <c:pt idx="211">
                  <c:v>3.68</c:v>
                </c:pt>
                <c:pt idx="212">
                  <c:v>3.37</c:v>
                </c:pt>
                <c:pt idx="213">
                  <c:v>3.14</c:v>
                </c:pt>
                <c:pt idx="214">
                  <c:v>3.13</c:v>
                </c:pt>
                <c:pt idx="215">
                  <c:v>3.16</c:v>
                </c:pt>
                <c:pt idx="216">
                  <c:v>3.2</c:v>
                </c:pt>
                <c:pt idx="217">
                  <c:v>3.12</c:v>
                </c:pt>
                <c:pt idx="218">
                  <c:v>3.1</c:v>
                </c:pt>
                <c:pt idx="219">
                  <c:v>3.23</c:v>
                </c:pt>
                <c:pt idx="220">
                  <c:v>3.33</c:v>
                </c:pt>
                <c:pt idx="221">
                  <c:v>3.27</c:v>
                </c:pt>
                <c:pt idx="222">
                  <c:v>3.18</c:v>
                </c:pt>
                <c:pt idx="223">
                  <c:v>3.15</c:v>
                </c:pt>
                <c:pt idx="224">
                  <c:v>3.01</c:v>
                </c:pt>
                <c:pt idx="225">
                  <c:v>3.21</c:v>
                </c:pt>
                <c:pt idx="226">
                  <c:v>3.25</c:v>
                </c:pt>
                <c:pt idx="227">
                  <c:v>3.31</c:v>
                </c:pt>
                <c:pt idx="228">
                  <c:v>3.43</c:v>
                </c:pt>
                <c:pt idx="229">
                  <c:v>3.79</c:v>
                </c:pt>
                <c:pt idx="230">
                  <c:v>3.75</c:v>
                </c:pt>
                <c:pt idx="231">
                  <c:v>3.82</c:v>
                </c:pt>
                <c:pt idx="232">
                  <c:v>3.86</c:v>
                </c:pt>
                <c:pt idx="233">
                  <c:v>3.84</c:v>
                </c:pt>
                <c:pt idx="234">
                  <c:v>3.8</c:v>
                </c:pt>
                <c:pt idx="235">
                  <c:v>3.62</c:v>
                </c:pt>
                <c:pt idx="236">
                  <c:v>3.72</c:v>
                </c:pt>
                <c:pt idx="237">
                  <c:v>3.86</c:v>
                </c:pt>
                <c:pt idx="238">
                  <c:v>3.51</c:v>
                </c:pt>
                <c:pt idx="239">
                  <c:v>2.85</c:v>
                </c:pt>
                <c:pt idx="240">
                  <c:v>2.19</c:v>
                </c:pt>
                <c:pt idx="241">
                  <c:v>1.97</c:v>
                </c:pt>
                <c:pt idx="242">
                  <c:v>1.88</c:v>
                </c:pt>
                <c:pt idx="243">
                  <c:v>1.97</c:v>
                </c:pt>
                <c:pt idx="244">
                  <c:v>1.75</c:v>
                </c:pt>
                <c:pt idx="245">
                  <c:v>1.49</c:v>
                </c:pt>
                <c:pt idx="246">
                  <c:v>1.61</c:v>
                </c:pt>
                <c:pt idx="247">
                  <c:v>1.6</c:v>
                </c:pt>
                <c:pt idx="248">
                  <c:v>1.56</c:v>
                </c:pt>
                <c:pt idx="249">
                  <c:v>1.51</c:v>
                </c:pt>
                <c:pt idx="250">
                  <c:v>1.95</c:v>
                </c:pt>
                <c:pt idx="251">
                  <c:v>3.3</c:v>
                </c:pt>
                <c:pt idx="252">
                  <c:v>3.63</c:v>
                </c:pt>
                <c:pt idx="253">
                  <c:v>3.97</c:v>
                </c:pt>
                <c:pt idx="254">
                  <c:v>4.4400000000000004</c:v>
                </c:pt>
                <c:pt idx="255">
                  <c:v>4.51</c:v>
                </c:pt>
                <c:pt idx="256">
                  <c:v>4.58</c:v>
                </c:pt>
                <c:pt idx="257">
                  <c:v>5.26</c:v>
                </c:pt>
                <c:pt idx="258">
                  <c:v>5.62</c:v>
                </c:pt>
                <c:pt idx="259">
                  <c:v>6.94</c:v>
                </c:pt>
                <c:pt idx="260">
                  <c:v>8.01</c:v>
                </c:pt>
                <c:pt idx="261">
                  <c:v>8.5299999999999994</c:v>
                </c:pt>
                <c:pt idx="262">
                  <c:v>9.23</c:v>
                </c:pt>
                <c:pt idx="263">
                  <c:v>9.07</c:v>
                </c:pt>
                <c:pt idx="264">
                  <c:v>9.67</c:v>
                </c:pt>
                <c:pt idx="265">
                  <c:v>10.210000000000001</c:v>
                </c:pt>
                <c:pt idx="266">
                  <c:v>10.84</c:v>
                </c:pt>
                <c:pt idx="267">
                  <c:v>11.44</c:v>
                </c:pt>
                <c:pt idx="268">
                  <c:v>12.22</c:v>
                </c:pt>
                <c:pt idx="269">
                  <c:v>12.53</c:v>
                </c:pt>
                <c:pt idx="270">
                  <c:v>13.12</c:v>
                </c:pt>
                <c:pt idx="271">
                  <c:v>13.25</c:v>
                </c:pt>
                <c:pt idx="272">
                  <c:v>13.28</c:v>
                </c:pt>
                <c:pt idx="273">
                  <c:v>13.34</c:v>
                </c:pt>
                <c:pt idx="274">
                  <c:v>12.82</c:v>
                </c:pt>
                <c:pt idx="275">
                  <c:v>12.36</c:v>
                </c:pt>
                <c:pt idx="276">
                  <c:v>12.13</c:v>
                </c:pt>
                <c:pt idx="277">
                  <c:v>11.78</c:v>
                </c:pt>
                <c:pt idx="278">
                  <c:v>11.43</c:v>
                </c:pt>
                <c:pt idx="279">
                  <c:v>10.99</c:v>
                </c:pt>
                <c:pt idx="280">
                  <c:v>10.48</c:v>
                </c:pt>
                <c:pt idx="281">
                  <c:v>10.15</c:v>
                </c:pt>
                <c:pt idx="282">
                  <c:v>9.2799999999999994</c:v>
                </c:pt>
                <c:pt idx="283">
                  <c:v>8.35</c:v>
                </c:pt>
                <c:pt idx="284">
                  <c:v>7.74</c:v>
                </c:pt>
                <c:pt idx="285">
                  <c:v>7.36</c:v>
                </c:pt>
                <c:pt idx="286">
                  <c:v>7.16</c:v>
                </c:pt>
                <c:pt idx="287">
                  <c:v>7.16</c:v>
                </c:pt>
                <c:pt idx="288">
                  <c:v>7.18</c:v>
                </c:pt>
                <c:pt idx="289">
                  <c:v>6.86</c:v>
                </c:pt>
                <c:pt idx="290">
                  <c:v>6.12</c:v>
                </c:pt>
                <c:pt idx="291">
                  <c:v>5.81</c:v>
                </c:pt>
                <c:pt idx="292">
                  <c:v>5.41</c:v>
                </c:pt>
                <c:pt idx="293">
                  <c:v>5.2</c:v>
                </c:pt>
                <c:pt idx="294">
                  <c:v>5.2</c:v>
                </c:pt>
                <c:pt idx="295">
                  <c:v>5.22</c:v>
                </c:pt>
                <c:pt idx="296">
                  <c:v>5.28</c:v>
                </c:pt>
                <c:pt idx="297">
                  <c:v>5.09</c:v>
                </c:pt>
                <c:pt idx="298">
                  <c:v>5.16</c:v>
                </c:pt>
                <c:pt idx="299">
                  <c:v>5.05</c:v>
                </c:pt>
                <c:pt idx="300">
                  <c:v>4.82</c:v>
                </c:pt>
                <c:pt idx="301">
                  <c:v>4.9000000000000004</c:v>
                </c:pt>
                <c:pt idx="302">
                  <c:v>5.0999999999999996</c:v>
                </c:pt>
                <c:pt idx="303">
                  <c:v>5.18</c:v>
                </c:pt>
                <c:pt idx="304">
                  <c:v>5.51</c:v>
                </c:pt>
                <c:pt idx="305">
                  <c:v>5.3</c:v>
                </c:pt>
                <c:pt idx="306">
                  <c:v>5.0999999999999996</c:v>
                </c:pt>
              </c:numCache>
            </c:numRef>
          </c:val>
          <c:smooth val="0"/>
          <c:extLst>
            <c:ext xmlns:c16="http://schemas.microsoft.com/office/drawing/2014/chart" uri="{C3380CC4-5D6E-409C-BE32-E72D297353CC}">
              <c16:uniqueId val="{00000000-B0E4-4211-BCA2-BAE724B7BE3F}"/>
            </c:ext>
          </c:extLst>
        </c:ser>
        <c:ser>
          <c:idx val="1"/>
          <c:order val="1"/>
          <c:tx>
            <c:strRef>
              <c:f>Hoja1!$E$1</c:f>
              <c:strCache>
                <c:ptCount val="1"/>
                <c:pt idx="0">
                  <c:v>Tasa Repo</c:v>
                </c:pt>
              </c:strCache>
            </c:strRef>
          </c:tx>
          <c:spPr>
            <a:ln w="28575" cap="rnd">
              <a:solidFill>
                <a:schemeClr val="accent2"/>
              </a:solidFill>
              <a:round/>
            </a:ln>
            <a:effectLst/>
          </c:spPr>
          <c:marker>
            <c:symbol val="none"/>
          </c:marker>
          <c:cat>
            <c:numRef>
              <c:f>Hoja1!$C$2:$C$308</c:f>
              <c:numCache>
                <c:formatCode>m/d/yyyy</c:formatCode>
                <c:ptCount val="307"/>
                <c:pt idx="0">
                  <c:v>36678</c:v>
                </c:pt>
                <c:pt idx="1">
                  <c:v>36708</c:v>
                </c:pt>
                <c:pt idx="2">
                  <c:v>36739</c:v>
                </c:pt>
                <c:pt idx="3">
                  <c:v>36770</c:v>
                </c:pt>
                <c:pt idx="4">
                  <c:v>36800</c:v>
                </c:pt>
                <c:pt idx="5">
                  <c:v>36831</c:v>
                </c:pt>
                <c:pt idx="6">
                  <c:v>36861</c:v>
                </c:pt>
                <c:pt idx="7">
                  <c:v>36892</c:v>
                </c:pt>
                <c:pt idx="8">
                  <c:v>36923</c:v>
                </c:pt>
                <c:pt idx="9">
                  <c:v>36951</c:v>
                </c:pt>
                <c:pt idx="10">
                  <c:v>36982</c:v>
                </c:pt>
                <c:pt idx="11">
                  <c:v>37012</c:v>
                </c:pt>
                <c:pt idx="12">
                  <c:v>37043</c:v>
                </c:pt>
                <c:pt idx="13">
                  <c:v>37073</c:v>
                </c:pt>
                <c:pt idx="14">
                  <c:v>37104</c:v>
                </c:pt>
                <c:pt idx="15">
                  <c:v>37135</c:v>
                </c:pt>
                <c:pt idx="16">
                  <c:v>37165</c:v>
                </c:pt>
                <c:pt idx="17">
                  <c:v>37196</c:v>
                </c:pt>
                <c:pt idx="18">
                  <c:v>37226</c:v>
                </c:pt>
                <c:pt idx="19">
                  <c:v>37257</c:v>
                </c:pt>
                <c:pt idx="20">
                  <c:v>37288</c:v>
                </c:pt>
                <c:pt idx="21">
                  <c:v>37316</c:v>
                </c:pt>
                <c:pt idx="22">
                  <c:v>37347</c:v>
                </c:pt>
                <c:pt idx="23">
                  <c:v>37377</c:v>
                </c:pt>
                <c:pt idx="24">
                  <c:v>37408</c:v>
                </c:pt>
                <c:pt idx="25">
                  <c:v>37438</c:v>
                </c:pt>
                <c:pt idx="26">
                  <c:v>37469</c:v>
                </c:pt>
                <c:pt idx="27">
                  <c:v>37500</c:v>
                </c:pt>
                <c:pt idx="28">
                  <c:v>37530</c:v>
                </c:pt>
                <c:pt idx="29">
                  <c:v>37561</c:v>
                </c:pt>
                <c:pt idx="30">
                  <c:v>37591</c:v>
                </c:pt>
                <c:pt idx="31">
                  <c:v>37622</c:v>
                </c:pt>
                <c:pt idx="32">
                  <c:v>37653</c:v>
                </c:pt>
                <c:pt idx="33">
                  <c:v>37681</c:v>
                </c:pt>
                <c:pt idx="34">
                  <c:v>37712</c:v>
                </c:pt>
                <c:pt idx="35">
                  <c:v>37742</c:v>
                </c:pt>
                <c:pt idx="36">
                  <c:v>37773</c:v>
                </c:pt>
                <c:pt idx="37">
                  <c:v>37803</c:v>
                </c:pt>
                <c:pt idx="38">
                  <c:v>37834</c:v>
                </c:pt>
                <c:pt idx="39">
                  <c:v>37865</c:v>
                </c:pt>
                <c:pt idx="40">
                  <c:v>37895</c:v>
                </c:pt>
                <c:pt idx="41">
                  <c:v>37926</c:v>
                </c:pt>
                <c:pt idx="42">
                  <c:v>37956</c:v>
                </c:pt>
                <c:pt idx="43">
                  <c:v>37987</c:v>
                </c:pt>
                <c:pt idx="44">
                  <c:v>38018</c:v>
                </c:pt>
                <c:pt idx="45">
                  <c:v>38047</c:v>
                </c:pt>
                <c:pt idx="46">
                  <c:v>38078</c:v>
                </c:pt>
                <c:pt idx="47">
                  <c:v>38108</c:v>
                </c:pt>
                <c:pt idx="48">
                  <c:v>38139</c:v>
                </c:pt>
                <c:pt idx="49">
                  <c:v>38169</c:v>
                </c:pt>
                <c:pt idx="50">
                  <c:v>38200</c:v>
                </c:pt>
                <c:pt idx="51">
                  <c:v>38231</c:v>
                </c:pt>
                <c:pt idx="52">
                  <c:v>38261</c:v>
                </c:pt>
                <c:pt idx="53">
                  <c:v>38292</c:v>
                </c:pt>
                <c:pt idx="54">
                  <c:v>38322</c:v>
                </c:pt>
                <c:pt idx="55">
                  <c:v>38353</c:v>
                </c:pt>
                <c:pt idx="56">
                  <c:v>38384</c:v>
                </c:pt>
                <c:pt idx="57">
                  <c:v>38412</c:v>
                </c:pt>
                <c:pt idx="58">
                  <c:v>38443</c:v>
                </c:pt>
                <c:pt idx="59">
                  <c:v>38473</c:v>
                </c:pt>
                <c:pt idx="60">
                  <c:v>38504</c:v>
                </c:pt>
                <c:pt idx="61">
                  <c:v>38534</c:v>
                </c:pt>
                <c:pt idx="62">
                  <c:v>38565</c:v>
                </c:pt>
                <c:pt idx="63">
                  <c:v>38596</c:v>
                </c:pt>
                <c:pt idx="64">
                  <c:v>38626</c:v>
                </c:pt>
                <c:pt idx="65">
                  <c:v>38657</c:v>
                </c:pt>
                <c:pt idx="66">
                  <c:v>38687</c:v>
                </c:pt>
                <c:pt idx="67">
                  <c:v>38718</c:v>
                </c:pt>
                <c:pt idx="68">
                  <c:v>38749</c:v>
                </c:pt>
                <c:pt idx="69">
                  <c:v>38777</c:v>
                </c:pt>
                <c:pt idx="70">
                  <c:v>38808</c:v>
                </c:pt>
                <c:pt idx="71">
                  <c:v>38838</c:v>
                </c:pt>
                <c:pt idx="72">
                  <c:v>38869</c:v>
                </c:pt>
                <c:pt idx="73">
                  <c:v>38899</c:v>
                </c:pt>
                <c:pt idx="74">
                  <c:v>38930</c:v>
                </c:pt>
                <c:pt idx="75">
                  <c:v>38961</c:v>
                </c:pt>
                <c:pt idx="76">
                  <c:v>38991</c:v>
                </c:pt>
                <c:pt idx="77">
                  <c:v>39022</c:v>
                </c:pt>
                <c:pt idx="78">
                  <c:v>39052</c:v>
                </c:pt>
                <c:pt idx="79">
                  <c:v>39083</c:v>
                </c:pt>
                <c:pt idx="80">
                  <c:v>39114</c:v>
                </c:pt>
                <c:pt idx="81">
                  <c:v>39142</c:v>
                </c:pt>
                <c:pt idx="82">
                  <c:v>39173</c:v>
                </c:pt>
                <c:pt idx="83">
                  <c:v>39203</c:v>
                </c:pt>
                <c:pt idx="84">
                  <c:v>39234</c:v>
                </c:pt>
                <c:pt idx="85">
                  <c:v>39264</c:v>
                </c:pt>
                <c:pt idx="86">
                  <c:v>39295</c:v>
                </c:pt>
                <c:pt idx="87">
                  <c:v>39326</c:v>
                </c:pt>
                <c:pt idx="88">
                  <c:v>39356</c:v>
                </c:pt>
                <c:pt idx="89">
                  <c:v>39387</c:v>
                </c:pt>
                <c:pt idx="90">
                  <c:v>39417</c:v>
                </c:pt>
                <c:pt idx="91">
                  <c:v>39448</c:v>
                </c:pt>
                <c:pt idx="92">
                  <c:v>39479</c:v>
                </c:pt>
                <c:pt idx="93">
                  <c:v>39508</c:v>
                </c:pt>
                <c:pt idx="94">
                  <c:v>39539</c:v>
                </c:pt>
                <c:pt idx="95">
                  <c:v>39569</c:v>
                </c:pt>
                <c:pt idx="96">
                  <c:v>39600</c:v>
                </c:pt>
                <c:pt idx="97">
                  <c:v>39630</c:v>
                </c:pt>
                <c:pt idx="98">
                  <c:v>39661</c:v>
                </c:pt>
                <c:pt idx="99">
                  <c:v>39692</c:v>
                </c:pt>
                <c:pt idx="100">
                  <c:v>39722</c:v>
                </c:pt>
                <c:pt idx="101">
                  <c:v>39753</c:v>
                </c:pt>
                <c:pt idx="102">
                  <c:v>39783</c:v>
                </c:pt>
                <c:pt idx="103">
                  <c:v>39814</c:v>
                </c:pt>
                <c:pt idx="104">
                  <c:v>39845</c:v>
                </c:pt>
                <c:pt idx="105">
                  <c:v>39873</c:v>
                </c:pt>
                <c:pt idx="106">
                  <c:v>39904</c:v>
                </c:pt>
                <c:pt idx="107">
                  <c:v>39934</c:v>
                </c:pt>
                <c:pt idx="108">
                  <c:v>39965</c:v>
                </c:pt>
                <c:pt idx="109">
                  <c:v>39995</c:v>
                </c:pt>
                <c:pt idx="110">
                  <c:v>40026</c:v>
                </c:pt>
                <c:pt idx="111">
                  <c:v>40057</c:v>
                </c:pt>
                <c:pt idx="112">
                  <c:v>40087</c:v>
                </c:pt>
                <c:pt idx="113">
                  <c:v>40118</c:v>
                </c:pt>
                <c:pt idx="114">
                  <c:v>40148</c:v>
                </c:pt>
                <c:pt idx="115">
                  <c:v>40179</c:v>
                </c:pt>
                <c:pt idx="116">
                  <c:v>40210</c:v>
                </c:pt>
                <c:pt idx="117">
                  <c:v>40238</c:v>
                </c:pt>
                <c:pt idx="118">
                  <c:v>40269</c:v>
                </c:pt>
                <c:pt idx="119">
                  <c:v>40299</c:v>
                </c:pt>
                <c:pt idx="120">
                  <c:v>40330</c:v>
                </c:pt>
                <c:pt idx="121">
                  <c:v>40360</c:v>
                </c:pt>
                <c:pt idx="122">
                  <c:v>40391</c:v>
                </c:pt>
                <c:pt idx="123">
                  <c:v>40422</c:v>
                </c:pt>
                <c:pt idx="124">
                  <c:v>40452</c:v>
                </c:pt>
                <c:pt idx="125">
                  <c:v>40483</c:v>
                </c:pt>
                <c:pt idx="126">
                  <c:v>40513</c:v>
                </c:pt>
                <c:pt idx="127">
                  <c:v>40544</c:v>
                </c:pt>
                <c:pt idx="128">
                  <c:v>40575</c:v>
                </c:pt>
                <c:pt idx="129">
                  <c:v>40603</c:v>
                </c:pt>
                <c:pt idx="130">
                  <c:v>40634</c:v>
                </c:pt>
                <c:pt idx="131">
                  <c:v>40664</c:v>
                </c:pt>
                <c:pt idx="132">
                  <c:v>40695</c:v>
                </c:pt>
                <c:pt idx="133">
                  <c:v>40725</c:v>
                </c:pt>
                <c:pt idx="134">
                  <c:v>40756</c:v>
                </c:pt>
                <c:pt idx="135">
                  <c:v>40787</c:v>
                </c:pt>
                <c:pt idx="136">
                  <c:v>40817</c:v>
                </c:pt>
                <c:pt idx="137">
                  <c:v>40848</c:v>
                </c:pt>
                <c:pt idx="138">
                  <c:v>40878</c:v>
                </c:pt>
                <c:pt idx="139">
                  <c:v>40909</c:v>
                </c:pt>
                <c:pt idx="140">
                  <c:v>40940</c:v>
                </c:pt>
                <c:pt idx="141">
                  <c:v>40969</c:v>
                </c:pt>
                <c:pt idx="142">
                  <c:v>41000</c:v>
                </c:pt>
                <c:pt idx="143">
                  <c:v>41030</c:v>
                </c:pt>
                <c:pt idx="144">
                  <c:v>41061</c:v>
                </c:pt>
                <c:pt idx="145">
                  <c:v>41091</c:v>
                </c:pt>
                <c:pt idx="146">
                  <c:v>41122</c:v>
                </c:pt>
                <c:pt idx="147">
                  <c:v>41153</c:v>
                </c:pt>
                <c:pt idx="148">
                  <c:v>41183</c:v>
                </c:pt>
                <c:pt idx="149">
                  <c:v>41214</c:v>
                </c:pt>
                <c:pt idx="150">
                  <c:v>41244</c:v>
                </c:pt>
                <c:pt idx="151">
                  <c:v>41275</c:v>
                </c:pt>
                <c:pt idx="152">
                  <c:v>41306</c:v>
                </c:pt>
                <c:pt idx="153">
                  <c:v>41334</c:v>
                </c:pt>
                <c:pt idx="154">
                  <c:v>41365</c:v>
                </c:pt>
                <c:pt idx="155">
                  <c:v>41395</c:v>
                </c:pt>
                <c:pt idx="156">
                  <c:v>41426</c:v>
                </c:pt>
                <c:pt idx="157">
                  <c:v>41456</c:v>
                </c:pt>
                <c:pt idx="158">
                  <c:v>41487</c:v>
                </c:pt>
                <c:pt idx="159">
                  <c:v>41518</c:v>
                </c:pt>
                <c:pt idx="160">
                  <c:v>41548</c:v>
                </c:pt>
                <c:pt idx="161">
                  <c:v>41579</c:v>
                </c:pt>
                <c:pt idx="162">
                  <c:v>41609</c:v>
                </c:pt>
                <c:pt idx="163">
                  <c:v>41640</c:v>
                </c:pt>
                <c:pt idx="164">
                  <c:v>41671</c:v>
                </c:pt>
                <c:pt idx="165">
                  <c:v>41699</c:v>
                </c:pt>
                <c:pt idx="166">
                  <c:v>41730</c:v>
                </c:pt>
                <c:pt idx="167">
                  <c:v>41760</c:v>
                </c:pt>
                <c:pt idx="168">
                  <c:v>41791</c:v>
                </c:pt>
                <c:pt idx="169">
                  <c:v>41821</c:v>
                </c:pt>
                <c:pt idx="170">
                  <c:v>41852</c:v>
                </c:pt>
                <c:pt idx="171">
                  <c:v>41883</c:v>
                </c:pt>
                <c:pt idx="172">
                  <c:v>41913</c:v>
                </c:pt>
                <c:pt idx="173">
                  <c:v>41944</c:v>
                </c:pt>
                <c:pt idx="174">
                  <c:v>41974</c:v>
                </c:pt>
                <c:pt idx="175">
                  <c:v>42005</c:v>
                </c:pt>
                <c:pt idx="176">
                  <c:v>42036</c:v>
                </c:pt>
                <c:pt idx="177">
                  <c:v>42064</c:v>
                </c:pt>
                <c:pt idx="178">
                  <c:v>42095</c:v>
                </c:pt>
                <c:pt idx="179">
                  <c:v>42125</c:v>
                </c:pt>
                <c:pt idx="180">
                  <c:v>42156</c:v>
                </c:pt>
                <c:pt idx="181">
                  <c:v>42186</c:v>
                </c:pt>
                <c:pt idx="182">
                  <c:v>42217</c:v>
                </c:pt>
                <c:pt idx="183">
                  <c:v>42248</c:v>
                </c:pt>
                <c:pt idx="184">
                  <c:v>42278</c:v>
                </c:pt>
                <c:pt idx="185">
                  <c:v>42309</c:v>
                </c:pt>
                <c:pt idx="186">
                  <c:v>42339</c:v>
                </c:pt>
                <c:pt idx="187">
                  <c:v>42370</c:v>
                </c:pt>
                <c:pt idx="188">
                  <c:v>42401</c:v>
                </c:pt>
                <c:pt idx="189">
                  <c:v>42430</c:v>
                </c:pt>
                <c:pt idx="190">
                  <c:v>42461</c:v>
                </c:pt>
                <c:pt idx="191">
                  <c:v>42491</c:v>
                </c:pt>
                <c:pt idx="192">
                  <c:v>42522</c:v>
                </c:pt>
                <c:pt idx="193">
                  <c:v>42552</c:v>
                </c:pt>
                <c:pt idx="194">
                  <c:v>42583</c:v>
                </c:pt>
                <c:pt idx="195">
                  <c:v>42614</c:v>
                </c:pt>
                <c:pt idx="196">
                  <c:v>42644</c:v>
                </c:pt>
                <c:pt idx="197">
                  <c:v>42675</c:v>
                </c:pt>
                <c:pt idx="198">
                  <c:v>42705</c:v>
                </c:pt>
                <c:pt idx="199">
                  <c:v>42736</c:v>
                </c:pt>
                <c:pt idx="200">
                  <c:v>42767</c:v>
                </c:pt>
                <c:pt idx="201">
                  <c:v>42795</c:v>
                </c:pt>
                <c:pt idx="202">
                  <c:v>42826</c:v>
                </c:pt>
                <c:pt idx="203">
                  <c:v>42856</c:v>
                </c:pt>
                <c:pt idx="204">
                  <c:v>42887</c:v>
                </c:pt>
                <c:pt idx="205">
                  <c:v>42917</c:v>
                </c:pt>
                <c:pt idx="206">
                  <c:v>42948</c:v>
                </c:pt>
                <c:pt idx="207">
                  <c:v>42979</c:v>
                </c:pt>
                <c:pt idx="208">
                  <c:v>43009</c:v>
                </c:pt>
                <c:pt idx="209">
                  <c:v>43040</c:v>
                </c:pt>
                <c:pt idx="210">
                  <c:v>43070</c:v>
                </c:pt>
                <c:pt idx="211">
                  <c:v>43101</c:v>
                </c:pt>
                <c:pt idx="212">
                  <c:v>43132</c:v>
                </c:pt>
                <c:pt idx="213">
                  <c:v>43160</c:v>
                </c:pt>
                <c:pt idx="214">
                  <c:v>43191</c:v>
                </c:pt>
                <c:pt idx="215">
                  <c:v>43221</c:v>
                </c:pt>
                <c:pt idx="216">
                  <c:v>43252</c:v>
                </c:pt>
                <c:pt idx="217">
                  <c:v>43282</c:v>
                </c:pt>
                <c:pt idx="218">
                  <c:v>43313</c:v>
                </c:pt>
                <c:pt idx="219">
                  <c:v>43344</c:v>
                </c:pt>
                <c:pt idx="220">
                  <c:v>43374</c:v>
                </c:pt>
                <c:pt idx="221">
                  <c:v>43405</c:v>
                </c:pt>
                <c:pt idx="222">
                  <c:v>43435</c:v>
                </c:pt>
                <c:pt idx="223">
                  <c:v>43466</c:v>
                </c:pt>
                <c:pt idx="224">
                  <c:v>43497</c:v>
                </c:pt>
                <c:pt idx="225">
                  <c:v>43525</c:v>
                </c:pt>
                <c:pt idx="226">
                  <c:v>43556</c:v>
                </c:pt>
                <c:pt idx="227">
                  <c:v>43586</c:v>
                </c:pt>
                <c:pt idx="228">
                  <c:v>43617</c:v>
                </c:pt>
                <c:pt idx="229">
                  <c:v>43647</c:v>
                </c:pt>
                <c:pt idx="230">
                  <c:v>43678</c:v>
                </c:pt>
                <c:pt idx="231">
                  <c:v>43709</c:v>
                </c:pt>
                <c:pt idx="232">
                  <c:v>43739</c:v>
                </c:pt>
                <c:pt idx="233">
                  <c:v>43770</c:v>
                </c:pt>
                <c:pt idx="234">
                  <c:v>43800</c:v>
                </c:pt>
                <c:pt idx="235">
                  <c:v>43831</c:v>
                </c:pt>
                <c:pt idx="236">
                  <c:v>43862</c:v>
                </c:pt>
                <c:pt idx="237">
                  <c:v>43891</c:v>
                </c:pt>
                <c:pt idx="238">
                  <c:v>43922</c:v>
                </c:pt>
                <c:pt idx="239">
                  <c:v>43952</c:v>
                </c:pt>
                <c:pt idx="240">
                  <c:v>43983</c:v>
                </c:pt>
                <c:pt idx="241">
                  <c:v>44013</c:v>
                </c:pt>
                <c:pt idx="242">
                  <c:v>44044</c:v>
                </c:pt>
                <c:pt idx="243">
                  <c:v>44075</c:v>
                </c:pt>
                <c:pt idx="244">
                  <c:v>44105</c:v>
                </c:pt>
                <c:pt idx="245">
                  <c:v>44136</c:v>
                </c:pt>
                <c:pt idx="246">
                  <c:v>44166</c:v>
                </c:pt>
                <c:pt idx="247">
                  <c:v>44197</c:v>
                </c:pt>
                <c:pt idx="248">
                  <c:v>44228</c:v>
                </c:pt>
                <c:pt idx="249">
                  <c:v>44256</c:v>
                </c:pt>
                <c:pt idx="250">
                  <c:v>44287</c:v>
                </c:pt>
                <c:pt idx="251">
                  <c:v>44317</c:v>
                </c:pt>
                <c:pt idx="252">
                  <c:v>44348</c:v>
                </c:pt>
                <c:pt idx="253">
                  <c:v>44378</c:v>
                </c:pt>
                <c:pt idx="254">
                  <c:v>44409</c:v>
                </c:pt>
                <c:pt idx="255">
                  <c:v>44440</c:v>
                </c:pt>
                <c:pt idx="256">
                  <c:v>44470</c:v>
                </c:pt>
                <c:pt idx="257">
                  <c:v>44501</c:v>
                </c:pt>
                <c:pt idx="258">
                  <c:v>44531</c:v>
                </c:pt>
                <c:pt idx="259">
                  <c:v>44562</c:v>
                </c:pt>
                <c:pt idx="260">
                  <c:v>44593</c:v>
                </c:pt>
                <c:pt idx="261">
                  <c:v>44621</c:v>
                </c:pt>
                <c:pt idx="262">
                  <c:v>44652</c:v>
                </c:pt>
                <c:pt idx="263">
                  <c:v>44682</c:v>
                </c:pt>
                <c:pt idx="264">
                  <c:v>44713</c:v>
                </c:pt>
                <c:pt idx="265">
                  <c:v>44743</c:v>
                </c:pt>
                <c:pt idx="266">
                  <c:v>44774</c:v>
                </c:pt>
                <c:pt idx="267">
                  <c:v>44805</c:v>
                </c:pt>
                <c:pt idx="268">
                  <c:v>44835</c:v>
                </c:pt>
                <c:pt idx="269">
                  <c:v>44866</c:v>
                </c:pt>
                <c:pt idx="270">
                  <c:v>44896</c:v>
                </c:pt>
                <c:pt idx="271">
                  <c:v>44927</c:v>
                </c:pt>
                <c:pt idx="272">
                  <c:v>44958</c:v>
                </c:pt>
                <c:pt idx="273">
                  <c:v>44986</c:v>
                </c:pt>
                <c:pt idx="274">
                  <c:v>45017</c:v>
                </c:pt>
                <c:pt idx="275">
                  <c:v>45047</c:v>
                </c:pt>
                <c:pt idx="276">
                  <c:v>45078</c:v>
                </c:pt>
                <c:pt idx="277">
                  <c:v>45108</c:v>
                </c:pt>
                <c:pt idx="278">
                  <c:v>45139</c:v>
                </c:pt>
                <c:pt idx="279">
                  <c:v>45170</c:v>
                </c:pt>
                <c:pt idx="280">
                  <c:v>45200</c:v>
                </c:pt>
                <c:pt idx="281">
                  <c:v>45231</c:v>
                </c:pt>
                <c:pt idx="282">
                  <c:v>45261</c:v>
                </c:pt>
                <c:pt idx="283">
                  <c:v>45292</c:v>
                </c:pt>
                <c:pt idx="284">
                  <c:v>45323</c:v>
                </c:pt>
                <c:pt idx="285">
                  <c:v>45352</c:v>
                </c:pt>
                <c:pt idx="286">
                  <c:v>45383</c:v>
                </c:pt>
                <c:pt idx="287">
                  <c:v>45413</c:v>
                </c:pt>
                <c:pt idx="288">
                  <c:v>45444</c:v>
                </c:pt>
                <c:pt idx="289">
                  <c:v>45474</c:v>
                </c:pt>
                <c:pt idx="290">
                  <c:v>45505</c:v>
                </c:pt>
                <c:pt idx="291">
                  <c:v>45536</c:v>
                </c:pt>
                <c:pt idx="292">
                  <c:v>45566</c:v>
                </c:pt>
                <c:pt idx="293">
                  <c:v>45597</c:v>
                </c:pt>
                <c:pt idx="294">
                  <c:v>45627</c:v>
                </c:pt>
                <c:pt idx="295">
                  <c:v>45658</c:v>
                </c:pt>
                <c:pt idx="296">
                  <c:v>45689</c:v>
                </c:pt>
                <c:pt idx="297">
                  <c:v>45717</c:v>
                </c:pt>
                <c:pt idx="298">
                  <c:v>45748</c:v>
                </c:pt>
                <c:pt idx="299">
                  <c:v>45778</c:v>
                </c:pt>
                <c:pt idx="300">
                  <c:v>45809</c:v>
                </c:pt>
                <c:pt idx="301">
                  <c:v>45839</c:v>
                </c:pt>
                <c:pt idx="302">
                  <c:v>45870</c:v>
                </c:pt>
                <c:pt idx="303">
                  <c:v>45901</c:v>
                </c:pt>
                <c:pt idx="304">
                  <c:v>45931</c:v>
                </c:pt>
                <c:pt idx="305">
                  <c:v>45962</c:v>
                </c:pt>
                <c:pt idx="306">
                  <c:v>45992</c:v>
                </c:pt>
              </c:numCache>
            </c:numRef>
          </c:cat>
          <c:val>
            <c:numRef>
              <c:f>Hoja1!$E$2:$E$308</c:f>
              <c:numCache>
                <c:formatCode>0.0</c:formatCode>
                <c:ptCount val="307"/>
                <c:pt idx="0">
                  <c:v>12</c:v>
                </c:pt>
                <c:pt idx="1">
                  <c:v>12</c:v>
                </c:pt>
                <c:pt idx="2">
                  <c:v>12</c:v>
                </c:pt>
                <c:pt idx="3">
                  <c:v>12</c:v>
                </c:pt>
                <c:pt idx="4">
                  <c:v>12</c:v>
                </c:pt>
                <c:pt idx="5">
                  <c:v>12</c:v>
                </c:pt>
                <c:pt idx="6">
                  <c:v>12</c:v>
                </c:pt>
                <c:pt idx="7">
                  <c:v>12</c:v>
                </c:pt>
                <c:pt idx="8">
                  <c:v>12</c:v>
                </c:pt>
                <c:pt idx="9">
                  <c:v>12</c:v>
                </c:pt>
                <c:pt idx="10">
                  <c:v>11.5</c:v>
                </c:pt>
                <c:pt idx="11">
                  <c:v>11.5</c:v>
                </c:pt>
                <c:pt idx="12">
                  <c:v>11.5</c:v>
                </c:pt>
                <c:pt idx="13">
                  <c:v>11.5</c:v>
                </c:pt>
                <c:pt idx="14">
                  <c:v>11</c:v>
                </c:pt>
                <c:pt idx="15">
                  <c:v>10</c:v>
                </c:pt>
                <c:pt idx="16">
                  <c:v>9.5</c:v>
                </c:pt>
                <c:pt idx="17">
                  <c:v>9.25</c:v>
                </c:pt>
                <c:pt idx="18">
                  <c:v>8.75</c:v>
                </c:pt>
                <c:pt idx="19">
                  <c:v>8.5</c:v>
                </c:pt>
                <c:pt idx="20">
                  <c:v>8</c:v>
                </c:pt>
                <c:pt idx="21">
                  <c:v>8</c:v>
                </c:pt>
                <c:pt idx="22">
                  <c:v>7.25</c:v>
                </c:pt>
                <c:pt idx="23">
                  <c:v>6.25</c:v>
                </c:pt>
                <c:pt idx="24">
                  <c:v>5.75</c:v>
                </c:pt>
                <c:pt idx="25">
                  <c:v>5.25</c:v>
                </c:pt>
                <c:pt idx="26">
                  <c:v>5.25</c:v>
                </c:pt>
                <c:pt idx="27">
                  <c:v>5.25</c:v>
                </c:pt>
                <c:pt idx="28">
                  <c:v>5.25</c:v>
                </c:pt>
                <c:pt idx="29">
                  <c:v>5.25</c:v>
                </c:pt>
                <c:pt idx="30">
                  <c:v>5.25</c:v>
                </c:pt>
                <c:pt idx="31">
                  <c:v>5.25</c:v>
                </c:pt>
                <c:pt idx="32">
                  <c:v>6.25</c:v>
                </c:pt>
                <c:pt idx="33">
                  <c:v>6.25</c:v>
                </c:pt>
                <c:pt idx="34">
                  <c:v>6.25</c:v>
                </c:pt>
                <c:pt idx="35">
                  <c:v>7.25</c:v>
                </c:pt>
                <c:pt idx="36">
                  <c:v>7.25</c:v>
                </c:pt>
                <c:pt idx="37">
                  <c:v>7.25</c:v>
                </c:pt>
                <c:pt idx="38">
                  <c:v>7.25</c:v>
                </c:pt>
                <c:pt idx="39">
                  <c:v>7.25</c:v>
                </c:pt>
                <c:pt idx="40">
                  <c:v>7.25</c:v>
                </c:pt>
                <c:pt idx="41">
                  <c:v>7.25</c:v>
                </c:pt>
                <c:pt idx="42">
                  <c:v>7.25</c:v>
                </c:pt>
                <c:pt idx="43">
                  <c:v>7.25</c:v>
                </c:pt>
                <c:pt idx="44">
                  <c:v>7.25</c:v>
                </c:pt>
                <c:pt idx="45">
                  <c:v>7</c:v>
                </c:pt>
                <c:pt idx="46">
                  <c:v>6.75</c:v>
                </c:pt>
                <c:pt idx="47">
                  <c:v>6.75</c:v>
                </c:pt>
                <c:pt idx="48">
                  <c:v>6.75</c:v>
                </c:pt>
                <c:pt idx="49">
                  <c:v>6.75</c:v>
                </c:pt>
                <c:pt idx="50">
                  <c:v>6.75</c:v>
                </c:pt>
                <c:pt idx="51">
                  <c:v>6.75</c:v>
                </c:pt>
                <c:pt idx="52">
                  <c:v>6.75</c:v>
                </c:pt>
                <c:pt idx="53">
                  <c:v>6.75</c:v>
                </c:pt>
                <c:pt idx="54">
                  <c:v>6.75</c:v>
                </c:pt>
                <c:pt idx="55">
                  <c:v>6.5</c:v>
                </c:pt>
                <c:pt idx="56">
                  <c:v>6.5</c:v>
                </c:pt>
                <c:pt idx="57">
                  <c:v>6.5</c:v>
                </c:pt>
                <c:pt idx="58">
                  <c:v>6.5</c:v>
                </c:pt>
                <c:pt idx="59">
                  <c:v>6.5</c:v>
                </c:pt>
                <c:pt idx="60">
                  <c:v>6.5</c:v>
                </c:pt>
                <c:pt idx="61">
                  <c:v>6.5</c:v>
                </c:pt>
                <c:pt idx="62">
                  <c:v>6.5</c:v>
                </c:pt>
                <c:pt idx="63">
                  <c:v>6.5</c:v>
                </c:pt>
                <c:pt idx="64">
                  <c:v>6</c:v>
                </c:pt>
                <c:pt idx="65">
                  <c:v>6</c:v>
                </c:pt>
                <c:pt idx="66">
                  <c:v>6</c:v>
                </c:pt>
                <c:pt idx="67">
                  <c:v>6</c:v>
                </c:pt>
                <c:pt idx="68">
                  <c:v>6</c:v>
                </c:pt>
                <c:pt idx="69">
                  <c:v>6</c:v>
                </c:pt>
                <c:pt idx="70">
                  <c:v>6</c:v>
                </c:pt>
                <c:pt idx="71">
                  <c:v>6</c:v>
                </c:pt>
                <c:pt idx="72">
                  <c:v>6.25</c:v>
                </c:pt>
                <c:pt idx="73">
                  <c:v>6.5</c:v>
                </c:pt>
                <c:pt idx="74">
                  <c:v>6.5</c:v>
                </c:pt>
                <c:pt idx="75">
                  <c:v>6.75</c:v>
                </c:pt>
                <c:pt idx="76">
                  <c:v>6.75</c:v>
                </c:pt>
                <c:pt idx="77">
                  <c:v>7.25</c:v>
                </c:pt>
                <c:pt idx="78">
                  <c:v>7.25</c:v>
                </c:pt>
                <c:pt idx="79">
                  <c:v>7.5</c:v>
                </c:pt>
                <c:pt idx="80">
                  <c:v>7.75</c:v>
                </c:pt>
                <c:pt idx="81">
                  <c:v>8</c:v>
                </c:pt>
                <c:pt idx="82">
                  <c:v>8.25</c:v>
                </c:pt>
                <c:pt idx="83">
                  <c:v>8.25</c:v>
                </c:pt>
                <c:pt idx="84">
                  <c:v>8.75</c:v>
                </c:pt>
                <c:pt idx="85">
                  <c:v>9</c:v>
                </c:pt>
                <c:pt idx="86">
                  <c:v>9.25</c:v>
                </c:pt>
                <c:pt idx="87">
                  <c:v>9.25</c:v>
                </c:pt>
                <c:pt idx="88">
                  <c:v>9.25</c:v>
                </c:pt>
                <c:pt idx="89">
                  <c:v>9.25</c:v>
                </c:pt>
                <c:pt idx="90">
                  <c:v>9.5</c:v>
                </c:pt>
                <c:pt idx="91">
                  <c:v>9.5</c:v>
                </c:pt>
                <c:pt idx="92">
                  <c:v>9.5</c:v>
                </c:pt>
                <c:pt idx="93">
                  <c:v>9.75</c:v>
                </c:pt>
                <c:pt idx="94">
                  <c:v>9.75</c:v>
                </c:pt>
                <c:pt idx="95">
                  <c:v>9.75</c:v>
                </c:pt>
                <c:pt idx="96">
                  <c:v>9.75</c:v>
                </c:pt>
                <c:pt idx="97">
                  <c:v>9.75</c:v>
                </c:pt>
                <c:pt idx="98">
                  <c:v>10</c:v>
                </c:pt>
                <c:pt idx="99">
                  <c:v>10</c:v>
                </c:pt>
                <c:pt idx="100">
                  <c:v>10</c:v>
                </c:pt>
                <c:pt idx="101">
                  <c:v>10</c:v>
                </c:pt>
                <c:pt idx="102">
                  <c:v>10</c:v>
                </c:pt>
                <c:pt idx="103">
                  <c:v>9.5</c:v>
                </c:pt>
                <c:pt idx="104">
                  <c:v>9.5</c:v>
                </c:pt>
                <c:pt idx="105">
                  <c:v>9</c:v>
                </c:pt>
                <c:pt idx="106">
                  <c:v>7</c:v>
                </c:pt>
                <c:pt idx="107">
                  <c:v>7</c:v>
                </c:pt>
                <c:pt idx="108">
                  <c:v>5</c:v>
                </c:pt>
                <c:pt idx="109">
                  <c:v>4.5</c:v>
                </c:pt>
                <c:pt idx="110">
                  <c:v>4.5</c:v>
                </c:pt>
                <c:pt idx="111">
                  <c:v>4.5</c:v>
                </c:pt>
                <c:pt idx="112">
                  <c:v>4</c:v>
                </c:pt>
                <c:pt idx="113">
                  <c:v>4</c:v>
                </c:pt>
                <c:pt idx="114">
                  <c:v>3.5</c:v>
                </c:pt>
                <c:pt idx="115">
                  <c:v>3.5</c:v>
                </c:pt>
                <c:pt idx="116">
                  <c:v>3.5</c:v>
                </c:pt>
                <c:pt idx="117">
                  <c:v>3.5</c:v>
                </c:pt>
                <c:pt idx="118">
                  <c:v>3.5</c:v>
                </c:pt>
                <c:pt idx="119">
                  <c:v>3.5</c:v>
                </c:pt>
                <c:pt idx="120">
                  <c:v>3</c:v>
                </c:pt>
                <c:pt idx="121">
                  <c:v>3</c:v>
                </c:pt>
                <c:pt idx="122">
                  <c:v>3</c:v>
                </c:pt>
                <c:pt idx="123">
                  <c:v>3</c:v>
                </c:pt>
                <c:pt idx="124">
                  <c:v>3</c:v>
                </c:pt>
                <c:pt idx="125">
                  <c:v>3</c:v>
                </c:pt>
                <c:pt idx="126">
                  <c:v>3</c:v>
                </c:pt>
                <c:pt idx="127">
                  <c:v>3</c:v>
                </c:pt>
                <c:pt idx="128">
                  <c:v>3</c:v>
                </c:pt>
                <c:pt idx="129">
                  <c:v>3.25</c:v>
                </c:pt>
                <c:pt idx="130">
                  <c:v>3.5</c:v>
                </c:pt>
                <c:pt idx="131">
                  <c:v>3.5</c:v>
                </c:pt>
                <c:pt idx="132">
                  <c:v>4</c:v>
                </c:pt>
                <c:pt idx="133">
                  <c:v>4.25</c:v>
                </c:pt>
                <c:pt idx="134">
                  <c:v>4.5</c:v>
                </c:pt>
                <c:pt idx="135">
                  <c:v>4.5</c:v>
                </c:pt>
                <c:pt idx="136">
                  <c:v>4.5</c:v>
                </c:pt>
                <c:pt idx="137">
                  <c:v>4.5</c:v>
                </c:pt>
                <c:pt idx="138">
                  <c:v>4.75</c:v>
                </c:pt>
                <c:pt idx="139">
                  <c:v>4.75</c:v>
                </c:pt>
                <c:pt idx="140">
                  <c:v>5</c:v>
                </c:pt>
                <c:pt idx="141">
                  <c:v>5.25</c:v>
                </c:pt>
                <c:pt idx="142">
                  <c:v>5.25</c:v>
                </c:pt>
                <c:pt idx="143">
                  <c:v>5.25</c:v>
                </c:pt>
                <c:pt idx="144">
                  <c:v>5.25</c:v>
                </c:pt>
                <c:pt idx="145">
                  <c:v>5.25</c:v>
                </c:pt>
                <c:pt idx="146">
                  <c:v>5</c:v>
                </c:pt>
                <c:pt idx="147">
                  <c:v>4.75</c:v>
                </c:pt>
                <c:pt idx="148">
                  <c:v>4.75</c:v>
                </c:pt>
                <c:pt idx="149">
                  <c:v>4.75</c:v>
                </c:pt>
                <c:pt idx="150">
                  <c:v>4.5</c:v>
                </c:pt>
                <c:pt idx="151">
                  <c:v>4.25</c:v>
                </c:pt>
                <c:pt idx="152">
                  <c:v>4</c:v>
                </c:pt>
                <c:pt idx="153">
                  <c:v>3.75</c:v>
                </c:pt>
                <c:pt idx="154">
                  <c:v>3.25</c:v>
                </c:pt>
                <c:pt idx="155">
                  <c:v>3.25</c:v>
                </c:pt>
                <c:pt idx="156">
                  <c:v>3.25</c:v>
                </c:pt>
                <c:pt idx="157">
                  <c:v>3.25</c:v>
                </c:pt>
                <c:pt idx="158">
                  <c:v>3.25</c:v>
                </c:pt>
                <c:pt idx="159">
                  <c:v>3.25</c:v>
                </c:pt>
                <c:pt idx="160">
                  <c:v>3.25</c:v>
                </c:pt>
                <c:pt idx="161">
                  <c:v>3.25</c:v>
                </c:pt>
                <c:pt idx="162">
                  <c:v>3.25</c:v>
                </c:pt>
                <c:pt idx="163">
                  <c:v>3.25</c:v>
                </c:pt>
                <c:pt idx="164">
                  <c:v>3.25</c:v>
                </c:pt>
                <c:pt idx="165">
                  <c:v>3.25</c:v>
                </c:pt>
                <c:pt idx="166">
                  <c:v>3.25</c:v>
                </c:pt>
                <c:pt idx="167">
                  <c:v>3.5</c:v>
                </c:pt>
                <c:pt idx="168">
                  <c:v>3.5</c:v>
                </c:pt>
                <c:pt idx="169">
                  <c:v>4</c:v>
                </c:pt>
                <c:pt idx="170">
                  <c:v>4.25</c:v>
                </c:pt>
                <c:pt idx="171">
                  <c:v>4.5</c:v>
                </c:pt>
                <c:pt idx="172">
                  <c:v>4.5</c:v>
                </c:pt>
                <c:pt idx="173">
                  <c:v>4.5</c:v>
                </c:pt>
                <c:pt idx="174">
                  <c:v>4.5</c:v>
                </c:pt>
                <c:pt idx="175">
                  <c:v>4.5</c:v>
                </c:pt>
                <c:pt idx="176">
                  <c:v>4.5</c:v>
                </c:pt>
                <c:pt idx="177">
                  <c:v>4.5</c:v>
                </c:pt>
                <c:pt idx="178">
                  <c:v>4.5</c:v>
                </c:pt>
                <c:pt idx="179">
                  <c:v>4.5</c:v>
                </c:pt>
                <c:pt idx="180">
                  <c:v>4.5</c:v>
                </c:pt>
                <c:pt idx="181">
                  <c:v>4.5</c:v>
                </c:pt>
                <c:pt idx="182">
                  <c:v>4.5</c:v>
                </c:pt>
                <c:pt idx="183">
                  <c:v>4.5</c:v>
                </c:pt>
                <c:pt idx="184">
                  <c:v>4.75</c:v>
                </c:pt>
                <c:pt idx="185">
                  <c:v>4.75</c:v>
                </c:pt>
                <c:pt idx="186">
                  <c:v>5.5</c:v>
                </c:pt>
                <c:pt idx="187">
                  <c:v>5.75</c:v>
                </c:pt>
                <c:pt idx="188">
                  <c:v>6</c:v>
                </c:pt>
                <c:pt idx="189">
                  <c:v>6.25</c:v>
                </c:pt>
                <c:pt idx="190">
                  <c:v>6.5</c:v>
                </c:pt>
                <c:pt idx="191">
                  <c:v>6.5</c:v>
                </c:pt>
                <c:pt idx="192">
                  <c:v>7.25</c:v>
                </c:pt>
                <c:pt idx="193">
                  <c:v>7.5</c:v>
                </c:pt>
                <c:pt idx="194">
                  <c:v>7.75</c:v>
                </c:pt>
                <c:pt idx="195">
                  <c:v>7.75</c:v>
                </c:pt>
                <c:pt idx="196">
                  <c:v>7.75</c:v>
                </c:pt>
                <c:pt idx="197">
                  <c:v>7.75</c:v>
                </c:pt>
                <c:pt idx="198">
                  <c:v>7.75</c:v>
                </c:pt>
                <c:pt idx="199">
                  <c:v>7.5</c:v>
                </c:pt>
                <c:pt idx="200">
                  <c:v>7.5</c:v>
                </c:pt>
                <c:pt idx="201">
                  <c:v>7.25</c:v>
                </c:pt>
                <c:pt idx="202">
                  <c:v>7</c:v>
                </c:pt>
                <c:pt idx="203">
                  <c:v>7</c:v>
                </c:pt>
                <c:pt idx="204">
                  <c:v>6.25</c:v>
                </c:pt>
                <c:pt idx="205">
                  <c:v>6.25</c:v>
                </c:pt>
                <c:pt idx="206">
                  <c:v>5.5</c:v>
                </c:pt>
                <c:pt idx="207">
                  <c:v>5.25</c:v>
                </c:pt>
                <c:pt idx="208">
                  <c:v>5.25</c:v>
                </c:pt>
                <c:pt idx="209">
                  <c:v>5</c:v>
                </c:pt>
                <c:pt idx="210">
                  <c:v>4.75</c:v>
                </c:pt>
                <c:pt idx="211">
                  <c:v>4.75</c:v>
                </c:pt>
                <c:pt idx="212">
                  <c:v>4.5</c:v>
                </c:pt>
                <c:pt idx="213">
                  <c:v>4.5</c:v>
                </c:pt>
                <c:pt idx="214">
                  <c:v>4.5</c:v>
                </c:pt>
                <c:pt idx="215">
                  <c:v>4.25</c:v>
                </c:pt>
                <c:pt idx="216">
                  <c:v>4.25</c:v>
                </c:pt>
                <c:pt idx="217">
                  <c:v>4.25</c:v>
                </c:pt>
                <c:pt idx="218">
                  <c:v>4.25</c:v>
                </c:pt>
                <c:pt idx="219">
                  <c:v>4.25</c:v>
                </c:pt>
                <c:pt idx="220">
                  <c:v>4.25</c:v>
                </c:pt>
                <c:pt idx="221">
                  <c:v>4.25</c:v>
                </c:pt>
                <c:pt idx="222">
                  <c:v>4.25</c:v>
                </c:pt>
                <c:pt idx="223">
                  <c:v>4.25</c:v>
                </c:pt>
                <c:pt idx="224">
                  <c:v>4.25</c:v>
                </c:pt>
                <c:pt idx="225">
                  <c:v>4.25</c:v>
                </c:pt>
                <c:pt idx="226">
                  <c:v>4.25</c:v>
                </c:pt>
                <c:pt idx="227">
                  <c:v>4.25</c:v>
                </c:pt>
                <c:pt idx="228">
                  <c:v>4.25</c:v>
                </c:pt>
                <c:pt idx="229">
                  <c:v>4.25</c:v>
                </c:pt>
                <c:pt idx="230">
                  <c:v>4.25</c:v>
                </c:pt>
                <c:pt idx="231">
                  <c:v>4.25</c:v>
                </c:pt>
                <c:pt idx="232">
                  <c:v>4.25</c:v>
                </c:pt>
                <c:pt idx="233">
                  <c:v>4.25</c:v>
                </c:pt>
                <c:pt idx="234">
                  <c:v>4.25</c:v>
                </c:pt>
                <c:pt idx="235">
                  <c:v>4.25</c:v>
                </c:pt>
                <c:pt idx="236">
                  <c:v>4.25</c:v>
                </c:pt>
                <c:pt idx="237">
                  <c:v>4.25</c:v>
                </c:pt>
                <c:pt idx="238">
                  <c:v>3.75</c:v>
                </c:pt>
                <c:pt idx="239">
                  <c:v>3.75</c:v>
                </c:pt>
                <c:pt idx="240">
                  <c:v>2.75</c:v>
                </c:pt>
                <c:pt idx="241">
                  <c:v>2.5</c:v>
                </c:pt>
                <c:pt idx="242">
                  <c:v>2.5</c:v>
                </c:pt>
                <c:pt idx="243">
                  <c:v>2</c:v>
                </c:pt>
                <c:pt idx="244">
                  <c:v>1.75</c:v>
                </c:pt>
                <c:pt idx="245">
                  <c:v>1.75</c:v>
                </c:pt>
                <c:pt idx="246">
                  <c:v>1.75</c:v>
                </c:pt>
                <c:pt idx="247">
                  <c:v>1.75</c:v>
                </c:pt>
                <c:pt idx="248">
                  <c:v>1.75</c:v>
                </c:pt>
                <c:pt idx="249">
                  <c:v>1.75</c:v>
                </c:pt>
                <c:pt idx="250">
                  <c:v>1.75</c:v>
                </c:pt>
                <c:pt idx="251">
                  <c:v>1.75</c:v>
                </c:pt>
                <c:pt idx="252">
                  <c:v>1.75</c:v>
                </c:pt>
                <c:pt idx="253">
                  <c:v>1.75</c:v>
                </c:pt>
                <c:pt idx="254">
                  <c:v>1.75</c:v>
                </c:pt>
                <c:pt idx="255">
                  <c:v>1.75</c:v>
                </c:pt>
                <c:pt idx="256">
                  <c:v>2</c:v>
                </c:pt>
                <c:pt idx="257">
                  <c:v>2</c:v>
                </c:pt>
                <c:pt idx="258">
                  <c:v>2.5</c:v>
                </c:pt>
                <c:pt idx="259">
                  <c:v>3</c:v>
                </c:pt>
                <c:pt idx="260">
                  <c:v>4</c:v>
                </c:pt>
                <c:pt idx="261">
                  <c:v>4</c:v>
                </c:pt>
                <c:pt idx="262">
                  <c:v>5</c:v>
                </c:pt>
                <c:pt idx="263">
                  <c:v>5</c:v>
                </c:pt>
                <c:pt idx="264">
                  <c:v>6</c:v>
                </c:pt>
                <c:pt idx="265">
                  <c:v>7.5</c:v>
                </c:pt>
                <c:pt idx="266">
                  <c:v>9</c:v>
                </c:pt>
                <c:pt idx="267">
                  <c:v>9</c:v>
                </c:pt>
                <c:pt idx="268">
                  <c:v>10</c:v>
                </c:pt>
                <c:pt idx="269">
                  <c:v>11</c:v>
                </c:pt>
                <c:pt idx="270">
                  <c:v>11</c:v>
                </c:pt>
                <c:pt idx="271">
                  <c:v>12</c:v>
                </c:pt>
                <c:pt idx="272">
                  <c:v>12.75</c:v>
                </c:pt>
                <c:pt idx="273">
                  <c:v>12.75</c:v>
                </c:pt>
                <c:pt idx="274">
                  <c:v>13</c:v>
                </c:pt>
                <c:pt idx="275">
                  <c:v>13</c:v>
                </c:pt>
                <c:pt idx="276">
                  <c:v>13.25</c:v>
                </c:pt>
                <c:pt idx="277">
                  <c:v>13.25</c:v>
                </c:pt>
                <c:pt idx="278">
                  <c:v>13.25</c:v>
                </c:pt>
                <c:pt idx="279">
                  <c:v>13.25</c:v>
                </c:pt>
                <c:pt idx="280">
                  <c:v>13.25</c:v>
                </c:pt>
                <c:pt idx="281">
                  <c:v>13.25</c:v>
                </c:pt>
                <c:pt idx="282">
                  <c:v>13.25</c:v>
                </c:pt>
                <c:pt idx="283" formatCode="0.00">
                  <c:v>13</c:v>
                </c:pt>
                <c:pt idx="284" formatCode="0.000">
                  <c:v>12.75</c:v>
                </c:pt>
                <c:pt idx="285" formatCode="0.000">
                  <c:v>12.75</c:v>
                </c:pt>
                <c:pt idx="286" formatCode="0.000">
                  <c:v>12.25</c:v>
                </c:pt>
                <c:pt idx="287" formatCode="0.00">
                  <c:v>12.25</c:v>
                </c:pt>
                <c:pt idx="288" formatCode="0.00">
                  <c:v>11.75</c:v>
                </c:pt>
                <c:pt idx="289" formatCode="0.00">
                  <c:v>11.25</c:v>
                </c:pt>
                <c:pt idx="290" formatCode="0.00">
                  <c:v>10.75</c:v>
                </c:pt>
                <c:pt idx="291" formatCode="0.00">
                  <c:v>10.25</c:v>
                </c:pt>
                <c:pt idx="292" formatCode="0.00">
                  <c:v>9.75</c:v>
                </c:pt>
                <c:pt idx="293" formatCode="0.00">
                  <c:v>9.75</c:v>
                </c:pt>
                <c:pt idx="294" formatCode="0.00">
                  <c:v>9.5</c:v>
                </c:pt>
                <c:pt idx="295" formatCode="0.00">
                  <c:v>9.5</c:v>
                </c:pt>
                <c:pt idx="296" formatCode="0.00">
                  <c:v>9.5</c:v>
                </c:pt>
                <c:pt idx="297" formatCode="0.00">
                  <c:v>9.5</c:v>
                </c:pt>
                <c:pt idx="298" formatCode="0.00">
                  <c:v>9.5</c:v>
                </c:pt>
                <c:pt idx="299" formatCode="0.00">
                  <c:v>9.25</c:v>
                </c:pt>
                <c:pt idx="300" formatCode="0.00">
                  <c:v>9.25</c:v>
                </c:pt>
                <c:pt idx="301" formatCode="0.00">
                  <c:v>9.25</c:v>
                </c:pt>
                <c:pt idx="302" formatCode="0.00">
                  <c:v>9.25</c:v>
                </c:pt>
                <c:pt idx="303" formatCode="0.00">
                  <c:v>9.25</c:v>
                </c:pt>
                <c:pt idx="304" formatCode="0.00">
                  <c:v>9.25</c:v>
                </c:pt>
                <c:pt idx="305" formatCode="0.00">
                  <c:v>9.25</c:v>
                </c:pt>
                <c:pt idx="306" formatCode="0.00">
                  <c:v>9.25</c:v>
                </c:pt>
              </c:numCache>
            </c:numRef>
          </c:val>
          <c:smooth val="0"/>
          <c:extLst>
            <c:ext xmlns:c16="http://schemas.microsoft.com/office/drawing/2014/chart" uri="{C3380CC4-5D6E-409C-BE32-E72D297353CC}">
              <c16:uniqueId val="{00000001-B0E4-4211-BCA2-BAE724B7BE3F}"/>
            </c:ext>
          </c:extLst>
        </c:ser>
        <c:dLbls>
          <c:showLegendKey val="0"/>
          <c:showVal val="0"/>
          <c:showCatName val="0"/>
          <c:showSerName val="0"/>
          <c:showPercent val="0"/>
          <c:showBubbleSize val="0"/>
        </c:dLbls>
        <c:smooth val="0"/>
        <c:axId val="905437327"/>
        <c:axId val="905439247"/>
      </c:lineChart>
      <c:dateAx>
        <c:axId val="905437327"/>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05439247"/>
        <c:crosses val="autoZero"/>
        <c:auto val="1"/>
        <c:lblOffset val="100"/>
        <c:baseTimeUnit val="months"/>
      </c:dateAx>
      <c:valAx>
        <c:axId val="90543924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05437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117028251933699E-2"/>
          <c:y val="3.4658482049453376E-2"/>
          <c:w val="0.95081610399318617"/>
          <c:h val="0.78021367575792311"/>
        </c:manualLayout>
      </c:layout>
      <c:lineChart>
        <c:grouping val="standard"/>
        <c:varyColors val="0"/>
        <c:ser>
          <c:idx val="0"/>
          <c:order val="0"/>
          <c:tx>
            <c:strRef>
              <c:f>DATOS!$A$44</c:f>
              <c:strCache>
                <c:ptCount val="1"/>
                <c:pt idx="0">
                  <c:v>CO - Consumo</c:v>
                </c:pt>
              </c:strCache>
            </c:strRef>
          </c:tx>
          <c:spPr>
            <a:ln w="1270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DATOS!$BA$43:$BM$43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DATOS!$BA$44:$BM$44</c:f>
              <c:numCache>
                <c:formatCode>0.00%</c:formatCode>
                <c:ptCount val="13"/>
                <c:pt idx="0">
                  <c:v>0.21628192558020709</c:v>
                </c:pt>
                <c:pt idx="1">
                  <c:v>0.2172467268262277</c:v>
                </c:pt>
                <c:pt idx="2">
                  <c:v>0.21714899299853618</c:v>
                </c:pt>
                <c:pt idx="3">
                  <c:v>0.21799145247181051</c:v>
                </c:pt>
                <c:pt idx="4">
                  <c:v>0.21808375545542957</c:v>
                </c:pt>
                <c:pt idx="5">
                  <c:v>0.21429750293291194</c:v>
                </c:pt>
                <c:pt idx="6">
                  <c:v>0.21011362585694782</c:v>
                </c:pt>
                <c:pt idx="7">
                  <c:v>0.20768420910764096</c:v>
                </c:pt>
                <c:pt idx="8">
                  <c:v>0.19720819291416136</c:v>
                </c:pt>
                <c:pt idx="9">
                  <c:v>0.18855533716614281</c:v>
                </c:pt>
                <c:pt idx="10">
                  <c:v>0.18836214397841711</c:v>
                </c:pt>
                <c:pt idx="11">
                  <c:v>0.18983594638314027</c:v>
                </c:pt>
                <c:pt idx="12">
                  <c:v>0.19117040096740068</c:v>
                </c:pt>
              </c:numCache>
            </c:numRef>
          </c:val>
          <c:smooth val="0"/>
          <c:extLst>
            <c:ext xmlns:c16="http://schemas.microsoft.com/office/drawing/2014/chart" uri="{C3380CC4-5D6E-409C-BE32-E72D297353CC}">
              <c16:uniqueId val="{00000000-60E6-4D71-B7FD-72B872AC6235}"/>
            </c:ext>
          </c:extLst>
        </c:ser>
        <c:ser>
          <c:idx val="1"/>
          <c:order val="1"/>
          <c:tx>
            <c:strRef>
              <c:f>DATOS!$A$45</c:f>
              <c:strCache>
                <c:ptCount val="1"/>
                <c:pt idx="0">
                  <c:v>TP- Rotativos</c:v>
                </c:pt>
              </c:strCache>
            </c:strRef>
          </c:tx>
          <c:spPr>
            <a:ln w="12700"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DATOS!$BA$43:$BM$43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DATOS!$BA$45:$BM$45</c:f>
              <c:numCache>
                <c:formatCode>0.00%</c:formatCode>
                <c:ptCount val="13"/>
                <c:pt idx="0">
                  <c:v>0.26222638204709559</c:v>
                </c:pt>
                <c:pt idx="1">
                  <c:v>0.26475128834329631</c:v>
                </c:pt>
                <c:pt idx="2">
                  <c:v>0.26505762337239136</c:v>
                </c:pt>
                <c:pt idx="3">
                  <c:v>0.26465615205819626</c:v>
                </c:pt>
                <c:pt idx="4">
                  <c:v>0.26439391097912934</c:v>
                </c:pt>
                <c:pt idx="5">
                  <c:v>0.26371090024607691</c:v>
                </c:pt>
                <c:pt idx="6">
                  <c:v>0.26345080054156655</c:v>
                </c:pt>
                <c:pt idx="7">
                  <c:v>0.26311036573557978</c:v>
                </c:pt>
                <c:pt idx="8">
                  <c:v>0.24649025820372783</c:v>
                </c:pt>
                <c:pt idx="9">
                  <c:v>0.24630197239774998</c:v>
                </c:pt>
                <c:pt idx="10">
                  <c:v>0.24225218595088505</c:v>
                </c:pt>
                <c:pt idx="11">
                  <c:v>0.24424621550855408</c:v>
                </c:pt>
                <c:pt idx="12">
                  <c:v>0.24450252461409794</c:v>
                </c:pt>
              </c:numCache>
            </c:numRef>
          </c:val>
          <c:smooth val="0"/>
          <c:extLst>
            <c:ext xmlns:c16="http://schemas.microsoft.com/office/drawing/2014/chart" uri="{C3380CC4-5D6E-409C-BE32-E72D297353CC}">
              <c16:uniqueId val="{00000001-60E6-4D71-B7FD-72B872AC6235}"/>
            </c:ext>
          </c:extLst>
        </c:ser>
        <c:ser>
          <c:idx val="2"/>
          <c:order val="2"/>
          <c:tx>
            <c:strRef>
              <c:f>DATOS!$A$46</c:f>
              <c:strCache>
                <c:ptCount val="1"/>
                <c:pt idx="0">
                  <c:v>VI - Vivienda</c:v>
                </c:pt>
              </c:strCache>
            </c:strRef>
          </c:tx>
          <c:spPr>
            <a:ln w="12700" cap="rnd">
              <a:solidFill>
                <a:srgbClr val="00B05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DATOS!$BA$43:$BM$43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DATOS!$BA$46:$BM$46</c:f>
              <c:numCache>
                <c:formatCode>0.00%</c:formatCode>
                <c:ptCount val="13"/>
                <c:pt idx="0">
                  <c:v>0.11214914541188503</c:v>
                </c:pt>
                <c:pt idx="1">
                  <c:v>0.11215615292662795</c:v>
                </c:pt>
                <c:pt idx="2">
                  <c:v>0.11205943788430361</c:v>
                </c:pt>
                <c:pt idx="3">
                  <c:v>0.11140397309219852</c:v>
                </c:pt>
                <c:pt idx="4">
                  <c:v>0.11076808376759328</c:v>
                </c:pt>
                <c:pt idx="5">
                  <c:v>0.11052659602521819</c:v>
                </c:pt>
                <c:pt idx="6">
                  <c:v>0.110162733332408</c:v>
                </c:pt>
                <c:pt idx="7">
                  <c:v>0.10968583079197258</c:v>
                </c:pt>
                <c:pt idx="8">
                  <c:v>0.10789884411428363</c:v>
                </c:pt>
                <c:pt idx="9">
                  <c:v>0.10816934113272314</c:v>
                </c:pt>
                <c:pt idx="10">
                  <c:v>0.10819617412016291</c:v>
                </c:pt>
                <c:pt idx="11">
                  <c:v>0.10828969981716852</c:v>
                </c:pt>
                <c:pt idx="12">
                  <c:v>0.10869134064651242</c:v>
                </c:pt>
              </c:numCache>
            </c:numRef>
          </c:val>
          <c:smooth val="0"/>
          <c:extLst>
            <c:ext xmlns:c16="http://schemas.microsoft.com/office/drawing/2014/chart" uri="{C3380CC4-5D6E-409C-BE32-E72D297353CC}">
              <c16:uniqueId val="{00000002-60E6-4D71-B7FD-72B872AC6235}"/>
            </c:ext>
          </c:extLst>
        </c:ser>
        <c:ser>
          <c:idx val="3"/>
          <c:order val="3"/>
          <c:tx>
            <c:strRef>
              <c:f>DATOS!$A$47</c:f>
              <c:strCache>
                <c:ptCount val="1"/>
                <c:pt idx="0">
                  <c:v>Total general</c:v>
                </c:pt>
              </c:strCache>
            </c:strRef>
          </c:tx>
          <c:spPr>
            <a:ln w="12700"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DATOS!$BA$43:$BM$43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DATOS!$BA$47:$BM$47</c:f>
              <c:numCache>
                <c:formatCode>0.00%</c:formatCode>
                <c:ptCount val="13"/>
                <c:pt idx="0">
                  <c:v>0.19981099212890441</c:v>
                </c:pt>
                <c:pt idx="1">
                  <c:v>0.20188949009099888</c:v>
                </c:pt>
                <c:pt idx="2">
                  <c:v>0.20208582530161823</c:v>
                </c:pt>
                <c:pt idx="3">
                  <c:v>0.20181363307781175</c:v>
                </c:pt>
                <c:pt idx="4">
                  <c:v>0.20130168693105954</c:v>
                </c:pt>
                <c:pt idx="5">
                  <c:v>0.19946639006299183</c:v>
                </c:pt>
                <c:pt idx="6">
                  <c:v>0.19653490037893562</c:v>
                </c:pt>
                <c:pt idx="7">
                  <c:v>0.194308244084344</c:v>
                </c:pt>
                <c:pt idx="8">
                  <c:v>0.18467993274759142</c:v>
                </c:pt>
                <c:pt idx="9">
                  <c:v>0.18040796893308153</c:v>
                </c:pt>
                <c:pt idx="10">
                  <c:v>0.17927849336512813</c:v>
                </c:pt>
                <c:pt idx="11">
                  <c:v>0.18008887866737711</c:v>
                </c:pt>
                <c:pt idx="12">
                  <c:v>0.18040795413965616</c:v>
                </c:pt>
              </c:numCache>
            </c:numRef>
          </c:val>
          <c:smooth val="0"/>
          <c:extLst>
            <c:ext xmlns:c16="http://schemas.microsoft.com/office/drawing/2014/chart" uri="{C3380CC4-5D6E-409C-BE32-E72D297353CC}">
              <c16:uniqueId val="{00000003-60E6-4D71-B7FD-72B872AC6235}"/>
            </c:ext>
          </c:extLst>
        </c:ser>
        <c:dLbls>
          <c:dLblPos val="t"/>
          <c:showLegendKey val="0"/>
          <c:showVal val="1"/>
          <c:showCatName val="0"/>
          <c:showSerName val="0"/>
          <c:showPercent val="0"/>
          <c:showBubbleSize val="0"/>
        </c:dLbls>
        <c:smooth val="0"/>
        <c:axId val="1739026384"/>
        <c:axId val="1739369168"/>
      </c:lineChart>
      <c:dateAx>
        <c:axId val="1739026384"/>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39369168"/>
        <c:crosses val="autoZero"/>
        <c:auto val="1"/>
        <c:lblOffset val="100"/>
        <c:baseTimeUnit val="months"/>
      </c:dateAx>
      <c:valAx>
        <c:axId val="1739369168"/>
        <c:scaling>
          <c:orientation val="minMax"/>
        </c:scaling>
        <c:delete val="1"/>
        <c:axPos val="l"/>
        <c:numFmt formatCode="0%" sourceLinked="0"/>
        <c:majorTickMark val="none"/>
        <c:minorTickMark val="none"/>
        <c:tickLblPos val="nextTo"/>
        <c:crossAx val="1739026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269604572327769E-2"/>
          <c:y val="0.15910960024432122"/>
          <c:w val="0.93284529182335074"/>
          <c:h val="0.66105173367701786"/>
        </c:manualLayout>
      </c:layout>
      <c:lineChart>
        <c:grouping val="standard"/>
        <c:varyColors val="0"/>
        <c:ser>
          <c:idx val="0"/>
          <c:order val="0"/>
          <c:tx>
            <c:strRef>
              <c:f>DATOS!$A$105</c:f>
              <c:strCache>
                <c:ptCount val="1"/>
                <c:pt idx="0">
                  <c:v>TARJETA </c:v>
                </c:pt>
              </c:strCache>
            </c:strRef>
          </c:tx>
          <c:spPr>
            <a:ln w="12700" cap="rnd">
              <a:solidFill>
                <a:schemeClr val="accent1"/>
              </a:solidFill>
              <a:round/>
            </a:ln>
            <a:effectLst/>
          </c:spPr>
          <c:marker>
            <c:symbol val="circle"/>
            <c:size val="5"/>
            <c:spPr>
              <a:solidFill>
                <a:srgbClr val="00B0F0"/>
              </a:solidFill>
              <a:ln w="19050">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DATOS!$BA$104:$BM$104</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DATOS!$BA$105:$BM$105</c:f>
              <c:numCache>
                <c:formatCode>0.00%</c:formatCode>
                <c:ptCount val="13"/>
                <c:pt idx="0">
                  <c:v>0.26084986090057788</c:v>
                </c:pt>
                <c:pt idx="1">
                  <c:v>0.24585035498299798</c:v>
                </c:pt>
                <c:pt idx="2">
                  <c:v>0.24585035498299801</c:v>
                </c:pt>
                <c:pt idx="3">
                  <c:v>0.24585035498299798</c:v>
                </c:pt>
                <c:pt idx="4">
                  <c:v>0.24585035498299801</c:v>
                </c:pt>
                <c:pt idx="5">
                  <c:v>0.24585035498299798</c:v>
                </c:pt>
                <c:pt idx="6">
                  <c:v>0.24585035498299804</c:v>
                </c:pt>
                <c:pt idx="7">
                  <c:v>0.24920002723110213</c:v>
                </c:pt>
                <c:pt idx="8">
                  <c:v>0.24920000000000075</c:v>
                </c:pt>
                <c:pt idx="9">
                  <c:v>0.24754926799673482</c:v>
                </c:pt>
                <c:pt idx="10">
                  <c:v>0.24110028643694201</c:v>
                </c:pt>
                <c:pt idx="11">
                  <c:v>0.24890000000000054</c:v>
                </c:pt>
                <c:pt idx="12">
                  <c:v>0.24920000000000073</c:v>
                </c:pt>
              </c:numCache>
            </c:numRef>
          </c:val>
          <c:smooth val="0"/>
          <c:extLst>
            <c:ext xmlns:c16="http://schemas.microsoft.com/office/drawing/2014/chart" uri="{C3380CC4-5D6E-409C-BE32-E72D297353CC}">
              <c16:uniqueId val="{00000000-191C-4F1C-AE58-EB1A2FEF48FC}"/>
            </c:ext>
          </c:extLst>
        </c:ser>
        <c:ser>
          <c:idx val="1"/>
          <c:order val="1"/>
          <c:tx>
            <c:strRef>
              <c:f>DATOS!$A$106</c:f>
              <c:strCache>
                <c:ptCount val="1"/>
                <c:pt idx="0">
                  <c:v>CONSUMO</c:v>
                </c:pt>
              </c:strCache>
            </c:strRef>
          </c:tx>
          <c:spPr>
            <a:ln w="12700" cap="rnd">
              <a:solidFill>
                <a:schemeClr val="accent2"/>
              </a:solidFill>
              <a:round/>
            </a:ln>
            <a:effectLst/>
          </c:spPr>
          <c:marker>
            <c:symbol val="circle"/>
            <c:size val="5"/>
            <c:spPr>
              <a:solidFill>
                <a:schemeClr val="accent2"/>
              </a:solidFill>
              <a:ln w="19050">
                <a:solidFill>
                  <a:schemeClr val="accent2"/>
                </a:solidFill>
              </a:ln>
              <a:effectLst/>
            </c:spPr>
          </c:marker>
          <c:dLbls>
            <c:dLbl>
              <c:idx val="6"/>
              <c:layout>
                <c:manualLayout>
                  <c:x val="6.5304857595771884E-3"/>
                  <c:y val="-1.32621690709961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91C-4F1C-AE58-EB1A2FEF48F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DATOS!$BA$104:$BM$104</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DATOS!$BA$106:$BM$106</c:f>
              <c:numCache>
                <c:formatCode>0.00%</c:formatCode>
                <c:ptCount val="13"/>
                <c:pt idx="0">
                  <c:v>0.22318948515162393</c:v>
                </c:pt>
                <c:pt idx="1">
                  <c:v>0.22847376091139124</c:v>
                </c:pt>
                <c:pt idx="2">
                  <c:v>0.21278743387345689</c:v>
                </c:pt>
                <c:pt idx="3">
                  <c:v>0.19963035967834677</c:v>
                </c:pt>
                <c:pt idx="4">
                  <c:v>0.17949081569408146</c:v>
                </c:pt>
                <c:pt idx="5">
                  <c:v>0.18046094913440108</c:v>
                </c:pt>
                <c:pt idx="6">
                  <c:v>0.18946122529309278</c:v>
                </c:pt>
                <c:pt idx="7">
                  <c:v>0.18797321111848955</c:v>
                </c:pt>
                <c:pt idx="8">
                  <c:v>0.19334277742961867</c:v>
                </c:pt>
                <c:pt idx="9">
                  <c:v>0.18672092000376131</c:v>
                </c:pt>
                <c:pt idx="10">
                  <c:v>0.18815419060634569</c:v>
                </c:pt>
                <c:pt idx="11">
                  <c:v>0.19107019562022978</c:v>
                </c:pt>
                <c:pt idx="12">
                  <c:v>0.19377416748145165</c:v>
                </c:pt>
              </c:numCache>
            </c:numRef>
          </c:val>
          <c:smooth val="0"/>
          <c:extLst>
            <c:ext xmlns:c16="http://schemas.microsoft.com/office/drawing/2014/chart" uri="{C3380CC4-5D6E-409C-BE32-E72D297353CC}">
              <c16:uniqueId val="{00000002-191C-4F1C-AE58-EB1A2FEF48FC}"/>
            </c:ext>
          </c:extLst>
        </c:ser>
        <c:ser>
          <c:idx val="2"/>
          <c:order val="2"/>
          <c:tx>
            <c:strRef>
              <c:f>DATOS!$A$107</c:f>
              <c:strCache>
                <c:ptCount val="1"/>
                <c:pt idx="0">
                  <c:v>VIVIENDA</c:v>
                </c:pt>
              </c:strCache>
            </c:strRef>
          </c:tx>
          <c:spPr>
            <a:ln w="12700"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DATOS!$BA$104:$BM$104</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DATOS!$BA$107:$BM$107</c:f>
              <c:numCache>
                <c:formatCode>0.000%</c:formatCode>
                <c:ptCount val="13"/>
                <c:pt idx="0">
                  <c:v>0.11487927168459479</c:v>
                </c:pt>
                <c:pt idx="1">
                  <c:v>0.11382600078251603</c:v>
                </c:pt>
                <c:pt idx="2">
                  <c:v>0.10499950023286674</c:v>
                </c:pt>
                <c:pt idx="3">
                  <c:v>0.10029819089755332</c:v>
                </c:pt>
                <c:pt idx="4">
                  <c:v>8.6407157926658762E-2</c:v>
                </c:pt>
                <c:pt idx="5">
                  <c:v>0.10213174569226657</c:v>
                </c:pt>
                <c:pt idx="6">
                  <c:v>9.6315626872646387E-2</c:v>
                </c:pt>
                <c:pt idx="7">
                  <c:v>9.6401909043288381E-2</c:v>
                </c:pt>
                <c:pt idx="8">
                  <c:v>0.10998407502145802</c:v>
                </c:pt>
                <c:pt idx="9">
                  <c:v>0.11686988661326959</c:v>
                </c:pt>
                <c:pt idx="10">
                  <c:v>0.11002556308228995</c:v>
                </c:pt>
                <c:pt idx="11">
                  <c:v>0.11185051889869357</c:v>
                </c:pt>
                <c:pt idx="12">
                  <c:v>0.11134195157961568</c:v>
                </c:pt>
              </c:numCache>
            </c:numRef>
          </c:val>
          <c:smooth val="0"/>
          <c:extLst>
            <c:ext xmlns:c16="http://schemas.microsoft.com/office/drawing/2014/chart" uri="{C3380CC4-5D6E-409C-BE32-E72D297353CC}">
              <c16:uniqueId val="{00000003-191C-4F1C-AE58-EB1A2FEF48FC}"/>
            </c:ext>
          </c:extLst>
        </c:ser>
        <c:ser>
          <c:idx val="3"/>
          <c:order val="3"/>
          <c:tx>
            <c:strRef>
              <c:f>DATOS!$A$108</c:f>
              <c:strCache>
                <c:ptCount val="1"/>
                <c:pt idx="0">
                  <c:v>TPP</c:v>
                </c:pt>
              </c:strCache>
            </c:strRef>
          </c:tx>
          <c:spPr>
            <a:ln w="12700" cap="rnd">
              <a:solidFill>
                <a:schemeClr val="accent4"/>
              </a:solidFill>
              <a:round/>
            </a:ln>
            <a:effectLst/>
          </c:spPr>
          <c:marker>
            <c:symbol val="circle"/>
            <c:size val="5"/>
            <c:spPr>
              <a:solidFill>
                <a:schemeClr val="accent4"/>
              </a:solidFill>
              <a:ln w="9525">
                <a:solidFill>
                  <a:schemeClr val="accent4"/>
                </a:solidFill>
              </a:ln>
              <a:effectLst/>
            </c:spPr>
          </c:marker>
          <c:dLbls>
            <c:dLbl>
              <c:idx val="6"/>
              <c:layout>
                <c:manualLayout>
                  <c:x val="4.3680732564059339E-3"/>
                  <c:y val="3.59488293742828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1C-4F1C-AE58-EB1A2FEF48F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DATOS!$BA$104:$BM$104</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DATOS!$BA$108:$BM$108</c:f>
              <c:numCache>
                <c:formatCode>0.00%</c:formatCode>
                <c:ptCount val="13"/>
                <c:pt idx="0">
                  <c:v>0.22528319485153001</c:v>
                </c:pt>
                <c:pt idx="1">
                  <c:v>0.22845300456447631</c:v>
                </c:pt>
                <c:pt idx="2">
                  <c:v>0.21439299423957242</c:v>
                </c:pt>
                <c:pt idx="3">
                  <c:v>0.19997411006340163</c:v>
                </c:pt>
                <c:pt idx="4">
                  <c:v>0.19106178761842962</c:v>
                </c:pt>
                <c:pt idx="5">
                  <c:v>0.19973454052676129</c:v>
                </c:pt>
                <c:pt idx="6">
                  <c:v>0.18008193577725151</c:v>
                </c:pt>
                <c:pt idx="7">
                  <c:v>0.18526990947631386</c:v>
                </c:pt>
                <c:pt idx="8">
                  <c:v>0.20215394406735304</c:v>
                </c:pt>
                <c:pt idx="9">
                  <c:v>0.20352906075091023</c:v>
                </c:pt>
                <c:pt idx="10">
                  <c:v>0.20665690983928636</c:v>
                </c:pt>
                <c:pt idx="11">
                  <c:v>0.20143974642601706</c:v>
                </c:pt>
                <c:pt idx="12">
                  <c:v>0.19729332508670169</c:v>
                </c:pt>
              </c:numCache>
            </c:numRef>
          </c:val>
          <c:smooth val="0"/>
          <c:extLst>
            <c:ext xmlns:c16="http://schemas.microsoft.com/office/drawing/2014/chart" uri="{C3380CC4-5D6E-409C-BE32-E72D297353CC}">
              <c16:uniqueId val="{00000005-191C-4F1C-AE58-EB1A2FEF48FC}"/>
            </c:ext>
          </c:extLst>
        </c:ser>
        <c:dLbls>
          <c:dLblPos val="t"/>
          <c:showLegendKey val="0"/>
          <c:showVal val="1"/>
          <c:showCatName val="0"/>
          <c:showSerName val="0"/>
          <c:showPercent val="0"/>
          <c:showBubbleSize val="0"/>
        </c:dLbls>
        <c:marker val="1"/>
        <c:smooth val="0"/>
        <c:axId val="541299696"/>
        <c:axId val="430932944"/>
      </c:lineChart>
      <c:dateAx>
        <c:axId val="54129969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430932944"/>
        <c:crosses val="autoZero"/>
        <c:auto val="1"/>
        <c:lblOffset val="100"/>
        <c:baseTimeUnit val="months"/>
      </c:dateAx>
      <c:valAx>
        <c:axId val="430932944"/>
        <c:scaling>
          <c:orientation val="minMax"/>
        </c:scaling>
        <c:delete val="1"/>
        <c:axPos val="l"/>
        <c:numFmt formatCode="0%" sourceLinked="0"/>
        <c:majorTickMark val="none"/>
        <c:minorTickMark val="none"/>
        <c:tickLblPos val="nextTo"/>
        <c:crossAx val="541299696"/>
        <c:crosses val="autoZero"/>
        <c:crossBetween val="between"/>
      </c:valAx>
      <c:spPr>
        <a:noFill/>
        <a:ln w="25400">
          <a:noFill/>
        </a:ln>
        <a:effectLst/>
      </c:spPr>
    </c:plotArea>
    <c:legend>
      <c:legendPos val="b"/>
      <c:layout>
        <c:manualLayout>
          <c:xMode val="edge"/>
          <c:yMode val="edge"/>
          <c:x val="0.33342068514110795"/>
          <c:y val="0.93443807494862918"/>
          <c:w val="0.33315862971778409"/>
          <c:h val="6.556192505137081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bg1"/>
      </a:solidFill>
      <a:round/>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12068679772046E-2"/>
          <c:y val="6.950282350176204E-2"/>
          <c:w val="0.93491025872958489"/>
          <c:h val="0.74537055414940201"/>
        </c:manualLayout>
      </c:layout>
      <c:lineChart>
        <c:grouping val="standard"/>
        <c:varyColors val="0"/>
        <c:ser>
          <c:idx val="0"/>
          <c:order val="0"/>
          <c:tx>
            <c:strRef>
              <c:f>DATOS!$A$64</c:f>
              <c:strCache>
                <c:ptCount val="1"/>
                <c:pt idx="0">
                  <c:v>TARJETA</c:v>
                </c:pt>
              </c:strCache>
            </c:strRef>
          </c:tx>
          <c:spPr>
            <a:ln w="12700" cap="rnd">
              <a:solidFill>
                <a:schemeClr val="accent1"/>
              </a:solidFill>
              <a:round/>
            </a:ln>
            <a:effectLst/>
          </c:spPr>
          <c:marker>
            <c:symbol val="circle"/>
            <c:size val="5"/>
            <c:spPr>
              <a:solidFill>
                <a:srgbClr val="00B0F0"/>
              </a:solidFill>
              <a:ln w="19050">
                <a:solidFill>
                  <a:srgbClr val="00B0F0"/>
                </a:solidFill>
              </a:ln>
              <a:effectLst/>
            </c:spPr>
          </c:marker>
          <c:dLbls>
            <c:dLbl>
              <c:idx val="0"/>
              <c:layout>
                <c:manualLayout>
                  <c:x val="-2.1507587580481834E-2"/>
                  <c:y val="4.71805013733336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403-41E8-9639-369AEE553D36}"/>
                </c:ext>
              </c:extLst>
            </c:dLbl>
            <c:dLbl>
              <c:idx val="3"/>
              <c:layout>
                <c:manualLayout>
                  <c:x val="-2.1507587580481914E-2"/>
                  <c:y val="3.89805305574817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03-41E8-9639-369AEE553D36}"/>
                </c:ext>
              </c:extLst>
            </c:dLbl>
            <c:dLbl>
              <c:idx val="6"/>
              <c:layout>
                <c:manualLayout>
                  <c:x val="4.5995199070655215E-3"/>
                  <c:y val="-3.04109367514517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403-41E8-9639-369AEE553D36}"/>
                </c:ext>
              </c:extLst>
            </c:dLbl>
            <c:dLbl>
              <c:idx val="7"/>
              <c:layout>
                <c:manualLayout>
                  <c:x val="-3.0158123949025964E-3"/>
                  <c:y val="3.0780559741629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03-41E8-9639-369AEE553D36}"/>
                </c:ext>
              </c:extLst>
            </c:dLbl>
            <c:dLbl>
              <c:idx val="8"/>
              <c:layout>
                <c:manualLayout>
                  <c:x val="-1.8244333135967822E-2"/>
                  <c:y val="4.71805013733336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403-41E8-9639-369AEE553D36}"/>
                </c:ext>
              </c:extLst>
            </c:dLbl>
            <c:dLbl>
              <c:idx val="9"/>
              <c:layout>
                <c:manualLayout>
                  <c:x val="-5.1913153579117776E-3"/>
                  <c:y val="6.1806472940741219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03-41E8-9639-369AEE553D3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DATOS!$BA$63:$BM$63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DATOS!$BA$64:$BM$64</c:f>
              <c:numCache>
                <c:formatCode>_(* #,##0_);_(* \(#,##0\);_(* "-"_);_(@_)</c:formatCode>
                <c:ptCount val="13"/>
                <c:pt idx="0">
                  <c:v>5283.4234529999994</c:v>
                </c:pt>
                <c:pt idx="1">
                  <c:v>13699.863357</c:v>
                </c:pt>
                <c:pt idx="2">
                  <c:v>9189.1630830000013</c:v>
                </c:pt>
                <c:pt idx="3">
                  <c:v>7112.0806430000002</c:v>
                </c:pt>
                <c:pt idx="4">
                  <c:v>6254.4456620000001</c:v>
                </c:pt>
                <c:pt idx="5">
                  <c:v>8622.7807969999994</c:v>
                </c:pt>
                <c:pt idx="6">
                  <c:v>4258.2007880000001</c:v>
                </c:pt>
                <c:pt idx="7">
                  <c:v>5446.9002550000005</c:v>
                </c:pt>
                <c:pt idx="8">
                  <c:v>5249.9302539999999</c:v>
                </c:pt>
                <c:pt idx="9">
                  <c:v>5937.1941639999995</c:v>
                </c:pt>
                <c:pt idx="10">
                  <c:v>5478.9335880000008</c:v>
                </c:pt>
                <c:pt idx="11">
                  <c:v>5127.5674750000007</c:v>
                </c:pt>
                <c:pt idx="12">
                  <c:v>5382.580457</c:v>
                </c:pt>
              </c:numCache>
            </c:numRef>
          </c:val>
          <c:smooth val="0"/>
          <c:extLst>
            <c:ext xmlns:c16="http://schemas.microsoft.com/office/drawing/2014/chart" uri="{C3380CC4-5D6E-409C-BE32-E72D297353CC}">
              <c16:uniqueId val="{00000006-7403-41E8-9639-369AEE553D36}"/>
            </c:ext>
          </c:extLst>
        </c:ser>
        <c:ser>
          <c:idx val="1"/>
          <c:order val="1"/>
          <c:tx>
            <c:strRef>
              <c:f>DATOS!$A$65</c:f>
              <c:strCache>
                <c:ptCount val="1"/>
                <c:pt idx="0">
                  <c:v>CONSUMO</c:v>
                </c:pt>
              </c:strCache>
            </c:strRef>
          </c:tx>
          <c:spPr>
            <a:ln w="12700" cap="rnd">
              <a:solidFill>
                <a:schemeClr val="accent2"/>
              </a:solidFill>
              <a:round/>
            </a:ln>
            <a:effectLst/>
          </c:spPr>
          <c:marker>
            <c:symbol val="circle"/>
            <c:size val="5"/>
            <c:spPr>
              <a:solidFill>
                <a:schemeClr val="accent2"/>
              </a:solidFill>
              <a:ln w="19050">
                <a:solidFill>
                  <a:schemeClr val="accent2"/>
                </a:solidFill>
              </a:ln>
              <a:effectLst/>
            </c:spPr>
          </c:marker>
          <c:dLbls>
            <c:dLbl>
              <c:idx val="0"/>
              <c:layout>
                <c:manualLayout>
                  <c:x val="-2.2595339061986502E-2"/>
                  <c:y val="-4.71805013733336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03-41E8-9639-369AEE553D36}"/>
                </c:ext>
              </c:extLst>
            </c:dLbl>
            <c:dLbl>
              <c:idx val="3"/>
              <c:layout>
                <c:manualLayout>
                  <c:x val="-2.4770842024995923E-2"/>
                  <c:y val="-5.948045759711154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403-41E8-9639-369AEE553D36}"/>
                </c:ext>
              </c:extLst>
            </c:dLbl>
            <c:dLbl>
              <c:idx val="6"/>
              <c:layout>
                <c:manualLayout>
                  <c:x val="2.4749973014048115E-4"/>
                  <c:y val="-4.26481788113863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403-41E8-9639-369AEE553D36}"/>
                </c:ext>
              </c:extLst>
            </c:dLbl>
            <c:dLbl>
              <c:idx val="7"/>
              <c:layout>
                <c:manualLayout>
                  <c:x val="-2.2595339061986661E-2"/>
                  <c:y val="-5.12804867812597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403-41E8-9639-369AEE553D36}"/>
                </c:ext>
              </c:extLst>
            </c:dLbl>
            <c:dLbl>
              <c:idx val="8"/>
              <c:layout>
                <c:manualLayout>
                  <c:x val="-2.2595339061986661E-2"/>
                  <c:y val="-6.35804430050375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403-41E8-9639-369AEE553D36}"/>
                </c:ext>
              </c:extLst>
            </c:dLbl>
            <c:dLbl>
              <c:idx val="9"/>
              <c:layout>
                <c:manualLayout>
                  <c:x val="-9.542321283930618E-3"/>
                  <c:y val="-4.30805159654077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403-41E8-9639-369AEE553D36}"/>
                </c:ext>
              </c:extLst>
            </c:dLbl>
            <c:dLbl>
              <c:idx val="10"/>
              <c:layout>
                <c:manualLayout>
                  <c:x val="-2.2633031963363314E-2"/>
                  <c:y val="-6.05651600181683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403-41E8-9639-369AEE553D3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DATOS!$BA$63:$BM$63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DATOS!$BA$65:$BM$65</c:f>
              <c:numCache>
                <c:formatCode>_(* #,##0_);_(* \(#,##0\);_(* "-"_);_(@_)</c:formatCode>
                <c:ptCount val="13"/>
                <c:pt idx="0">
                  <c:v>7319.1159990000006</c:v>
                </c:pt>
                <c:pt idx="1">
                  <c:v>6540.0850699999992</c:v>
                </c:pt>
                <c:pt idx="2">
                  <c:v>8668.1454570000005</c:v>
                </c:pt>
                <c:pt idx="3">
                  <c:v>9835.5095459999975</c:v>
                </c:pt>
                <c:pt idx="4">
                  <c:v>7121.5125039999994</c:v>
                </c:pt>
                <c:pt idx="5">
                  <c:v>7723.8423159999993</c:v>
                </c:pt>
                <c:pt idx="6">
                  <c:v>5344.4048270000003</c:v>
                </c:pt>
                <c:pt idx="7">
                  <c:v>6872.0698389999998</c:v>
                </c:pt>
                <c:pt idx="8">
                  <c:v>5683.1722600000003</c:v>
                </c:pt>
                <c:pt idx="9">
                  <c:v>7440.3931530000009</c:v>
                </c:pt>
                <c:pt idx="10">
                  <c:v>7311.977543</c:v>
                </c:pt>
                <c:pt idx="11">
                  <c:v>5441.1547659999997</c:v>
                </c:pt>
                <c:pt idx="12">
                  <c:v>4789.9581610000005</c:v>
                </c:pt>
              </c:numCache>
            </c:numRef>
          </c:val>
          <c:smooth val="0"/>
          <c:extLst>
            <c:ext xmlns:c16="http://schemas.microsoft.com/office/drawing/2014/chart" uri="{C3380CC4-5D6E-409C-BE32-E72D297353CC}">
              <c16:uniqueId val="{0000000E-7403-41E8-9639-369AEE553D36}"/>
            </c:ext>
          </c:extLst>
        </c:ser>
        <c:ser>
          <c:idx val="2"/>
          <c:order val="2"/>
          <c:tx>
            <c:strRef>
              <c:f>DATOS!$A$66</c:f>
              <c:strCache>
                <c:ptCount val="1"/>
                <c:pt idx="0">
                  <c:v>VIVIENDA</c:v>
                </c:pt>
              </c:strCache>
            </c:strRef>
          </c:tx>
          <c:spPr>
            <a:ln w="12700" cap="rnd">
              <a:solidFill>
                <a:schemeClr val="accent3"/>
              </a:solidFill>
              <a:round/>
            </a:ln>
            <a:effectLst/>
          </c:spPr>
          <c:marker>
            <c:symbol val="circle"/>
            <c:size val="5"/>
            <c:spPr>
              <a:solidFill>
                <a:schemeClr val="accent3"/>
              </a:solidFill>
              <a:ln w="9525">
                <a:solidFill>
                  <a:schemeClr val="accent3"/>
                </a:solidFill>
              </a:ln>
              <a:effectLst/>
            </c:spPr>
          </c:marker>
          <c:dLbls>
            <c:dLbl>
              <c:idx val="0"/>
              <c:layout>
                <c:manualLayout>
                  <c:x val="-2.1507587580481834E-2"/>
                  <c:y val="2.661923596933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403-41E8-9639-369AEE553D36}"/>
                </c:ext>
              </c:extLst>
            </c:dLbl>
            <c:dLbl>
              <c:idx val="6"/>
              <c:layout>
                <c:manualLayout>
                  <c:x val="2.4749973014048115E-4"/>
                  <c:y val="2.22932572444696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403-41E8-9639-369AEE553D36}"/>
                </c:ext>
              </c:extLst>
            </c:dLbl>
            <c:dLbl>
              <c:idx val="9"/>
              <c:layout>
                <c:manualLayout>
                  <c:x val="-3.0158123949025964E-3"/>
                  <c:y val="-2.0806618861482478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403-41E8-9639-369AEE553D3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DATOS!$BA$63:$BM$63</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DATOS!$BA$66:$BM$66</c:f>
              <c:numCache>
                <c:formatCode>_(* #,##0_);_(* \(#,##0\);_(* "-"_);_(@_)</c:formatCode>
                <c:ptCount val="13"/>
                <c:pt idx="0">
                  <c:v>1563.2565260000001</c:v>
                </c:pt>
                <c:pt idx="1">
                  <c:v>2080.4615309999999</c:v>
                </c:pt>
                <c:pt idx="2">
                  <c:v>2515.2280740000001</c:v>
                </c:pt>
                <c:pt idx="3">
                  <c:v>3239.4443509999996</c:v>
                </c:pt>
                <c:pt idx="4">
                  <c:v>2486.935332</c:v>
                </c:pt>
                <c:pt idx="5">
                  <c:v>2548.9062990000002</c:v>
                </c:pt>
                <c:pt idx="6">
                  <c:v>3941.7023260000001</c:v>
                </c:pt>
                <c:pt idx="7">
                  <c:v>4127.4502700000003</c:v>
                </c:pt>
                <c:pt idx="8">
                  <c:v>2136.4154750000002</c:v>
                </c:pt>
                <c:pt idx="9">
                  <c:v>1572.797613</c:v>
                </c:pt>
                <c:pt idx="10">
                  <c:v>552.838258</c:v>
                </c:pt>
                <c:pt idx="11">
                  <c:v>2086.5602589999999</c:v>
                </c:pt>
                <c:pt idx="12">
                  <c:v>3054.4623730000003</c:v>
                </c:pt>
              </c:numCache>
            </c:numRef>
          </c:val>
          <c:smooth val="0"/>
          <c:extLst>
            <c:ext xmlns:c16="http://schemas.microsoft.com/office/drawing/2014/chart" uri="{C3380CC4-5D6E-409C-BE32-E72D297353CC}">
              <c16:uniqueId val="{00000012-7403-41E8-9639-369AEE553D36}"/>
            </c:ext>
          </c:extLst>
        </c:ser>
        <c:dLbls>
          <c:dLblPos val="b"/>
          <c:showLegendKey val="0"/>
          <c:showVal val="1"/>
          <c:showCatName val="0"/>
          <c:showSerName val="0"/>
          <c:showPercent val="0"/>
          <c:showBubbleSize val="0"/>
        </c:dLbls>
        <c:marker val="1"/>
        <c:smooth val="0"/>
        <c:axId val="541299696"/>
        <c:axId val="430932944"/>
      </c:lineChart>
      <c:dateAx>
        <c:axId val="54129969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430932944"/>
        <c:crosses val="autoZero"/>
        <c:auto val="1"/>
        <c:lblOffset val="100"/>
        <c:baseTimeUnit val="months"/>
      </c:dateAx>
      <c:valAx>
        <c:axId val="430932944"/>
        <c:scaling>
          <c:orientation val="minMax"/>
          <c:max val="20000"/>
        </c:scaling>
        <c:delete val="1"/>
        <c:axPos val="l"/>
        <c:numFmt formatCode="_(* #,##0_);_(* \(#,##0\);_(* &quot;-&quot;_);_(@_)" sourceLinked="1"/>
        <c:majorTickMark val="none"/>
        <c:minorTickMark val="none"/>
        <c:tickLblPos val="nextTo"/>
        <c:crossAx val="541299696"/>
        <c:crosses val="autoZero"/>
        <c:crossBetween val="between"/>
        <c:majorUnit val="2000"/>
      </c:valAx>
      <c:spPr>
        <a:noFill/>
        <a:ln>
          <a:noFill/>
        </a:ln>
        <a:effectLst/>
      </c:spPr>
    </c:plotArea>
    <c:legend>
      <c:legendPos val="b"/>
      <c:layout>
        <c:manualLayout>
          <c:xMode val="edge"/>
          <c:yMode val="edge"/>
          <c:x val="0.37282325515065184"/>
          <c:y val="0.92943500657696532"/>
          <c:w val="0.25435348969869637"/>
          <c:h val="7.056499342303468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435917346611767E-2"/>
          <c:y val="6.5500498358074186E-2"/>
          <c:w val="0.93811485726501898"/>
          <c:h val="0.7800981869216379"/>
        </c:manualLayout>
      </c:layout>
      <c:lineChart>
        <c:grouping val="standard"/>
        <c:varyColors val="0"/>
        <c:ser>
          <c:idx val="0"/>
          <c:order val="0"/>
          <c:tx>
            <c:strRef>
              <c:f>DATOS!$A$18</c:f>
              <c:strCache>
                <c:ptCount val="1"/>
                <c:pt idx="0">
                  <c:v>CO - Consumo</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DATOS!$BA$17:$BM$17</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DATOS!$BA$18:$BM$18</c:f>
              <c:numCache>
                <c:formatCode>_-* #,##0_-;\-* #,##0_-;_-* "-"??_-;_-@_-</c:formatCode>
                <c:ptCount val="13"/>
                <c:pt idx="0">
                  <c:v>189569.16443100001</c:v>
                </c:pt>
                <c:pt idx="1">
                  <c:v>189702.21033500001</c:v>
                </c:pt>
                <c:pt idx="2">
                  <c:v>191241.64048999999</c:v>
                </c:pt>
                <c:pt idx="3">
                  <c:v>192311.300552</c:v>
                </c:pt>
                <c:pt idx="4">
                  <c:v>191636.438689</c:v>
                </c:pt>
                <c:pt idx="5">
                  <c:v>194648.27966</c:v>
                </c:pt>
                <c:pt idx="6">
                  <c:v>196456.15143999999</c:v>
                </c:pt>
                <c:pt idx="7">
                  <c:v>197152.9878</c:v>
                </c:pt>
                <c:pt idx="8">
                  <c:v>196138.77372299999</c:v>
                </c:pt>
                <c:pt idx="9">
                  <c:v>203953.11782799999</c:v>
                </c:pt>
                <c:pt idx="10">
                  <c:v>200214.12185200001</c:v>
                </c:pt>
                <c:pt idx="11">
                  <c:v>197648.65289100001</c:v>
                </c:pt>
                <c:pt idx="12">
                  <c:v>194798.42125399999</c:v>
                </c:pt>
              </c:numCache>
            </c:numRef>
          </c:val>
          <c:smooth val="0"/>
          <c:extLst>
            <c:ext xmlns:c16="http://schemas.microsoft.com/office/drawing/2014/chart" uri="{C3380CC4-5D6E-409C-BE32-E72D297353CC}">
              <c16:uniqueId val="{00000000-2533-4560-B7D0-838AD6B553FB}"/>
            </c:ext>
          </c:extLst>
        </c:ser>
        <c:ser>
          <c:idx val="1"/>
          <c:order val="1"/>
          <c:tx>
            <c:strRef>
              <c:f>DATOS!$A$19</c:f>
              <c:strCache>
                <c:ptCount val="1"/>
                <c:pt idx="0">
                  <c:v>TP- Rotativos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DATOS!$BA$17:$BM$17</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DATOS!$BA$19:$BM$19</c:f>
              <c:numCache>
                <c:formatCode>_-* #,##0_-;\-* #,##0_-;_-* "-"??_-;_-@_-</c:formatCode>
                <c:ptCount val="13"/>
                <c:pt idx="0">
                  <c:v>88516.290403000006</c:v>
                </c:pt>
                <c:pt idx="1">
                  <c:v>95634.061363999994</c:v>
                </c:pt>
                <c:pt idx="2">
                  <c:v>98525.122174999997</c:v>
                </c:pt>
                <c:pt idx="3">
                  <c:v>98330.610625000001</c:v>
                </c:pt>
                <c:pt idx="4">
                  <c:v>98552.628295999995</c:v>
                </c:pt>
                <c:pt idx="5">
                  <c:v>100246.240978</c:v>
                </c:pt>
                <c:pt idx="6">
                  <c:v>98015.009223999994</c:v>
                </c:pt>
                <c:pt idx="7">
                  <c:v>96714.958406000005</c:v>
                </c:pt>
                <c:pt idx="8">
                  <c:v>96053.413931999996</c:v>
                </c:pt>
                <c:pt idx="9">
                  <c:v>95524.448399999994</c:v>
                </c:pt>
                <c:pt idx="10">
                  <c:v>94670.731799000001</c:v>
                </c:pt>
                <c:pt idx="11">
                  <c:v>93873.042705999993</c:v>
                </c:pt>
                <c:pt idx="12">
                  <c:v>91825.585867999995</c:v>
                </c:pt>
              </c:numCache>
            </c:numRef>
          </c:val>
          <c:smooth val="0"/>
          <c:extLst>
            <c:ext xmlns:c16="http://schemas.microsoft.com/office/drawing/2014/chart" uri="{C3380CC4-5D6E-409C-BE32-E72D297353CC}">
              <c16:uniqueId val="{00000001-2533-4560-B7D0-838AD6B553FB}"/>
            </c:ext>
          </c:extLst>
        </c:ser>
        <c:ser>
          <c:idx val="2"/>
          <c:order val="2"/>
          <c:tx>
            <c:strRef>
              <c:f>DATOS!$A$20</c:f>
              <c:strCache>
                <c:ptCount val="1"/>
                <c:pt idx="0">
                  <c:v>VI - Vivienda</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DATOS!$BA$17:$BM$17</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DATOS!$BA$20:$BM$20</c:f>
              <c:numCache>
                <c:formatCode>_-* #,##0_-;\-* #,##0_-;_-* "-"??_-;_-@_-</c:formatCode>
                <c:ptCount val="13"/>
                <c:pt idx="0">
                  <c:v>93673.929090000005</c:v>
                </c:pt>
                <c:pt idx="1">
                  <c:v>94328.086118000007</c:v>
                </c:pt>
                <c:pt idx="2">
                  <c:v>95680.756156999996</c:v>
                </c:pt>
                <c:pt idx="3">
                  <c:v>97434.096512999997</c:v>
                </c:pt>
                <c:pt idx="4">
                  <c:v>98792.381187999999</c:v>
                </c:pt>
                <c:pt idx="5">
                  <c:v>99420.408951000005</c:v>
                </c:pt>
                <c:pt idx="6">
                  <c:v>101268.624088</c:v>
                </c:pt>
                <c:pt idx="7">
                  <c:v>104093.645871</c:v>
                </c:pt>
                <c:pt idx="8">
                  <c:v>104160.22784599999</c:v>
                </c:pt>
                <c:pt idx="9">
                  <c:v>104850.557214</c:v>
                </c:pt>
                <c:pt idx="10">
                  <c:v>104381.659186</c:v>
                </c:pt>
                <c:pt idx="11">
                  <c:v>105529.623288</c:v>
                </c:pt>
                <c:pt idx="12">
                  <c:v>106128.56307</c:v>
                </c:pt>
              </c:numCache>
            </c:numRef>
          </c:val>
          <c:smooth val="0"/>
          <c:extLst>
            <c:ext xmlns:c16="http://schemas.microsoft.com/office/drawing/2014/chart" uri="{C3380CC4-5D6E-409C-BE32-E72D297353CC}">
              <c16:uniqueId val="{00000002-2533-4560-B7D0-838AD6B553FB}"/>
            </c:ext>
          </c:extLst>
        </c:ser>
        <c:ser>
          <c:idx val="3"/>
          <c:order val="3"/>
          <c:tx>
            <c:strRef>
              <c:f>DATOS!$A$21</c:f>
              <c:strCache>
                <c:ptCount val="1"/>
                <c:pt idx="0">
                  <c:v>Total general</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DATOS!$BA$17:$BM$17</c:f>
              <c:numCache>
                <c:formatCode>mmm\-yy</c:formatCode>
                <c:ptCount val="13"/>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numCache>
            </c:numRef>
          </c:cat>
          <c:val>
            <c:numRef>
              <c:f>DATOS!$BA$21:$BM$21</c:f>
              <c:numCache>
                <c:formatCode>_-* #,##0_-;\-* #,##0_-;_-* "-"??_-;_-@_-</c:formatCode>
                <c:ptCount val="13"/>
                <c:pt idx="0">
                  <c:v>371759.38392400002</c:v>
                </c:pt>
                <c:pt idx="1">
                  <c:v>379664.35781700001</c:v>
                </c:pt>
                <c:pt idx="2">
                  <c:v>385447.51882200001</c:v>
                </c:pt>
                <c:pt idx="3">
                  <c:v>388076.00769</c:v>
                </c:pt>
                <c:pt idx="4">
                  <c:v>388981.44817300001</c:v>
                </c:pt>
                <c:pt idx="5">
                  <c:v>394314.92958900001</c:v>
                </c:pt>
                <c:pt idx="6">
                  <c:v>395739.78475199995</c:v>
                </c:pt>
                <c:pt idx="7">
                  <c:v>397961.59207700001</c:v>
                </c:pt>
                <c:pt idx="8">
                  <c:v>396352.41550100001</c:v>
                </c:pt>
                <c:pt idx="9">
                  <c:v>404328.12344200001</c:v>
                </c:pt>
                <c:pt idx="10">
                  <c:v>399266.51283700002</c:v>
                </c:pt>
                <c:pt idx="11">
                  <c:v>397051.31888500002</c:v>
                </c:pt>
                <c:pt idx="12">
                  <c:v>392752.57019200001</c:v>
                </c:pt>
              </c:numCache>
            </c:numRef>
          </c:val>
          <c:smooth val="0"/>
          <c:extLst>
            <c:ext xmlns:c16="http://schemas.microsoft.com/office/drawing/2014/chart" uri="{C3380CC4-5D6E-409C-BE32-E72D297353CC}">
              <c16:uniqueId val="{00000003-2533-4560-B7D0-838AD6B553FB}"/>
            </c:ext>
          </c:extLst>
        </c:ser>
        <c:dLbls>
          <c:dLblPos val="t"/>
          <c:showLegendKey val="0"/>
          <c:showVal val="1"/>
          <c:showCatName val="0"/>
          <c:showSerName val="0"/>
          <c:showPercent val="0"/>
          <c:showBubbleSize val="0"/>
        </c:dLbls>
        <c:marker val="1"/>
        <c:smooth val="0"/>
        <c:axId val="1739026384"/>
        <c:axId val="1739369168"/>
      </c:lineChart>
      <c:dateAx>
        <c:axId val="1739026384"/>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39369168"/>
        <c:crosses val="autoZero"/>
        <c:auto val="1"/>
        <c:lblOffset val="100"/>
        <c:baseTimeUnit val="months"/>
      </c:dateAx>
      <c:valAx>
        <c:axId val="1739369168"/>
        <c:scaling>
          <c:orientation val="minMax"/>
        </c:scaling>
        <c:delete val="1"/>
        <c:axPos val="l"/>
        <c:numFmt formatCode="#,##0" sourceLinked="0"/>
        <c:majorTickMark val="none"/>
        <c:minorTickMark val="none"/>
        <c:tickLblPos val="nextTo"/>
        <c:crossAx val="1739026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1 SMMLV</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Consumo!$B$2:$B$7</c:f>
              <c:strCache>
                <c:ptCount val="6"/>
                <c:pt idx="0">
                  <c:v>25 entidades</c:v>
                </c:pt>
                <c:pt idx="1">
                  <c:v>Bancolombia</c:v>
                </c:pt>
                <c:pt idx="2">
                  <c:v>Davivienda</c:v>
                </c:pt>
                <c:pt idx="3">
                  <c:v>Banco Bogota</c:v>
                </c:pt>
                <c:pt idx="4">
                  <c:v>Tuya</c:v>
                </c:pt>
                <c:pt idx="5">
                  <c:v>PRESENTE</c:v>
                </c:pt>
              </c:strCache>
            </c:strRef>
          </c:cat>
          <c:val>
            <c:numRef>
              <c:f>Consumo!$C$2:$C$7</c:f>
              <c:numCache>
                <c:formatCode>_-* #,##0_-;\-* #,##0_-;_-* "-"??_-;_-@_-</c:formatCode>
                <c:ptCount val="6"/>
                <c:pt idx="0">
                  <c:v>80130</c:v>
                </c:pt>
                <c:pt idx="1">
                  <c:v>39066</c:v>
                </c:pt>
                <c:pt idx="2">
                  <c:v>16808</c:v>
                </c:pt>
                <c:pt idx="3">
                  <c:v>3458</c:v>
                </c:pt>
                <c:pt idx="4">
                  <c:v>11587</c:v>
                </c:pt>
                <c:pt idx="5">
                  <c:v>309</c:v>
                </c:pt>
              </c:numCache>
            </c:numRef>
          </c:val>
          <c:extLst>
            <c:ext xmlns:c16="http://schemas.microsoft.com/office/drawing/2014/chart" uri="{C3380CC4-5D6E-409C-BE32-E72D297353CC}">
              <c16:uniqueId val="{00000000-9992-4C81-ACE8-0F4554C6854A}"/>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Consumo!$B$2:$B$7</c:f>
              <c:strCache>
                <c:ptCount val="6"/>
                <c:pt idx="0">
                  <c:v>25 entidades</c:v>
                </c:pt>
                <c:pt idx="1">
                  <c:v>Bancolombia</c:v>
                </c:pt>
                <c:pt idx="2">
                  <c:v>Davivienda</c:v>
                </c:pt>
                <c:pt idx="3">
                  <c:v>Banco Bogota</c:v>
                </c:pt>
                <c:pt idx="4">
                  <c:v>Tuya</c:v>
                </c:pt>
                <c:pt idx="5">
                  <c:v>PRESENTE</c:v>
                </c:pt>
              </c:strCache>
            </c:strRef>
          </c:cat>
          <c:val>
            <c:numRef>
              <c:f>Consumo!$D$2:$D$7</c:f>
              <c:numCache>
                <c:formatCode>"$"\ #,##0</c:formatCode>
                <c:ptCount val="6"/>
                <c:pt idx="0">
                  <c:v>54010</c:v>
                </c:pt>
                <c:pt idx="1">
                  <c:v>26085.354907500001</c:v>
                </c:pt>
                <c:pt idx="2">
                  <c:v>14567.774158</c:v>
                </c:pt>
                <c:pt idx="3">
                  <c:v>3195.852304</c:v>
                </c:pt>
                <c:pt idx="4">
                  <c:v>3082.9886280000001</c:v>
                </c:pt>
                <c:pt idx="5">
                  <c:v>159</c:v>
                </c:pt>
              </c:numCache>
            </c:numRef>
          </c:val>
          <c:extLst>
            <c:ext xmlns:c16="http://schemas.microsoft.com/office/drawing/2014/chart" uri="{C3380CC4-5D6E-409C-BE32-E72D297353CC}">
              <c16:uniqueId val="{00000001-9992-4C81-ACE8-0F4554C6854A}"/>
            </c:ext>
          </c:extLst>
        </c:ser>
        <c:dLbls>
          <c:dLblPos val="outEnd"/>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1.6709195612222405E-17"/>
                  <c:y val="0.16274734146256628"/>
                </c:manualLayout>
              </c:layout>
              <c:dLblPos val="outEnd"/>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9992-4C81-ACE8-0F4554C6854A}"/>
                </c:ext>
              </c:extLst>
            </c:dLbl>
            <c:dLbl>
              <c:idx val="1"/>
              <c:layout>
                <c:manualLayout>
                  <c:x val="0"/>
                  <c:y val="0.16274807371594793"/>
                </c:manualLayout>
              </c:layout>
              <c:dLblPos val="outEnd"/>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9992-4C81-ACE8-0F4554C6854A}"/>
                </c:ext>
              </c:extLst>
            </c:dLbl>
            <c:dLbl>
              <c:idx val="2"/>
              <c:layout>
                <c:manualLayout>
                  <c:x val="0"/>
                  <c:y val="0.15809643410909477"/>
                </c:manualLayout>
              </c:layout>
              <c:dLblPos val="outEnd"/>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9992-4C81-ACE8-0F4554C6854A}"/>
                </c:ext>
              </c:extLst>
            </c:dLbl>
            <c:dLbl>
              <c:idx val="4"/>
              <c:layout>
                <c:manualLayout>
                  <c:x val="0"/>
                  <c:y val="0.1580968002357856"/>
                </c:manualLayout>
              </c:layout>
              <c:dLblPos val="outEnd"/>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9992-4C81-ACE8-0F4554C6854A}"/>
                </c:ext>
              </c:extLst>
            </c:dLbl>
            <c:dLbl>
              <c:idx val="5"/>
              <c:layout>
                <c:manualLayout>
                  <c:x val="0"/>
                  <c:y val="0.15344662513569571"/>
                </c:manualLayout>
              </c:layout>
              <c:dLblPos val="outEnd"/>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9992-4C81-ACE8-0F4554C6854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Consumo!$B$2:$B$7</c:f>
              <c:strCache>
                <c:ptCount val="6"/>
                <c:pt idx="0">
                  <c:v>25 entidades</c:v>
                </c:pt>
                <c:pt idx="1">
                  <c:v>Bancolombia</c:v>
                </c:pt>
                <c:pt idx="2">
                  <c:v>Davivienda</c:v>
                </c:pt>
                <c:pt idx="3">
                  <c:v>Banco Bogota</c:v>
                </c:pt>
                <c:pt idx="4">
                  <c:v>Tuya</c:v>
                </c:pt>
                <c:pt idx="5">
                  <c:v>PRESENTE</c:v>
                </c:pt>
              </c:strCache>
            </c:strRef>
          </c:cat>
          <c:val>
            <c:numRef>
              <c:f>Consumo!$E$2:$E$7</c:f>
              <c:numCache>
                <c:formatCode>0.00%</c:formatCode>
                <c:ptCount val="6"/>
                <c:pt idx="0">
                  <c:v>0.45639999999999997</c:v>
                </c:pt>
                <c:pt idx="1">
                  <c:v>0.4597</c:v>
                </c:pt>
                <c:pt idx="2">
                  <c:v>0.57389999999999997</c:v>
                </c:pt>
                <c:pt idx="3">
                  <c:v>0.2452</c:v>
                </c:pt>
                <c:pt idx="4">
                  <c:v>0.56220000000000003</c:v>
                </c:pt>
                <c:pt idx="5">
                  <c:v>0.22589999999999999</c:v>
                </c:pt>
              </c:numCache>
            </c:numRef>
          </c:val>
          <c:extLst>
            <c:ext xmlns:c16="http://schemas.microsoft.com/office/drawing/2014/chart" uri="{C3380CC4-5D6E-409C-BE32-E72D297353CC}">
              <c16:uniqueId val="{00000007-9992-4C81-ACE8-0F4554C6854A}"/>
            </c:ext>
          </c:extLst>
        </c:ser>
        <c:dLbls>
          <c:showLegendKey val="0"/>
          <c:showVal val="0"/>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&gt;1 SMMLV &lt;=3 SMMLV</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Consumo!$B$10:$B$16</c:f>
              <c:strCache>
                <c:ptCount val="7"/>
                <c:pt idx="0">
                  <c:v>32 entidades</c:v>
                </c:pt>
                <c:pt idx="1">
                  <c:v>Banco de Bogotá</c:v>
                </c:pt>
                <c:pt idx="2">
                  <c:v>Davivienda</c:v>
                </c:pt>
                <c:pt idx="3">
                  <c:v>Bancolombia</c:v>
                </c:pt>
                <c:pt idx="4">
                  <c:v>Falabella</c:v>
                </c:pt>
                <c:pt idx="5">
                  <c:v>BBVA</c:v>
                </c:pt>
                <c:pt idx="6">
                  <c:v>PRESENTE</c:v>
                </c:pt>
              </c:strCache>
            </c:strRef>
          </c:cat>
          <c:val>
            <c:numRef>
              <c:f>Consumo!$C$10:$C$16</c:f>
              <c:numCache>
                <c:formatCode>_-* #,##0_-;\-* #,##0_-;_-* "-"??_-;_-@_-</c:formatCode>
                <c:ptCount val="7"/>
                <c:pt idx="0">
                  <c:v>45578</c:v>
                </c:pt>
                <c:pt idx="1">
                  <c:v>14399</c:v>
                </c:pt>
                <c:pt idx="2">
                  <c:v>9178</c:v>
                </c:pt>
                <c:pt idx="3">
                  <c:v>4763</c:v>
                </c:pt>
                <c:pt idx="4">
                  <c:v>4470</c:v>
                </c:pt>
                <c:pt idx="5">
                  <c:v>4163</c:v>
                </c:pt>
                <c:pt idx="6">
                  <c:v>245</c:v>
                </c:pt>
              </c:numCache>
            </c:numRef>
          </c:val>
          <c:extLst>
            <c:ext xmlns:c16="http://schemas.microsoft.com/office/drawing/2014/chart" uri="{C3380CC4-5D6E-409C-BE32-E72D297353CC}">
              <c16:uniqueId val="{00000000-66FE-41E6-8C7C-FBC47C52DF7E}"/>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Consumo!$B$10:$B$16</c:f>
              <c:strCache>
                <c:ptCount val="7"/>
                <c:pt idx="0">
                  <c:v>32 entidades</c:v>
                </c:pt>
                <c:pt idx="1">
                  <c:v>Banco de Bogotá</c:v>
                </c:pt>
                <c:pt idx="2">
                  <c:v>Davivienda</c:v>
                </c:pt>
                <c:pt idx="3">
                  <c:v>Bancolombia</c:v>
                </c:pt>
                <c:pt idx="4">
                  <c:v>Falabella</c:v>
                </c:pt>
                <c:pt idx="5">
                  <c:v>BBVA</c:v>
                </c:pt>
                <c:pt idx="6">
                  <c:v>PRESENTE</c:v>
                </c:pt>
              </c:strCache>
            </c:strRef>
          </c:cat>
          <c:val>
            <c:numRef>
              <c:f>Consumo!$D$10:$D$16</c:f>
              <c:numCache>
                <c:formatCode>"$"\ #,##0</c:formatCode>
                <c:ptCount val="7"/>
                <c:pt idx="0">
                  <c:v>130910</c:v>
                </c:pt>
                <c:pt idx="1">
                  <c:v>41756.649126999997</c:v>
                </c:pt>
                <c:pt idx="2">
                  <c:v>26373.196347000001</c:v>
                </c:pt>
                <c:pt idx="3">
                  <c:v>13242.75626776</c:v>
                </c:pt>
                <c:pt idx="4">
                  <c:v>12620.964260000001</c:v>
                </c:pt>
                <c:pt idx="5">
                  <c:v>12433.56842019</c:v>
                </c:pt>
                <c:pt idx="6">
                  <c:v>648</c:v>
                </c:pt>
              </c:numCache>
            </c:numRef>
          </c:val>
          <c:extLst>
            <c:ext xmlns:c16="http://schemas.microsoft.com/office/drawing/2014/chart" uri="{C3380CC4-5D6E-409C-BE32-E72D297353CC}">
              <c16:uniqueId val="{00000001-66FE-41E6-8C7C-FBC47C52DF7E}"/>
            </c:ext>
          </c:extLst>
        </c:ser>
        <c:dLbls>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0"/>
                  <c:y val="0.16082702357119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66FE-41E6-8C7C-FBC47C52DF7E}"/>
                </c:ext>
              </c:extLst>
            </c:dLbl>
            <c:dLbl>
              <c:idx val="1"/>
              <c:layout>
                <c:manualLayout>
                  <c:x val="1.8233982774198208E-3"/>
                  <c:y val="0.16542208138751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66FE-41E6-8C7C-FBC47C52DF7E}"/>
                </c:ext>
              </c:extLst>
            </c:dLbl>
            <c:dLbl>
              <c:idx val="2"/>
              <c:layout>
                <c:manualLayout>
                  <c:x val="0"/>
                  <c:y val="0.16082702357119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66FE-41E6-8C7C-FBC47C52DF7E}"/>
                </c:ext>
              </c:extLst>
            </c:dLbl>
            <c:dLbl>
              <c:idx val="3"/>
              <c:layout>
                <c:manualLayout>
                  <c:x val="-6.6857164499058542E-17"/>
                  <c:y val="0.1562319657548793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66FE-41E6-8C7C-FBC47C52DF7E}"/>
                </c:ext>
              </c:extLst>
            </c:dLbl>
            <c:dLbl>
              <c:idx val="4"/>
              <c:layout>
                <c:manualLayout>
                  <c:x val="0"/>
                  <c:y val="0.16082702357119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66FE-41E6-8C7C-FBC47C52DF7E}"/>
                </c:ext>
              </c:extLst>
            </c:dLbl>
            <c:dLbl>
              <c:idx val="5"/>
              <c:layout>
                <c:manualLayout>
                  <c:x val="-1.3371432899811708E-16"/>
                  <c:y val="0.16542208138751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66FE-41E6-8C7C-FBC47C52DF7E}"/>
                </c:ext>
              </c:extLst>
            </c:dLbl>
            <c:dLbl>
              <c:idx val="6"/>
              <c:layout>
                <c:manualLayout>
                  <c:x val="0"/>
                  <c:y val="0.160827023571199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66FE-41E6-8C7C-FBC47C52DF7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CO"/>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0"/>
              </c:ext>
            </c:extLst>
          </c:dLbls>
          <c:cat>
            <c:strRef>
              <c:f>Consumo!$B$10:$B$16</c:f>
              <c:strCache>
                <c:ptCount val="7"/>
                <c:pt idx="0">
                  <c:v>32 entidades</c:v>
                </c:pt>
                <c:pt idx="1">
                  <c:v>Banco de Bogotá</c:v>
                </c:pt>
                <c:pt idx="2">
                  <c:v>Davivienda</c:v>
                </c:pt>
                <c:pt idx="3">
                  <c:v>Bancolombia</c:v>
                </c:pt>
                <c:pt idx="4">
                  <c:v>Falabella</c:v>
                </c:pt>
                <c:pt idx="5">
                  <c:v>BBVA</c:v>
                </c:pt>
                <c:pt idx="6">
                  <c:v>PRESENTE</c:v>
                </c:pt>
              </c:strCache>
            </c:strRef>
          </c:cat>
          <c:val>
            <c:numRef>
              <c:f>Consumo!$E$10:$E$16</c:f>
              <c:numCache>
                <c:formatCode>0.00%</c:formatCode>
                <c:ptCount val="7"/>
                <c:pt idx="0">
                  <c:v>0.2276</c:v>
                </c:pt>
                <c:pt idx="1">
                  <c:v>0.24510000000000001</c:v>
                </c:pt>
                <c:pt idx="2">
                  <c:v>0.1908</c:v>
                </c:pt>
                <c:pt idx="3">
                  <c:v>0.2263</c:v>
                </c:pt>
                <c:pt idx="4">
                  <c:v>0.2369</c:v>
                </c:pt>
                <c:pt idx="5">
                  <c:v>0.24809999999999999</c:v>
                </c:pt>
                <c:pt idx="6">
                  <c:v>0.22489999999999999</c:v>
                </c:pt>
              </c:numCache>
            </c:numRef>
          </c:val>
          <c:extLst>
            <c:ext xmlns:c16="http://schemas.microsoft.com/office/drawing/2014/chart" uri="{C3380CC4-5D6E-409C-BE32-E72D297353CC}">
              <c16:uniqueId val="{00000009-66FE-41E6-8C7C-FBC47C52DF7E}"/>
            </c:ext>
          </c:extLst>
        </c:ser>
        <c:dLbls>
          <c:showLegendKey val="0"/>
          <c:showVal val="1"/>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&gt;3 SMMLV &lt;=6 SMMLV</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Consumo!$B$19:$B$26</c:f>
              <c:strCache>
                <c:ptCount val="8"/>
                <c:pt idx="0">
                  <c:v>33 entidades</c:v>
                </c:pt>
                <c:pt idx="1">
                  <c:v>Banco de Bogota</c:v>
                </c:pt>
                <c:pt idx="2">
                  <c:v>Bancolombia</c:v>
                </c:pt>
                <c:pt idx="3">
                  <c:v>Davivienda</c:v>
                </c:pt>
                <c:pt idx="4">
                  <c:v>Falabella</c:v>
                </c:pt>
                <c:pt idx="5">
                  <c:v>BBVA</c:v>
                </c:pt>
                <c:pt idx="6">
                  <c:v>Lulo Bank</c:v>
                </c:pt>
                <c:pt idx="7">
                  <c:v>PRESENTE</c:v>
                </c:pt>
              </c:strCache>
            </c:strRef>
          </c:cat>
          <c:val>
            <c:numRef>
              <c:f>Consumo!$C$19:$C$26</c:f>
              <c:numCache>
                <c:formatCode>_-* #,##0_-;\-* #,##0_-;_-* "-"??_-;_-@_-</c:formatCode>
                <c:ptCount val="8"/>
                <c:pt idx="0">
                  <c:v>43445</c:v>
                </c:pt>
                <c:pt idx="1">
                  <c:v>10677</c:v>
                </c:pt>
                <c:pt idx="2">
                  <c:v>8655</c:v>
                </c:pt>
                <c:pt idx="3">
                  <c:v>6228</c:v>
                </c:pt>
                <c:pt idx="4">
                  <c:v>5644</c:v>
                </c:pt>
                <c:pt idx="5">
                  <c:v>3106</c:v>
                </c:pt>
                <c:pt idx="6">
                  <c:v>1964</c:v>
                </c:pt>
                <c:pt idx="7">
                  <c:v>116</c:v>
                </c:pt>
              </c:numCache>
            </c:numRef>
          </c:val>
          <c:extLst>
            <c:ext xmlns:c16="http://schemas.microsoft.com/office/drawing/2014/chart" uri="{C3380CC4-5D6E-409C-BE32-E72D297353CC}">
              <c16:uniqueId val="{00000000-F875-44A1-9C5A-5D61718B6A9A}"/>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Consumo!$B$19:$B$26</c:f>
              <c:strCache>
                <c:ptCount val="8"/>
                <c:pt idx="0">
                  <c:v>33 entidades</c:v>
                </c:pt>
                <c:pt idx="1">
                  <c:v>Banco de Bogota</c:v>
                </c:pt>
                <c:pt idx="2">
                  <c:v>Bancolombia</c:v>
                </c:pt>
                <c:pt idx="3">
                  <c:v>Davivienda</c:v>
                </c:pt>
                <c:pt idx="4">
                  <c:v>Falabella</c:v>
                </c:pt>
                <c:pt idx="5">
                  <c:v>BBVA</c:v>
                </c:pt>
                <c:pt idx="6">
                  <c:v>Lulo Bank</c:v>
                </c:pt>
                <c:pt idx="7">
                  <c:v>PRESENTE</c:v>
                </c:pt>
              </c:strCache>
            </c:strRef>
          </c:cat>
          <c:val>
            <c:numRef>
              <c:f>Consumo!$D$19:$D$26</c:f>
              <c:numCache>
                <c:formatCode>"$"\ #,##0</c:formatCode>
                <c:ptCount val="8"/>
                <c:pt idx="0">
                  <c:v>266600</c:v>
                </c:pt>
                <c:pt idx="1">
                  <c:v>63489.667370000003</c:v>
                </c:pt>
                <c:pt idx="2">
                  <c:v>55709.647361260002</c:v>
                </c:pt>
                <c:pt idx="3">
                  <c:v>37939.789820999998</c:v>
                </c:pt>
                <c:pt idx="4">
                  <c:v>35771.805007000003</c:v>
                </c:pt>
                <c:pt idx="5">
                  <c:v>18012.849729019999</c:v>
                </c:pt>
                <c:pt idx="6">
                  <c:v>11777.135308209999</c:v>
                </c:pt>
                <c:pt idx="7">
                  <c:v>727</c:v>
                </c:pt>
              </c:numCache>
            </c:numRef>
          </c:val>
          <c:extLst>
            <c:ext xmlns:c16="http://schemas.microsoft.com/office/drawing/2014/chart" uri="{C3380CC4-5D6E-409C-BE32-E72D297353CC}">
              <c16:uniqueId val="{00000001-F875-44A1-9C5A-5D61718B6A9A}"/>
            </c:ext>
          </c:extLst>
        </c:ser>
        <c:dLbls>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5.4298642533936649E-3"/>
                  <c:y val="0.1455347298787210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F875-44A1-9C5A-5D61718B6A9A}"/>
                </c:ext>
              </c:extLst>
            </c:dLbl>
            <c:dLbl>
              <c:idx val="1"/>
              <c:layout>
                <c:manualLayout>
                  <c:x val="-1.8099547511312218E-3"/>
                  <c:y val="0.14994487320837926"/>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F875-44A1-9C5A-5D61718B6A9A}"/>
                </c:ext>
              </c:extLst>
            </c:dLbl>
            <c:dLbl>
              <c:idx val="2"/>
              <c:layout>
                <c:manualLayout>
                  <c:x val="-3.3182120448052106E-17"/>
                  <c:y val="0.14994487320837926"/>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F875-44A1-9C5A-5D61718B6A9A}"/>
                </c:ext>
              </c:extLst>
            </c:dLbl>
            <c:dLbl>
              <c:idx val="3"/>
              <c:layout>
                <c:manualLayout>
                  <c:x val="-3.6199095022624436E-3"/>
                  <c:y val="0.1543550165380374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F875-44A1-9C5A-5D61718B6A9A}"/>
                </c:ext>
              </c:extLst>
            </c:dLbl>
            <c:dLbl>
              <c:idx val="4"/>
              <c:layout>
                <c:manualLayout>
                  <c:x val="6.6364240896104212E-17"/>
                  <c:y val="0.145534729878720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F875-44A1-9C5A-5D61718B6A9A}"/>
                </c:ext>
              </c:extLst>
            </c:dLbl>
            <c:dLbl>
              <c:idx val="5"/>
              <c:layout>
                <c:manualLayout>
                  <c:x val="-1.8099547511312218E-3"/>
                  <c:y val="0.14994487320837926"/>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F875-44A1-9C5A-5D61718B6A9A}"/>
                </c:ext>
              </c:extLst>
            </c:dLbl>
            <c:dLbl>
              <c:idx val="6"/>
              <c:layout>
                <c:manualLayout>
                  <c:x val="-1.3272848179220842E-16"/>
                  <c:y val="0.1543550165380373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F875-44A1-9C5A-5D61718B6A9A}"/>
                </c:ext>
              </c:extLst>
            </c:dLbl>
            <c:dLbl>
              <c:idx val="7"/>
              <c:layout>
                <c:manualLayout>
                  <c:x val="0"/>
                  <c:y val="0.145534729878720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F875-44A1-9C5A-5D61718B6A9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CO"/>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0"/>
              </c:ext>
            </c:extLst>
          </c:dLbls>
          <c:cat>
            <c:strRef>
              <c:f>Consumo!$B$19:$B$26</c:f>
              <c:strCache>
                <c:ptCount val="8"/>
                <c:pt idx="0">
                  <c:v>33 entidades</c:v>
                </c:pt>
                <c:pt idx="1">
                  <c:v>Banco de Bogota</c:v>
                </c:pt>
                <c:pt idx="2">
                  <c:v>Bancolombia</c:v>
                </c:pt>
                <c:pt idx="3">
                  <c:v>Davivienda</c:v>
                </c:pt>
                <c:pt idx="4">
                  <c:v>Falabella</c:v>
                </c:pt>
                <c:pt idx="5">
                  <c:v>BBVA</c:v>
                </c:pt>
                <c:pt idx="6">
                  <c:v>Lulo Bank</c:v>
                </c:pt>
                <c:pt idx="7">
                  <c:v>PRESENTE</c:v>
                </c:pt>
              </c:strCache>
            </c:strRef>
          </c:cat>
          <c:val>
            <c:numRef>
              <c:f>Consumo!$E$19:$E$26</c:f>
              <c:numCache>
                <c:formatCode>0.00%</c:formatCode>
                <c:ptCount val="8"/>
                <c:pt idx="0">
                  <c:v>0.23050000000000001</c:v>
                </c:pt>
                <c:pt idx="1">
                  <c:v>0.2427</c:v>
                </c:pt>
                <c:pt idx="2">
                  <c:v>0.22520000000000001</c:v>
                </c:pt>
                <c:pt idx="3">
                  <c:v>0.21310000000000001</c:v>
                </c:pt>
                <c:pt idx="4">
                  <c:v>0.2382</c:v>
                </c:pt>
                <c:pt idx="5">
                  <c:v>0.2452</c:v>
                </c:pt>
                <c:pt idx="6">
                  <c:v>0.21360000000000001</c:v>
                </c:pt>
                <c:pt idx="7">
                  <c:v>0.2107</c:v>
                </c:pt>
              </c:numCache>
            </c:numRef>
          </c:val>
          <c:extLst>
            <c:ext xmlns:c16="http://schemas.microsoft.com/office/drawing/2014/chart" uri="{C3380CC4-5D6E-409C-BE32-E72D297353CC}">
              <c16:uniqueId val="{0000000A-F875-44A1-9C5A-5D61718B6A9A}"/>
            </c:ext>
          </c:extLst>
        </c:ser>
        <c:dLbls>
          <c:showLegendKey val="0"/>
          <c:showVal val="1"/>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 &gt;6 SMMLV &lt;=12 SMMLV</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Consumo!$B$29:$B$37</c:f>
              <c:strCache>
                <c:ptCount val="9"/>
                <c:pt idx="0">
                  <c:v>32 entidades</c:v>
                </c:pt>
                <c:pt idx="1">
                  <c:v>Bancolombia</c:v>
                </c:pt>
                <c:pt idx="2">
                  <c:v>Davivienda</c:v>
                </c:pt>
                <c:pt idx="3">
                  <c:v>Banco de Bogota</c:v>
                </c:pt>
                <c:pt idx="4">
                  <c:v>Banco Falabella</c:v>
                </c:pt>
                <c:pt idx="5">
                  <c:v>BBVA</c:v>
                </c:pt>
                <c:pt idx="6">
                  <c:v>Lulo Bank</c:v>
                </c:pt>
                <c:pt idx="7">
                  <c:v>Banco Caja Social</c:v>
                </c:pt>
                <c:pt idx="8">
                  <c:v>PRESENTE</c:v>
                </c:pt>
              </c:strCache>
            </c:strRef>
          </c:cat>
          <c:val>
            <c:numRef>
              <c:f>Consumo!$C$29:$C$37</c:f>
              <c:numCache>
                <c:formatCode>_-* #,##0_-;\-* #,##0_-;_-* "-"??_-;_-@_-</c:formatCode>
                <c:ptCount val="9"/>
                <c:pt idx="0">
                  <c:v>42609</c:v>
                </c:pt>
                <c:pt idx="1">
                  <c:v>9268</c:v>
                </c:pt>
                <c:pt idx="2">
                  <c:v>8150</c:v>
                </c:pt>
                <c:pt idx="3">
                  <c:v>6507</c:v>
                </c:pt>
                <c:pt idx="4">
                  <c:v>5594</c:v>
                </c:pt>
                <c:pt idx="5">
                  <c:v>3604</c:v>
                </c:pt>
                <c:pt idx="6">
                  <c:v>1791</c:v>
                </c:pt>
                <c:pt idx="7">
                  <c:v>1578</c:v>
                </c:pt>
                <c:pt idx="8">
                  <c:v>88</c:v>
                </c:pt>
              </c:numCache>
            </c:numRef>
          </c:val>
          <c:extLst>
            <c:ext xmlns:c16="http://schemas.microsoft.com/office/drawing/2014/chart" uri="{C3380CC4-5D6E-409C-BE32-E72D297353CC}">
              <c16:uniqueId val="{00000000-B491-495F-881A-A74B5D57B7B0}"/>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Consumo!$B$29:$B$37</c:f>
              <c:strCache>
                <c:ptCount val="9"/>
                <c:pt idx="0">
                  <c:v>32 entidades</c:v>
                </c:pt>
                <c:pt idx="1">
                  <c:v>Bancolombia</c:v>
                </c:pt>
                <c:pt idx="2">
                  <c:v>Davivienda</c:v>
                </c:pt>
                <c:pt idx="3">
                  <c:v>Banco de Bogota</c:v>
                </c:pt>
                <c:pt idx="4">
                  <c:v>Banco Falabella</c:v>
                </c:pt>
                <c:pt idx="5">
                  <c:v>BBVA</c:v>
                </c:pt>
                <c:pt idx="6">
                  <c:v>Lulo Bank</c:v>
                </c:pt>
                <c:pt idx="7">
                  <c:v>Banco Caja Social</c:v>
                </c:pt>
                <c:pt idx="8">
                  <c:v>PRESENTE</c:v>
                </c:pt>
              </c:strCache>
            </c:strRef>
          </c:cat>
          <c:val>
            <c:numRef>
              <c:f>Consumo!$D$29:$D$37</c:f>
              <c:numCache>
                <c:formatCode>"$"\ #,##0</c:formatCode>
                <c:ptCount val="9"/>
                <c:pt idx="0">
                  <c:v>506650</c:v>
                </c:pt>
                <c:pt idx="1">
                  <c:v>111051.34299124</c:v>
                </c:pt>
                <c:pt idx="2">
                  <c:v>102338.58885099999</c:v>
                </c:pt>
                <c:pt idx="3">
                  <c:v>76955.254180999997</c:v>
                </c:pt>
                <c:pt idx="4">
                  <c:v>59129.113824</c:v>
                </c:pt>
                <c:pt idx="5">
                  <c:v>42480.756527449994</c:v>
                </c:pt>
                <c:pt idx="6">
                  <c:v>21361.98042697</c:v>
                </c:pt>
                <c:pt idx="7">
                  <c:v>18753.8</c:v>
                </c:pt>
                <c:pt idx="8">
                  <c:v>1030</c:v>
                </c:pt>
              </c:numCache>
            </c:numRef>
          </c:val>
          <c:extLst>
            <c:ext xmlns:c16="http://schemas.microsoft.com/office/drawing/2014/chart" uri="{C3380CC4-5D6E-409C-BE32-E72D297353CC}">
              <c16:uniqueId val="{00000001-B491-495F-881A-A74B5D57B7B0}"/>
            </c:ext>
          </c:extLst>
        </c:ser>
        <c:dLbls>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0"/>
                  <c:y val="0.1502762430939226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B491-495F-881A-A74B5D57B7B0}"/>
                </c:ext>
              </c:extLst>
            </c:dLbl>
            <c:dLbl>
              <c:idx val="1"/>
              <c:layout>
                <c:manualLayout>
                  <c:x val="0"/>
                  <c:y val="0.1458563535911602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B491-495F-881A-A74B5D57B7B0}"/>
                </c:ext>
              </c:extLst>
            </c:dLbl>
            <c:dLbl>
              <c:idx val="2"/>
              <c:layout>
                <c:manualLayout>
                  <c:x val="-3.3152118530829635E-17"/>
                  <c:y val="0.1635359116022099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B491-495F-881A-A74B5D57B7B0}"/>
                </c:ext>
              </c:extLst>
            </c:dLbl>
            <c:dLbl>
              <c:idx val="3"/>
              <c:layout>
                <c:manualLayout>
                  <c:x val="0"/>
                  <c:y val="0.1458563535911602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B491-495F-881A-A74B5D57B7B0}"/>
                </c:ext>
              </c:extLst>
            </c:dLbl>
            <c:dLbl>
              <c:idx val="4"/>
              <c:layout>
                <c:manualLayout>
                  <c:x val="0"/>
                  <c:y val="0.1370165745856353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B491-495F-881A-A74B5D57B7B0}"/>
                </c:ext>
              </c:extLst>
            </c:dLbl>
            <c:dLbl>
              <c:idx val="5"/>
              <c:layout>
                <c:manualLayout>
                  <c:x val="0"/>
                  <c:y val="0.1458563535911602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B491-495F-881A-A74B5D57B7B0}"/>
                </c:ext>
              </c:extLst>
            </c:dLbl>
            <c:dLbl>
              <c:idx val="6"/>
              <c:layout>
                <c:manualLayout>
                  <c:x val="5.4249547920433997E-3"/>
                  <c:y val="0.1988950276243092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B491-495F-881A-A74B5D57B7B0}"/>
                </c:ext>
              </c:extLst>
            </c:dLbl>
            <c:dLbl>
              <c:idx val="7"/>
              <c:layout>
                <c:manualLayout>
                  <c:x val="3.6166365280288003E-3"/>
                  <c:y val="0.15469613259668508"/>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B491-495F-881A-A74B5D57B7B0}"/>
                </c:ext>
              </c:extLst>
            </c:dLbl>
            <c:dLbl>
              <c:idx val="8"/>
              <c:layout>
                <c:manualLayout>
                  <c:x val="0"/>
                  <c:y val="0.1502762430939226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A-B491-495F-881A-A74B5D57B7B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CO"/>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0"/>
              </c:ext>
            </c:extLst>
          </c:dLbls>
          <c:cat>
            <c:strRef>
              <c:f>Consumo!$B$29:$B$37</c:f>
              <c:strCache>
                <c:ptCount val="9"/>
                <c:pt idx="0">
                  <c:v>32 entidades</c:v>
                </c:pt>
                <c:pt idx="1">
                  <c:v>Bancolombia</c:v>
                </c:pt>
                <c:pt idx="2">
                  <c:v>Davivienda</c:v>
                </c:pt>
                <c:pt idx="3">
                  <c:v>Banco de Bogota</c:v>
                </c:pt>
                <c:pt idx="4">
                  <c:v>Banco Falabella</c:v>
                </c:pt>
                <c:pt idx="5">
                  <c:v>BBVA</c:v>
                </c:pt>
                <c:pt idx="6">
                  <c:v>Lulo Bank</c:v>
                </c:pt>
                <c:pt idx="7">
                  <c:v>Banco Caja Social</c:v>
                </c:pt>
                <c:pt idx="8">
                  <c:v>PRESENTE</c:v>
                </c:pt>
              </c:strCache>
            </c:strRef>
          </c:cat>
          <c:val>
            <c:numRef>
              <c:f>Consumo!$E$29:$E$37</c:f>
              <c:numCache>
                <c:formatCode>0.00%</c:formatCode>
                <c:ptCount val="9"/>
                <c:pt idx="0">
                  <c:v>0.22309999999999999</c:v>
                </c:pt>
                <c:pt idx="1">
                  <c:v>0.21609999999999999</c:v>
                </c:pt>
                <c:pt idx="2">
                  <c:v>0.21820000000000001</c:v>
                </c:pt>
                <c:pt idx="3">
                  <c:v>0.23719999999999999</c:v>
                </c:pt>
                <c:pt idx="4">
                  <c:v>0.23400000000000001</c:v>
                </c:pt>
                <c:pt idx="5">
                  <c:v>0.2429</c:v>
                </c:pt>
                <c:pt idx="6">
                  <c:v>0.20519999999999999</c:v>
                </c:pt>
                <c:pt idx="7">
                  <c:v>0.2319</c:v>
                </c:pt>
                <c:pt idx="8">
                  <c:v>0.20960000000000001</c:v>
                </c:pt>
              </c:numCache>
            </c:numRef>
          </c:val>
          <c:extLst>
            <c:ext xmlns:c16="http://schemas.microsoft.com/office/drawing/2014/chart" uri="{C3380CC4-5D6E-409C-BE32-E72D297353CC}">
              <c16:uniqueId val="{0000000B-B491-495F-881A-A74B5D57B7B0}"/>
            </c:ext>
          </c:extLst>
        </c:ser>
        <c:dLbls>
          <c:showLegendKey val="0"/>
          <c:showVal val="1"/>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&gt;12 SMMLV &lt;=25 SMMLV</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Consumo!$B$40:$B$47</c:f>
              <c:strCache>
                <c:ptCount val="8"/>
                <c:pt idx="0">
                  <c:v>32 entidades</c:v>
                </c:pt>
                <c:pt idx="1">
                  <c:v>Bancolombia</c:v>
                </c:pt>
                <c:pt idx="2">
                  <c:v>Davivienda</c:v>
                </c:pt>
                <c:pt idx="3">
                  <c:v>Banco de Bogota</c:v>
                </c:pt>
                <c:pt idx="4">
                  <c:v>BBVA</c:v>
                </c:pt>
                <c:pt idx="5">
                  <c:v>Banco Falabella</c:v>
                </c:pt>
                <c:pt idx="6">
                  <c:v>JFK</c:v>
                </c:pt>
                <c:pt idx="7">
                  <c:v>PRESENTE</c:v>
                </c:pt>
              </c:strCache>
            </c:strRef>
          </c:cat>
          <c:val>
            <c:numRef>
              <c:f>Consumo!$C$40:$C$47</c:f>
              <c:numCache>
                <c:formatCode>_-* #,##0_-;\-* #,##0_-;_-* "-"??_-;_-@_-</c:formatCode>
                <c:ptCount val="8"/>
                <c:pt idx="0">
                  <c:v>27427</c:v>
                </c:pt>
                <c:pt idx="1">
                  <c:v>7004</c:v>
                </c:pt>
                <c:pt idx="2">
                  <c:v>6790</c:v>
                </c:pt>
                <c:pt idx="3">
                  <c:v>3254</c:v>
                </c:pt>
                <c:pt idx="4">
                  <c:v>2549</c:v>
                </c:pt>
                <c:pt idx="5">
                  <c:v>1566</c:v>
                </c:pt>
                <c:pt idx="6">
                  <c:v>1048</c:v>
                </c:pt>
                <c:pt idx="7">
                  <c:v>36</c:v>
                </c:pt>
              </c:numCache>
            </c:numRef>
          </c:val>
          <c:extLst>
            <c:ext xmlns:c16="http://schemas.microsoft.com/office/drawing/2014/chart" uri="{C3380CC4-5D6E-409C-BE32-E72D297353CC}">
              <c16:uniqueId val="{00000000-DB35-4AF7-954E-9167FC9BFED9}"/>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Consumo!$B$40:$B$47</c:f>
              <c:strCache>
                <c:ptCount val="8"/>
                <c:pt idx="0">
                  <c:v>32 entidades</c:v>
                </c:pt>
                <c:pt idx="1">
                  <c:v>Bancolombia</c:v>
                </c:pt>
                <c:pt idx="2">
                  <c:v>Davivienda</c:v>
                </c:pt>
                <c:pt idx="3">
                  <c:v>Banco de Bogota</c:v>
                </c:pt>
                <c:pt idx="4">
                  <c:v>BBVA</c:v>
                </c:pt>
                <c:pt idx="5">
                  <c:v>Banco Falabella</c:v>
                </c:pt>
                <c:pt idx="6">
                  <c:v>JFK</c:v>
                </c:pt>
                <c:pt idx="7">
                  <c:v>PRESENTE</c:v>
                </c:pt>
              </c:strCache>
            </c:strRef>
          </c:cat>
          <c:val>
            <c:numRef>
              <c:f>Consumo!$D$40:$D$47</c:f>
              <c:numCache>
                <c:formatCode>"$"\ #,##0</c:formatCode>
                <c:ptCount val="8"/>
                <c:pt idx="0">
                  <c:v>673130</c:v>
                </c:pt>
                <c:pt idx="1">
                  <c:v>174278.55108866</c:v>
                </c:pt>
                <c:pt idx="2">
                  <c:v>167536.87223099999</c:v>
                </c:pt>
                <c:pt idx="3">
                  <c:v>80693.848532000004</c:v>
                </c:pt>
                <c:pt idx="4">
                  <c:v>62574.858076459997</c:v>
                </c:pt>
                <c:pt idx="5">
                  <c:v>38204.788568000004</c:v>
                </c:pt>
                <c:pt idx="6">
                  <c:v>25401.479522000001</c:v>
                </c:pt>
                <c:pt idx="7">
                  <c:v>882</c:v>
                </c:pt>
              </c:numCache>
            </c:numRef>
          </c:val>
          <c:extLst>
            <c:ext xmlns:c16="http://schemas.microsoft.com/office/drawing/2014/chart" uri="{C3380CC4-5D6E-409C-BE32-E72D297353CC}">
              <c16:uniqueId val="{00000001-DB35-4AF7-954E-9167FC9BFED9}"/>
            </c:ext>
          </c:extLst>
        </c:ser>
        <c:dLbls>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8.2880296327074088E-18"/>
                  <c:y val="0.1456953642384105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DB35-4AF7-954E-9167FC9BFED9}"/>
                </c:ext>
              </c:extLst>
            </c:dLbl>
            <c:dLbl>
              <c:idx val="1"/>
              <c:layout>
                <c:manualLayout>
                  <c:x val="5.4249547920433667E-3"/>
                  <c:y val="0.1456953642384105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DB35-4AF7-954E-9167FC9BFED9}"/>
                </c:ext>
              </c:extLst>
            </c:dLbl>
            <c:dLbl>
              <c:idx val="2"/>
              <c:layout>
                <c:manualLayout>
                  <c:x val="1.8083182640144997E-3"/>
                  <c:y val="0.1456953642384105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DB35-4AF7-954E-9167FC9BFED9}"/>
                </c:ext>
              </c:extLst>
            </c:dLbl>
            <c:dLbl>
              <c:idx val="3"/>
              <c:layout>
                <c:manualLayout>
                  <c:x val="-1.8083182640144665E-3"/>
                  <c:y val="0.14128035320088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DB35-4AF7-954E-9167FC9BFED9}"/>
                </c:ext>
              </c:extLst>
            </c:dLbl>
            <c:dLbl>
              <c:idx val="4"/>
              <c:layout>
                <c:manualLayout>
                  <c:x val="1.8083182640144665E-3"/>
                  <c:y val="0.1324503311258278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DB35-4AF7-954E-9167FC9BFED9}"/>
                </c:ext>
              </c:extLst>
            </c:dLbl>
            <c:dLbl>
              <c:idx val="5"/>
              <c:layout>
                <c:manualLayout>
                  <c:x val="-1.3260847412331854E-16"/>
                  <c:y val="0.14569536423841059"/>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DB35-4AF7-954E-9167FC9BFED9}"/>
                </c:ext>
              </c:extLst>
            </c:dLbl>
            <c:dLbl>
              <c:idx val="6"/>
              <c:layout>
                <c:manualLayout>
                  <c:x val="3.6166365280288003E-3"/>
                  <c:y val="0.13686534216335541"/>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DB35-4AF7-954E-9167FC9BFED9}"/>
                </c:ext>
              </c:extLst>
            </c:dLbl>
            <c:dLbl>
              <c:idx val="7"/>
              <c:layout>
                <c:manualLayout>
                  <c:x val="3.616636528028933E-3"/>
                  <c:y val="0.15011037527593818"/>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DB35-4AF7-954E-9167FC9BFED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CO"/>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0"/>
              </c:ext>
            </c:extLst>
          </c:dLbls>
          <c:cat>
            <c:strRef>
              <c:f>Consumo!$B$40:$B$47</c:f>
              <c:strCache>
                <c:ptCount val="8"/>
                <c:pt idx="0">
                  <c:v>32 entidades</c:v>
                </c:pt>
                <c:pt idx="1">
                  <c:v>Bancolombia</c:v>
                </c:pt>
                <c:pt idx="2">
                  <c:v>Davivienda</c:v>
                </c:pt>
                <c:pt idx="3">
                  <c:v>Banco de Bogota</c:v>
                </c:pt>
                <c:pt idx="4">
                  <c:v>BBVA</c:v>
                </c:pt>
                <c:pt idx="5">
                  <c:v>Banco Falabella</c:v>
                </c:pt>
                <c:pt idx="6">
                  <c:v>JFK</c:v>
                </c:pt>
                <c:pt idx="7">
                  <c:v>PRESENTE</c:v>
                </c:pt>
              </c:strCache>
            </c:strRef>
          </c:cat>
          <c:val>
            <c:numRef>
              <c:f>Consumo!$E$40:$E$47</c:f>
              <c:numCache>
                <c:formatCode>0.00%</c:formatCode>
                <c:ptCount val="8"/>
                <c:pt idx="0">
                  <c:v>0.21260000000000001</c:v>
                </c:pt>
                <c:pt idx="1">
                  <c:v>0.20710000000000001</c:v>
                </c:pt>
                <c:pt idx="2">
                  <c:v>0.21260000000000001</c:v>
                </c:pt>
                <c:pt idx="3">
                  <c:v>0.22389999999999999</c:v>
                </c:pt>
                <c:pt idx="4">
                  <c:v>0.23730000000000001</c:v>
                </c:pt>
                <c:pt idx="5">
                  <c:v>0.2127</c:v>
                </c:pt>
                <c:pt idx="6">
                  <c:v>0.20130000000000001</c:v>
                </c:pt>
                <c:pt idx="7">
                  <c:v>0.1895</c:v>
                </c:pt>
              </c:numCache>
            </c:numRef>
          </c:val>
          <c:extLst>
            <c:ext xmlns:c16="http://schemas.microsoft.com/office/drawing/2014/chart" uri="{C3380CC4-5D6E-409C-BE32-E72D297353CC}">
              <c16:uniqueId val="{0000000A-DB35-4AF7-954E-9167FC9BFED9}"/>
            </c:ext>
          </c:extLst>
        </c:ser>
        <c:dLbls>
          <c:showLegendKey val="0"/>
          <c:showVal val="1"/>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Todos los montos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2.1874108762833994E-2"/>
          <c:y val="0.12803267314588868"/>
          <c:w val="0.95989746726813763"/>
          <c:h val="0.60230916103899435"/>
        </c:manualLayout>
      </c:layout>
      <c:barChart>
        <c:barDir val="col"/>
        <c:grouping val="clustered"/>
        <c:varyColors val="0"/>
        <c:ser>
          <c:idx val="0"/>
          <c:order val="0"/>
          <c:tx>
            <c:strRef>
              <c:f>Consumo!$C$1</c:f>
              <c:strCache>
                <c:ptCount val="1"/>
                <c:pt idx="0">
                  <c:v># DESEMBOLSOS Hasta 1 SMMLV</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Consumo!$B$50:$B$59</c:f>
              <c:strCache>
                <c:ptCount val="10"/>
                <c:pt idx="0">
                  <c:v>34 entidades</c:v>
                </c:pt>
                <c:pt idx="1">
                  <c:v>Bancolombia</c:v>
                </c:pt>
                <c:pt idx="2">
                  <c:v>Davivienda</c:v>
                </c:pt>
                <c:pt idx="3">
                  <c:v>Banco de Bogota</c:v>
                </c:pt>
                <c:pt idx="4">
                  <c:v>BBVA</c:v>
                </c:pt>
                <c:pt idx="5">
                  <c:v>Banco Falabella</c:v>
                </c:pt>
                <c:pt idx="6">
                  <c:v>Scotiabank</c:v>
                </c:pt>
                <c:pt idx="7">
                  <c:v>Banco de Occidente</c:v>
                </c:pt>
                <c:pt idx="8">
                  <c:v>AV Villas</c:v>
                </c:pt>
                <c:pt idx="9">
                  <c:v>PRESENTE</c:v>
                </c:pt>
              </c:strCache>
            </c:strRef>
          </c:cat>
          <c:val>
            <c:numRef>
              <c:f>Consumo!$C$50:$C$59</c:f>
              <c:numCache>
                <c:formatCode>_-* #,##0_-;\-* #,##0_-;_-* "-"??_-;_-@_-</c:formatCode>
                <c:ptCount val="10"/>
                <c:pt idx="0">
                  <c:v>313737</c:v>
                </c:pt>
                <c:pt idx="1">
                  <c:v>116728</c:v>
                </c:pt>
                <c:pt idx="2">
                  <c:v>54181</c:v>
                </c:pt>
                <c:pt idx="3">
                  <c:v>40966</c:v>
                </c:pt>
                <c:pt idx="4">
                  <c:v>15676</c:v>
                </c:pt>
                <c:pt idx="5">
                  <c:v>20067</c:v>
                </c:pt>
                <c:pt idx="6" formatCode="#,##0">
                  <c:v>6953</c:v>
                </c:pt>
                <c:pt idx="7" formatCode="#,##0">
                  <c:v>2415</c:v>
                </c:pt>
                <c:pt idx="8">
                  <c:v>3503</c:v>
                </c:pt>
                <c:pt idx="9">
                  <c:v>822</c:v>
                </c:pt>
              </c:numCache>
            </c:numRef>
          </c:val>
          <c:extLst>
            <c:ext xmlns:c16="http://schemas.microsoft.com/office/drawing/2014/chart" uri="{C3380CC4-5D6E-409C-BE32-E72D297353CC}">
              <c16:uniqueId val="{00000000-CBF5-4EEA-B0A9-AAC13F535DFB}"/>
            </c:ext>
          </c:extLst>
        </c:ser>
        <c:ser>
          <c:idx val="1"/>
          <c:order val="1"/>
          <c:tx>
            <c:strRef>
              <c:f>Consumo!$D$1</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Consumo!$B$50:$B$59</c:f>
              <c:strCache>
                <c:ptCount val="10"/>
                <c:pt idx="0">
                  <c:v>34 entidades</c:v>
                </c:pt>
                <c:pt idx="1">
                  <c:v>Bancolombia</c:v>
                </c:pt>
                <c:pt idx="2">
                  <c:v>Davivienda</c:v>
                </c:pt>
                <c:pt idx="3">
                  <c:v>Banco de Bogota</c:v>
                </c:pt>
                <c:pt idx="4">
                  <c:v>BBVA</c:v>
                </c:pt>
                <c:pt idx="5">
                  <c:v>Banco Falabella</c:v>
                </c:pt>
                <c:pt idx="6">
                  <c:v>Scotiabank</c:v>
                </c:pt>
                <c:pt idx="7">
                  <c:v>Banco de Occidente</c:v>
                </c:pt>
                <c:pt idx="8">
                  <c:v>AV Villas</c:v>
                </c:pt>
                <c:pt idx="9">
                  <c:v>PRESENTE</c:v>
                </c:pt>
              </c:strCache>
            </c:strRef>
          </c:cat>
          <c:val>
            <c:numRef>
              <c:f>Consumo!$D$50:$D$59</c:f>
              <c:numCache>
                <c:formatCode>"$"\ #,##0</c:formatCode>
                <c:ptCount val="10"/>
                <c:pt idx="0">
                  <c:v>3420000</c:v>
                </c:pt>
                <c:pt idx="1">
                  <c:v>996314</c:v>
                </c:pt>
                <c:pt idx="2">
                  <c:v>558904</c:v>
                </c:pt>
                <c:pt idx="3">
                  <c:v>488165</c:v>
                </c:pt>
                <c:pt idx="4">
                  <c:v>244693</c:v>
                </c:pt>
                <c:pt idx="5">
                  <c:v>189954</c:v>
                </c:pt>
                <c:pt idx="6">
                  <c:v>178629</c:v>
                </c:pt>
                <c:pt idx="7">
                  <c:v>154328</c:v>
                </c:pt>
                <c:pt idx="8">
                  <c:v>129450</c:v>
                </c:pt>
                <c:pt idx="9">
                  <c:v>5441</c:v>
                </c:pt>
              </c:numCache>
            </c:numRef>
          </c:val>
          <c:extLst>
            <c:ext xmlns:c16="http://schemas.microsoft.com/office/drawing/2014/chart" uri="{C3380CC4-5D6E-409C-BE32-E72D297353CC}">
              <c16:uniqueId val="{00000001-CBF5-4EEA-B0A9-AAC13F535DFB}"/>
            </c:ext>
          </c:extLst>
        </c:ser>
        <c:dLbls>
          <c:showLegendKey val="0"/>
          <c:showVal val="1"/>
          <c:showCatName val="0"/>
          <c:showSerName val="0"/>
          <c:showPercent val="0"/>
          <c:showBubbleSize val="0"/>
        </c:dLbls>
        <c:gapWidth val="100"/>
        <c:overlap val="-24"/>
        <c:axId val="1069980192"/>
        <c:axId val="1069972512"/>
      </c:barChart>
      <c:barChart>
        <c:barDir val="col"/>
        <c:grouping val="clustered"/>
        <c:varyColors val="0"/>
        <c:ser>
          <c:idx val="2"/>
          <c:order val="2"/>
          <c:tx>
            <c:strRef>
              <c:f>Consumo!$E$1</c:f>
              <c:strCache>
                <c:ptCount val="1"/>
                <c:pt idx="0">
                  <c:v>TPP</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8.2955301120130265E-18"/>
                  <c:y val="0.1455347298787210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CBF5-4EEA-B0A9-AAC13F535DFB}"/>
                </c:ext>
              </c:extLst>
            </c:dLbl>
            <c:dLbl>
              <c:idx val="1"/>
              <c:layout>
                <c:manualLayout>
                  <c:x val="-3.3182120448052106E-17"/>
                  <c:y val="0.1455347298787210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CBF5-4EEA-B0A9-AAC13F535DFB}"/>
                </c:ext>
              </c:extLst>
            </c:dLbl>
            <c:dLbl>
              <c:idx val="2"/>
              <c:layout>
                <c:manualLayout>
                  <c:x val="0"/>
                  <c:y val="0.1411245865490628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CBF5-4EEA-B0A9-AAC13F535DFB}"/>
                </c:ext>
              </c:extLst>
            </c:dLbl>
            <c:dLbl>
              <c:idx val="3"/>
              <c:layout>
                <c:manualLayout>
                  <c:x val="1.8099547511312218E-3"/>
                  <c:y val="0.1455347298787210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CBF5-4EEA-B0A9-AAC13F535DFB}"/>
                </c:ext>
              </c:extLst>
            </c:dLbl>
            <c:dLbl>
              <c:idx val="4"/>
              <c:layout>
                <c:manualLayout>
                  <c:x val="-6.6364240896104212E-17"/>
                  <c:y val="0.1411245865490628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CBF5-4EEA-B0A9-AAC13F535DFB}"/>
                </c:ext>
              </c:extLst>
            </c:dLbl>
            <c:dLbl>
              <c:idx val="5"/>
              <c:layout>
                <c:manualLayout>
                  <c:x val="-6.6364240896104212E-17"/>
                  <c:y val="0.1411245865490628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CBF5-4EEA-B0A9-AAC13F535DFB}"/>
                </c:ext>
              </c:extLst>
            </c:dLbl>
            <c:dLbl>
              <c:idx val="6"/>
              <c:layout>
                <c:manualLayout>
                  <c:x val="-7.2373992599637366E-3"/>
                  <c:y val="0.1534529495288497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CBF5-4EEA-B0A9-AAC13F535DFB}"/>
                </c:ext>
              </c:extLst>
            </c:dLbl>
            <c:dLbl>
              <c:idx val="8"/>
              <c:layout>
                <c:manualLayout>
                  <c:x val="0"/>
                  <c:y val="0.1367144432194046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CBF5-4EEA-B0A9-AAC13F535DFB}"/>
                </c:ext>
              </c:extLst>
            </c:dLbl>
            <c:dLbl>
              <c:idx val="9"/>
              <c:layout>
                <c:manualLayout>
                  <c:x val="0"/>
                  <c:y val="0.15876515986769585"/>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A-CBF5-4EEA-B0A9-AAC13F535D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CO"/>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0"/>
              </c:ext>
            </c:extLst>
          </c:dLbls>
          <c:cat>
            <c:strRef>
              <c:f>Consumo!$B$50:$B$59</c:f>
              <c:strCache>
                <c:ptCount val="10"/>
                <c:pt idx="0">
                  <c:v>34 entidades</c:v>
                </c:pt>
                <c:pt idx="1">
                  <c:v>Bancolombia</c:v>
                </c:pt>
                <c:pt idx="2">
                  <c:v>Davivienda</c:v>
                </c:pt>
                <c:pt idx="3">
                  <c:v>Banco de Bogota</c:v>
                </c:pt>
                <c:pt idx="4">
                  <c:v>BBVA</c:v>
                </c:pt>
                <c:pt idx="5">
                  <c:v>Banco Falabella</c:v>
                </c:pt>
                <c:pt idx="6">
                  <c:v>Scotiabank</c:v>
                </c:pt>
                <c:pt idx="7">
                  <c:v>Banco de Occidente</c:v>
                </c:pt>
                <c:pt idx="8">
                  <c:v>AV Villas</c:v>
                </c:pt>
                <c:pt idx="9">
                  <c:v>PRESENTE</c:v>
                </c:pt>
              </c:strCache>
            </c:strRef>
          </c:cat>
          <c:val>
            <c:numRef>
              <c:f>Consumo!$E$50:$E$59</c:f>
              <c:numCache>
                <c:formatCode>0.00%</c:formatCode>
                <c:ptCount val="10"/>
                <c:pt idx="0">
                  <c:v>0.21690000000000001</c:v>
                </c:pt>
                <c:pt idx="1">
                  <c:v>0.23130000000000001</c:v>
                </c:pt>
                <c:pt idx="2">
                  <c:v>0.22120000000000001</c:v>
                </c:pt>
                <c:pt idx="3">
                  <c:v>0.20630000000000001</c:v>
                </c:pt>
                <c:pt idx="4">
                  <c:v>0.23230000000000001</c:v>
                </c:pt>
                <c:pt idx="5">
                  <c:v>0.22209999999999999</c:v>
                </c:pt>
                <c:pt idx="6">
                  <c:v>0.20949999999999999</c:v>
                </c:pt>
                <c:pt idx="7">
                  <c:v>0.1845</c:v>
                </c:pt>
                <c:pt idx="8">
                  <c:v>0.17760000000000001</c:v>
                </c:pt>
                <c:pt idx="9">
                  <c:v>0.19020000000000001</c:v>
                </c:pt>
              </c:numCache>
            </c:numRef>
          </c:val>
          <c:extLst>
            <c:ext xmlns:c16="http://schemas.microsoft.com/office/drawing/2014/chart" uri="{C3380CC4-5D6E-409C-BE32-E72D297353CC}">
              <c16:uniqueId val="{0000000B-CBF5-4EEA-B0A9-AAC13F535DFB}"/>
            </c:ext>
          </c:extLst>
        </c:ser>
        <c:dLbls>
          <c:showLegendKey val="0"/>
          <c:showVal val="1"/>
          <c:showCatName val="0"/>
          <c:showSerName val="0"/>
          <c:showPercent val="0"/>
          <c:showBubbleSize val="0"/>
        </c:dLbls>
        <c:gapWidth val="100"/>
        <c:overlap val="-24"/>
        <c:axId val="649493919"/>
        <c:axId val="649491999"/>
      </c:barChart>
      <c:catAx>
        <c:axId val="1069980192"/>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69972512"/>
        <c:crosses val="autoZero"/>
        <c:auto val="1"/>
        <c:lblAlgn val="ctr"/>
        <c:lblOffset val="100"/>
        <c:noMultiLvlLbl val="0"/>
      </c:catAx>
      <c:valAx>
        <c:axId val="1069972512"/>
        <c:scaling>
          <c:orientation val="minMax"/>
        </c:scaling>
        <c:delete val="1"/>
        <c:axPos val="l"/>
        <c:numFmt formatCode="_-* #,##0_-;\-* #,##0_-;_-* &quot;-&quot;??_-;_-@_-" sourceLinked="1"/>
        <c:majorTickMark val="out"/>
        <c:minorTickMark val="none"/>
        <c:tickLblPos val="nextTo"/>
        <c:crossAx val="1069980192"/>
        <c:crosses val="autoZero"/>
        <c:crossBetween val="between"/>
      </c:valAx>
      <c:valAx>
        <c:axId val="649491999"/>
        <c:scaling>
          <c:orientation val="minMax"/>
        </c:scaling>
        <c:delete val="1"/>
        <c:axPos val="r"/>
        <c:numFmt formatCode="0.00%" sourceLinked="1"/>
        <c:majorTickMark val="out"/>
        <c:minorTickMark val="none"/>
        <c:tickLblPos val="nextTo"/>
        <c:crossAx val="649493919"/>
        <c:crosses val="max"/>
        <c:crossBetween val="between"/>
      </c:valAx>
      <c:catAx>
        <c:axId val="649493919"/>
        <c:scaling>
          <c:orientation val="minMax"/>
        </c:scaling>
        <c:delete val="1"/>
        <c:axPos val="b"/>
        <c:numFmt formatCode="General" sourceLinked="1"/>
        <c:majorTickMark val="out"/>
        <c:minorTickMark val="none"/>
        <c:tickLblPos val="nextTo"/>
        <c:crossAx val="64949199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VIS</a:t>
            </a:r>
            <a:r>
              <a:rPr lang="es-CO" baseline="0"/>
              <a:t> - Pesos - 20 años</a:t>
            </a:r>
            <a:endParaRPr lang="es-CO"/>
          </a:p>
        </c:rich>
      </c:tx>
      <c:layout>
        <c:manualLayout>
          <c:xMode val="edge"/>
          <c:yMode val="edge"/>
          <c:x val="0.29842782147576674"/>
          <c:y val="4.0948862992211253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0.11806823946126138"/>
          <c:y val="0.1854653533700745"/>
          <c:w val="0.77058089533853613"/>
          <c:h val="0.54601529772812785"/>
        </c:manualLayout>
      </c:layout>
      <c:barChart>
        <c:barDir val="col"/>
        <c:grouping val="clustered"/>
        <c:varyColors val="0"/>
        <c:ser>
          <c:idx val="1"/>
          <c:order val="1"/>
          <c:tx>
            <c:strRef>
              <c:f>Vivienda!$E$2</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Vivienda!$C$3:$C$10</c:f>
              <c:strCache>
                <c:ptCount val="8"/>
                <c:pt idx="0">
                  <c:v>16 entidades</c:v>
                </c:pt>
                <c:pt idx="1">
                  <c:v>Davivienda</c:v>
                </c:pt>
                <c:pt idx="2">
                  <c:v>Bancolombia</c:v>
                </c:pt>
                <c:pt idx="3">
                  <c:v>Banco de Bogota</c:v>
                </c:pt>
                <c:pt idx="4">
                  <c:v>Banco Caja Social</c:v>
                </c:pt>
                <c:pt idx="5">
                  <c:v>BBVA</c:v>
                </c:pt>
                <c:pt idx="6">
                  <c:v>FNA</c:v>
                </c:pt>
                <c:pt idx="7">
                  <c:v>PRESENTE</c:v>
                </c:pt>
              </c:strCache>
            </c:strRef>
          </c:cat>
          <c:val>
            <c:numRef>
              <c:f>Vivienda!$E$3:$E$10</c:f>
              <c:numCache>
                <c:formatCode>"$"\ #,##0</c:formatCode>
                <c:ptCount val="8"/>
                <c:pt idx="0">
                  <c:v>758780</c:v>
                </c:pt>
                <c:pt idx="1">
                  <c:v>233659.95696400001</c:v>
                </c:pt>
                <c:pt idx="2">
                  <c:v>224657.42087939999</c:v>
                </c:pt>
                <c:pt idx="3">
                  <c:v>88081.749335999993</c:v>
                </c:pt>
                <c:pt idx="4">
                  <c:v>73306.334199999998</c:v>
                </c:pt>
                <c:pt idx="5">
                  <c:v>60146.589056669996</c:v>
                </c:pt>
                <c:pt idx="6">
                  <c:v>37987.075376360001</c:v>
                </c:pt>
                <c:pt idx="7">
                  <c:v>873</c:v>
                </c:pt>
              </c:numCache>
            </c:numRef>
          </c:val>
          <c:extLst>
            <c:ext xmlns:c16="http://schemas.microsoft.com/office/drawing/2014/chart" uri="{C3380CC4-5D6E-409C-BE32-E72D297353CC}">
              <c16:uniqueId val="{00000000-2223-432D-BDFC-64DCDC71452D}"/>
            </c:ext>
          </c:extLst>
        </c:ser>
        <c:ser>
          <c:idx val="0"/>
          <c:order val="0"/>
          <c:tx>
            <c:strRef>
              <c:f>Vivienda!$D$2</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Vivienda!$C$3:$C$10</c:f>
              <c:strCache>
                <c:ptCount val="8"/>
                <c:pt idx="0">
                  <c:v>16 entidades</c:v>
                </c:pt>
                <c:pt idx="1">
                  <c:v>Davivienda</c:v>
                </c:pt>
                <c:pt idx="2">
                  <c:v>Bancolombia</c:v>
                </c:pt>
                <c:pt idx="3">
                  <c:v>Banco de Bogota</c:v>
                </c:pt>
                <c:pt idx="4">
                  <c:v>Banco Caja Social</c:v>
                </c:pt>
                <c:pt idx="5">
                  <c:v>BBVA</c:v>
                </c:pt>
                <c:pt idx="6">
                  <c:v>FNA</c:v>
                </c:pt>
                <c:pt idx="7">
                  <c:v>PRESENTE</c:v>
                </c:pt>
              </c:strCache>
            </c:strRef>
          </c:cat>
          <c:val>
            <c:numRef>
              <c:f>Vivienda!$D$3:$D$10</c:f>
              <c:numCache>
                <c:formatCode>_-* #,##0_-;\-* #,##0_-;_-* "-"??_-;_-@_-</c:formatCode>
                <c:ptCount val="8"/>
                <c:pt idx="1">
                  <c:v>2166</c:v>
                </c:pt>
                <c:pt idx="2">
                  <c:v>1852</c:v>
                </c:pt>
                <c:pt idx="3">
                  <c:v>779</c:v>
                </c:pt>
                <c:pt idx="4">
                  <c:v>1017</c:v>
                </c:pt>
                <c:pt idx="5">
                  <c:v>577</c:v>
                </c:pt>
                <c:pt idx="6">
                  <c:v>408</c:v>
                </c:pt>
              </c:numCache>
            </c:numRef>
          </c:val>
          <c:extLst>
            <c:ext xmlns:c16="http://schemas.microsoft.com/office/drawing/2014/chart" uri="{C3380CC4-5D6E-409C-BE32-E72D297353CC}">
              <c16:uniqueId val="{00000001-2223-432D-BDFC-64DCDC71452D}"/>
            </c:ext>
          </c:extLst>
        </c:ser>
        <c:dLbls>
          <c:showLegendKey val="0"/>
          <c:showVal val="1"/>
          <c:showCatName val="0"/>
          <c:showSerName val="0"/>
          <c:showPercent val="0"/>
          <c:showBubbleSize val="0"/>
        </c:dLbls>
        <c:gapWidth val="219"/>
        <c:axId val="329793120"/>
        <c:axId val="329792640"/>
      </c:barChart>
      <c:lineChart>
        <c:grouping val="standard"/>
        <c:varyColors val="0"/>
        <c:ser>
          <c:idx val="2"/>
          <c:order val="2"/>
          <c:tx>
            <c:strRef>
              <c:f>Vivienda!$F$2</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Vivienda!$C$3:$C$10</c:f>
              <c:strCache>
                <c:ptCount val="8"/>
                <c:pt idx="0">
                  <c:v>16 entidades</c:v>
                </c:pt>
                <c:pt idx="1">
                  <c:v>Davivienda</c:v>
                </c:pt>
                <c:pt idx="2">
                  <c:v>Bancolombia</c:v>
                </c:pt>
                <c:pt idx="3">
                  <c:v>Banco de Bogota</c:v>
                </c:pt>
                <c:pt idx="4">
                  <c:v>Banco Caja Social</c:v>
                </c:pt>
                <c:pt idx="5">
                  <c:v>BBVA</c:v>
                </c:pt>
                <c:pt idx="6">
                  <c:v>FNA</c:v>
                </c:pt>
                <c:pt idx="7">
                  <c:v>PRESENTE</c:v>
                </c:pt>
              </c:strCache>
            </c:strRef>
          </c:cat>
          <c:val>
            <c:numRef>
              <c:f>Vivienda!$F$3:$F$10</c:f>
              <c:numCache>
                <c:formatCode>0.00%</c:formatCode>
                <c:ptCount val="8"/>
                <c:pt idx="0">
                  <c:v>0.1242</c:v>
                </c:pt>
                <c:pt idx="1">
                  <c:v>0.12590000000000001</c:v>
                </c:pt>
                <c:pt idx="2">
                  <c:v>0.1283</c:v>
                </c:pt>
                <c:pt idx="3">
                  <c:v>0.12909999999999999</c:v>
                </c:pt>
                <c:pt idx="4">
                  <c:v>0.11869999999999999</c:v>
                </c:pt>
                <c:pt idx="5">
                  <c:v>0.11220000000000001</c:v>
                </c:pt>
                <c:pt idx="6">
                  <c:v>0.1105</c:v>
                </c:pt>
                <c:pt idx="7">
                  <c:v>0.10929999999999999</c:v>
                </c:pt>
              </c:numCache>
            </c:numRef>
          </c:val>
          <c:smooth val="0"/>
          <c:extLst>
            <c:ext xmlns:c16="http://schemas.microsoft.com/office/drawing/2014/chart" uri="{C3380CC4-5D6E-409C-BE32-E72D297353CC}">
              <c16:uniqueId val="{00000002-2223-432D-BDFC-64DCDC71452D}"/>
            </c:ext>
          </c:extLst>
        </c:ser>
        <c:dLbls>
          <c:showLegendKey val="0"/>
          <c:showVal val="0"/>
          <c:showCatName val="0"/>
          <c:showSerName val="0"/>
          <c:showPercent val="0"/>
          <c:showBubbleSize val="0"/>
        </c:dLbls>
        <c:marker val="1"/>
        <c:smooth val="0"/>
        <c:axId val="1042549983"/>
        <c:axId val="1042549503"/>
      </c:lineChart>
      <c:catAx>
        <c:axId val="329793120"/>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Entidades</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9792640"/>
        <c:crosses val="autoZero"/>
        <c:auto val="1"/>
        <c:lblAlgn val="ctr"/>
        <c:lblOffset val="100"/>
        <c:noMultiLvlLbl val="0"/>
      </c:catAx>
      <c:valAx>
        <c:axId val="329792640"/>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Monto</a:t>
                </a:r>
                <a:r>
                  <a:rPr lang="es-CO" baseline="0"/>
                  <a:t> de colocación</a:t>
                </a:r>
                <a:endParaRPr lang="es-CO"/>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quot;$&quot;\ #,##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9793120"/>
        <c:crosses val="autoZero"/>
        <c:crossBetween val="between"/>
      </c:valAx>
      <c:valAx>
        <c:axId val="1042549503"/>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Tasa promedio</a:t>
                </a:r>
                <a:r>
                  <a:rPr lang="es-CO" baseline="0"/>
                  <a:t> colocación</a:t>
                </a:r>
                <a:endParaRPr lang="es-CO"/>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42549983"/>
        <c:crosses val="max"/>
        <c:crossBetween val="between"/>
      </c:valAx>
      <c:catAx>
        <c:axId val="1042549983"/>
        <c:scaling>
          <c:orientation val="minMax"/>
        </c:scaling>
        <c:delete val="1"/>
        <c:axPos val="b"/>
        <c:numFmt formatCode="General" sourceLinked="1"/>
        <c:majorTickMark val="out"/>
        <c:minorTickMark val="none"/>
        <c:tickLblPos val="nextTo"/>
        <c:crossAx val="104254950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a:t>
            </a:r>
            <a:r>
              <a:rPr lang="es-CO" baseline="0"/>
              <a:t> VIS</a:t>
            </a:r>
            <a:r>
              <a:rPr lang="es-CO"/>
              <a:t> - Pesos - superior 20</a:t>
            </a:r>
          </a:p>
          <a:p>
            <a:pPr>
              <a:defRPr/>
            </a:pPr>
            <a:r>
              <a:rPr lang="es-CO"/>
              <a:t>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Vivienda!$D$13</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Vivienda!$C$14:$C$18</c:f>
              <c:strCache>
                <c:ptCount val="5"/>
                <c:pt idx="0">
                  <c:v>5 entidades</c:v>
                </c:pt>
                <c:pt idx="1">
                  <c:v>Banco de Bogotá</c:v>
                </c:pt>
                <c:pt idx="2">
                  <c:v>BBVA</c:v>
                </c:pt>
                <c:pt idx="3">
                  <c:v>Colpatria</c:v>
                </c:pt>
                <c:pt idx="4">
                  <c:v>Banagrio</c:v>
                </c:pt>
              </c:strCache>
            </c:strRef>
          </c:cat>
          <c:val>
            <c:numRef>
              <c:f>Vivienda!$D$14:$D$18</c:f>
              <c:numCache>
                <c:formatCode>_-* #,##0_-;\-* #,##0_-;_-* "-"??_-;_-@_-</c:formatCode>
                <c:ptCount val="5"/>
                <c:pt idx="0">
                  <c:v>443</c:v>
                </c:pt>
                <c:pt idx="1">
                  <c:v>308</c:v>
                </c:pt>
                <c:pt idx="2">
                  <c:v>102</c:v>
                </c:pt>
                <c:pt idx="3">
                  <c:v>20</c:v>
                </c:pt>
                <c:pt idx="4">
                  <c:v>11</c:v>
                </c:pt>
              </c:numCache>
            </c:numRef>
          </c:val>
          <c:extLst>
            <c:ext xmlns:c16="http://schemas.microsoft.com/office/drawing/2014/chart" uri="{C3380CC4-5D6E-409C-BE32-E72D297353CC}">
              <c16:uniqueId val="{00000000-9900-4DB8-8E81-8FEE2BB36BC5}"/>
            </c:ext>
          </c:extLst>
        </c:ser>
        <c:ser>
          <c:idx val="1"/>
          <c:order val="1"/>
          <c:tx>
            <c:strRef>
              <c:f>Vivienda!$E$13</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Vivienda!$C$14:$C$18</c:f>
              <c:strCache>
                <c:ptCount val="5"/>
                <c:pt idx="0">
                  <c:v>5 entidades</c:v>
                </c:pt>
                <c:pt idx="1">
                  <c:v>Banco de Bogotá</c:v>
                </c:pt>
                <c:pt idx="2">
                  <c:v>BBVA</c:v>
                </c:pt>
                <c:pt idx="3">
                  <c:v>Colpatria</c:v>
                </c:pt>
                <c:pt idx="4">
                  <c:v>Banagrio</c:v>
                </c:pt>
              </c:strCache>
            </c:strRef>
          </c:cat>
          <c:val>
            <c:numRef>
              <c:f>Vivienda!$E$14:$E$18</c:f>
              <c:numCache>
                <c:formatCode>"$"\ #,##0</c:formatCode>
                <c:ptCount val="5"/>
                <c:pt idx="0">
                  <c:v>52690</c:v>
                </c:pt>
                <c:pt idx="1">
                  <c:v>35899.367310000001</c:v>
                </c:pt>
                <c:pt idx="2">
                  <c:v>12812.055605</c:v>
                </c:pt>
                <c:pt idx="3">
                  <c:v>2577.1812399999999</c:v>
                </c:pt>
                <c:pt idx="4">
                  <c:v>1178.3225</c:v>
                </c:pt>
              </c:numCache>
            </c:numRef>
          </c:val>
          <c:extLst>
            <c:ext xmlns:c16="http://schemas.microsoft.com/office/drawing/2014/chart" uri="{C3380CC4-5D6E-409C-BE32-E72D297353CC}">
              <c16:uniqueId val="{00000001-9900-4DB8-8E81-8FEE2BB36BC5}"/>
            </c:ext>
          </c:extLst>
        </c:ser>
        <c:dLbls>
          <c:showLegendKey val="0"/>
          <c:showVal val="1"/>
          <c:showCatName val="0"/>
          <c:showSerName val="0"/>
          <c:showPercent val="0"/>
          <c:showBubbleSize val="0"/>
        </c:dLbls>
        <c:gapWidth val="219"/>
        <c:axId val="1020478047"/>
        <c:axId val="1020487167"/>
      </c:barChart>
      <c:lineChart>
        <c:grouping val="standard"/>
        <c:varyColors val="0"/>
        <c:ser>
          <c:idx val="2"/>
          <c:order val="2"/>
          <c:tx>
            <c:strRef>
              <c:f>Vivienda!$F$13</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Vivienda!$C$14:$C$18</c:f>
              <c:strCache>
                <c:ptCount val="5"/>
                <c:pt idx="0">
                  <c:v>5 entidades</c:v>
                </c:pt>
                <c:pt idx="1">
                  <c:v>Banco de Bogotá</c:v>
                </c:pt>
                <c:pt idx="2">
                  <c:v>BBVA</c:v>
                </c:pt>
                <c:pt idx="3">
                  <c:v>Colpatria</c:v>
                </c:pt>
                <c:pt idx="4">
                  <c:v>Banagrio</c:v>
                </c:pt>
              </c:strCache>
            </c:strRef>
          </c:cat>
          <c:val>
            <c:numRef>
              <c:f>Vivienda!$F$14:$F$17</c:f>
              <c:numCache>
                <c:formatCode>0.00%</c:formatCode>
                <c:ptCount val="4"/>
                <c:pt idx="0">
                  <c:v>0.1232</c:v>
                </c:pt>
                <c:pt idx="1">
                  <c:v>0.12960000000000002</c:v>
                </c:pt>
                <c:pt idx="2">
                  <c:v>0.1096</c:v>
                </c:pt>
                <c:pt idx="3">
                  <c:v>0.1085</c:v>
                </c:pt>
              </c:numCache>
            </c:numRef>
          </c:val>
          <c:smooth val="0"/>
          <c:extLst>
            <c:ext xmlns:c16="http://schemas.microsoft.com/office/drawing/2014/chart" uri="{C3380CC4-5D6E-409C-BE32-E72D297353CC}">
              <c16:uniqueId val="{00000002-9900-4DB8-8E81-8FEE2BB36BC5}"/>
            </c:ext>
          </c:extLst>
        </c:ser>
        <c:dLbls>
          <c:showLegendKey val="0"/>
          <c:showVal val="1"/>
          <c:showCatName val="0"/>
          <c:showSerName val="0"/>
          <c:showPercent val="0"/>
          <c:showBubbleSize val="0"/>
        </c:dLbls>
        <c:marker val="1"/>
        <c:smooth val="0"/>
        <c:axId val="1020489087"/>
        <c:axId val="1020488607"/>
      </c:lineChart>
      <c:catAx>
        <c:axId val="1020478047"/>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87167"/>
        <c:crosses val="autoZero"/>
        <c:auto val="1"/>
        <c:lblAlgn val="ctr"/>
        <c:lblOffset val="100"/>
        <c:noMultiLvlLbl val="0"/>
      </c:catAx>
      <c:valAx>
        <c:axId val="1020487167"/>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Monto</a:t>
                </a:r>
                <a:r>
                  <a:rPr lang="es-CO" baseline="0"/>
                  <a:t> de colocación</a:t>
                </a:r>
                <a:endParaRPr lang="es-CO"/>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78047"/>
        <c:crosses val="autoZero"/>
        <c:crossBetween val="between"/>
      </c:valAx>
      <c:valAx>
        <c:axId val="1020488607"/>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u="none" strike="noStrike" kern="1200" baseline="0">
                    <a:solidFill>
                      <a:sysClr val="windowText" lastClr="000000">
                        <a:lumMod val="65000"/>
                        <a:lumOff val="35000"/>
                      </a:sysClr>
                    </a:solidFill>
                  </a:rPr>
                  <a:t>Tasa promedio colocación</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89087"/>
        <c:crosses val="max"/>
        <c:crossBetween val="between"/>
      </c:valAx>
      <c:catAx>
        <c:axId val="1020489087"/>
        <c:scaling>
          <c:orientation val="minMax"/>
        </c:scaling>
        <c:delete val="1"/>
        <c:axPos val="b"/>
        <c:numFmt formatCode="General" sourceLinked="1"/>
        <c:majorTickMark val="none"/>
        <c:minorTickMark val="none"/>
        <c:tickLblPos val="nextTo"/>
        <c:crossAx val="102048860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sz="1600" b="1" i="0" u="none" strike="noStrike" kern="1200" baseline="0">
                <a:solidFill>
                  <a:sysClr val="windowText" lastClr="000000">
                    <a:lumMod val="65000"/>
                    <a:lumOff val="35000"/>
                  </a:sysClr>
                </a:solidFill>
              </a:rPr>
              <a:t>Compra vivienda NO VIS - Pesos - 20 años</a:t>
            </a:r>
          </a:p>
        </c:rich>
      </c:tx>
      <c:layout>
        <c:manualLayout>
          <c:xMode val="edge"/>
          <c:yMode val="edge"/>
          <c:x val="0.29731390859629681"/>
          <c:y val="2.6622312200367957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9.2692781249361866E-2"/>
          <c:y val="0.16397567740656543"/>
          <c:w val="0.8308475722619435"/>
          <c:h val="0.63913729883025006"/>
        </c:manualLayout>
      </c:layout>
      <c:barChart>
        <c:barDir val="col"/>
        <c:grouping val="clustered"/>
        <c:varyColors val="0"/>
        <c:ser>
          <c:idx val="1"/>
          <c:order val="1"/>
          <c:tx>
            <c:strRef>
              <c:f>Vivienda!$E$23</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1.585965182194931E-3"/>
                  <c:y val="0.35099831184646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17D-4432-9AB9-8E62F6F9318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Vivienda!$C$24:$C$31</c:f>
              <c:strCache>
                <c:ptCount val="7"/>
                <c:pt idx="0">
                  <c:v>17 entidades</c:v>
                </c:pt>
                <c:pt idx="1">
                  <c:v>Bancolombia</c:v>
                </c:pt>
                <c:pt idx="2">
                  <c:v>Banco Davivienda</c:v>
                </c:pt>
                <c:pt idx="3">
                  <c:v>Banco de Bogotá</c:v>
                </c:pt>
                <c:pt idx="4">
                  <c:v>Banco Caja Social S.A.</c:v>
                </c:pt>
                <c:pt idx="5">
                  <c:v>Banco de Occidente</c:v>
                </c:pt>
                <c:pt idx="6">
                  <c:v>PRESENTE</c:v>
                </c:pt>
              </c:strCache>
            </c:strRef>
          </c:cat>
          <c:val>
            <c:numRef>
              <c:f>Vivienda!$E$24:$E$31</c:f>
              <c:numCache>
                <c:formatCode>"$"\ #,##0</c:formatCode>
                <c:ptCount val="8"/>
                <c:pt idx="0">
                  <c:v>1120000</c:v>
                </c:pt>
                <c:pt idx="1">
                  <c:v>395411.24772412999</c:v>
                </c:pt>
                <c:pt idx="2">
                  <c:v>242297.449743</c:v>
                </c:pt>
                <c:pt idx="3">
                  <c:v>157341.13281400001</c:v>
                </c:pt>
                <c:pt idx="4">
                  <c:v>87597.549400999997</c:v>
                </c:pt>
                <c:pt idx="5">
                  <c:v>60527.600811999997</c:v>
                </c:pt>
                <c:pt idx="6">
                  <c:v>1213</c:v>
                </c:pt>
              </c:numCache>
            </c:numRef>
          </c:val>
          <c:extLst>
            <c:ext xmlns:c16="http://schemas.microsoft.com/office/drawing/2014/chart" uri="{C3380CC4-5D6E-409C-BE32-E72D297353CC}">
              <c16:uniqueId val="{00000001-817D-4432-9AB9-8E62F6F9318C}"/>
            </c:ext>
          </c:extLst>
        </c:ser>
        <c:ser>
          <c:idx val="0"/>
          <c:order val="0"/>
          <c:tx>
            <c:strRef>
              <c:f>Vivienda!$D$23</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1.110175627536451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17D-4432-9AB9-8E62F6F9318C}"/>
                </c:ext>
              </c:extLst>
            </c:dLbl>
            <c:dLbl>
              <c:idx val="1"/>
              <c:layout>
                <c:manualLayout>
                  <c:x val="9.515791093169585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17D-4432-9AB9-8E62F6F9318C}"/>
                </c:ext>
              </c:extLst>
            </c:dLbl>
            <c:dLbl>
              <c:idx val="6"/>
              <c:layout>
                <c:manualLayout>
                  <c:x val="1.7445617004144241E-2"/>
                  <c:y val="3.58161542700457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17D-4432-9AB9-8E62F6F9318C}"/>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Vivienda!$C$24:$C$31</c:f>
              <c:strCache>
                <c:ptCount val="7"/>
                <c:pt idx="0">
                  <c:v>17 entidades</c:v>
                </c:pt>
                <c:pt idx="1">
                  <c:v>Bancolombia</c:v>
                </c:pt>
                <c:pt idx="2">
                  <c:v>Banco Davivienda</c:v>
                </c:pt>
                <c:pt idx="3">
                  <c:v>Banco de Bogotá</c:v>
                </c:pt>
                <c:pt idx="4">
                  <c:v>Banco Caja Social S.A.</c:v>
                </c:pt>
                <c:pt idx="5">
                  <c:v>Banco de Occidente</c:v>
                </c:pt>
                <c:pt idx="6">
                  <c:v>PRESENTE</c:v>
                </c:pt>
              </c:strCache>
            </c:strRef>
          </c:cat>
          <c:val>
            <c:numRef>
              <c:f>Vivienda!$D$24:$D$31</c:f>
              <c:numCache>
                <c:formatCode>_-* #,##0_-;\-* #,##0_-;_-* "-"??_-;_-@_-</c:formatCode>
                <c:ptCount val="8"/>
                <c:pt idx="0">
                  <c:v>5149</c:v>
                </c:pt>
                <c:pt idx="1">
                  <c:v>1523</c:v>
                </c:pt>
                <c:pt idx="2">
                  <c:v>1071</c:v>
                </c:pt>
                <c:pt idx="3">
                  <c:v>806</c:v>
                </c:pt>
                <c:pt idx="4">
                  <c:v>606</c:v>
                </c:pt>
                <c:pt idx="5">
                  <c:v>218</c:v>
                </c:pt>
                <c:pt idx="6">
                  <c:v>6</c:v>
                </c:pt>
              </c:numCache>
            </c:numRef>
          </c:val>
          <c:extLst>
            <c:ext xmlns:c16="http://schemas.microsoft.com/office/drawing/2014/chart" uri="{C3380CC4-5D6E-409C-BE32-E72D297353CC}">
              <c16:uniqueId val="{00000005-817D-4432-9AB9-8E62F6F9318C}"/>
            </c:ext>
          </c:extLst>
        </c:ser>
        <c:dLbls>
          <c:showLegendKey val="0"/>
          <c:showVal val="1"/>
          <c:showCatName val="0"/>
          <c:showSerName val="0"/>
          <c:showPercent val="0"/>
          <c:showBubbleSize val="0"/>
        </c:dLbls>
        <c:gapWidth val="219"/>
        <c:axId val="329793120"/>
        <c:axId val="329792640"/>
      </c:barChart>
      <c:lineChart>
        <c:grouping val="standard"/>
        <c:varyColors val="0"/>
        <c:ser>
          <c:idx val="2"/>
          <c:order val="2"/>
          <c:tx>
            <c:strRef>
              <c:f>Vivienda!$F$23</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Vivienda!$C$24:$C$31</c:f>
              <c:strCache>
                <c:ptCount val="7"/>
                <c:pt idx="0">
                  <c:v>17 entidades</c:v>
                </c:pt>
                <c:pt idx="1">
                  <c:v>Bancolombia</c:v>
                </c:pt>
                <c:pt idx="2">
                  <c:v>Banco Davivienda</c:v>
                </c:pt>
                <c:pt idx="3">
                  <c:v>Banco de Bogotá</c:v>
                </c:pt>
                <c:pt idx="4">
                  <c:v>Banco Caja Social S.A.</c:v>
                </c:pt>
                <c:pt idx="5">
                  <c:v>Banco de Occidente</c:v>
                </c:pt>
                <c:pt idx="6">
                  <c:v>PRESENTE</c:v>
                </c:pt>
              </c:strCache>
            </c:strRef>
          </c:cat>
          <c:val>
            <c:numRef>
              <c:f>Vivienda!$F$24:$F$31</c:f>
              <c:numCache>
                <c:formatCode>0%</c:formatCode>
                <c:ptCount val="8"/>
                <c:pt idx="0" formatCode="0.00%">
                  <c:v>0.12939999999999999</c:v>
                </c:pt>
                <c:pt idx="1">
                  <c:v>0.13189999999999999</c:v>
                </c:pt>
                <c:pt idx="2" formatCode="0.00%">
                  <c:v>0.12230000000000001</c:v>
                </c:pt>
                <c:pt idx="3" formatCode="0.00%">
                  <c:v>0.12330000000000001</c:v>
                </c:pt>
                <c:pt idx="4" formatCode="0.00%">
                  <c:v>0.11700000000000001</c:v>
                </c:pt>
                <c:pt idx="5" formatCode="0.00%">
                  <c:v>0.1216</c:v>
                </c:pt>
                <c:pt idx="6" formatCode="0.00%">
                  <c:v>0.1137</c:v>
                </c:pt>
              </c:numCache>
            </c:numRef>
          </c:val>
          <c:smooth val="0"/>
          <c:extLst>
            <c:ext xmlns:c16="http://schemas.microsoft.com/office/drawing/2014/chart" uri="{C3380CC4-5D6E-409C-BE32-E72D297353CC}">
              <c16:uniqueId val="{00000006-817D-4432-9AB9-8E62F6F9318C}"/>
            </c:ext>
          </c:extLst>
        </c:ser>
        <c:dLbls>
          <c:showLegendKey val="0"/>
          <c:showVal val="0"/>
          <c:showCatName val="0"/>
          <c:showSerName val="0"/>
          <c:showPercent val="0"/>
          <c:showBubbleSize val="0"/>
        </c:dLbls>
        <c:marker val="1"/>
        <c:smooth val="0"/>
        <c:axId val="1042549983"/>
        <c:axId val="1042549503"/>
      </c:lineChart>
      <c:catAx>
        <c:axId val="329793120"/>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9792640"/>
        <c:crosses val="autoZero"/>
        <c:auto val="1"/>
        <c:lblAlgn val="ctr"/>
        <c:lblOffset val="100"/>
        <c:noMultiLvlLbl val="0"/>
      </c:catAx>
      <c:valAx>
        <c:axId val="329792640"/>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ysClr val="windowText" lastClr="000000">
                        <a:lumMod val="65000"/>
                        <a:lumOff val="35000"/>
                      </a:sysClr>
                    </a:solidFill>
                    <a:latin typeface="+mn-lt"/>
                    <a:ea typeface="+mn-ea"/>
                    <a:cs typeface="+mn-cs"/>
                  </a:defRPr>
                </a:pPr>
                <a:r>
                  <a:rPr lang="es-CO" sz="900" b="0" i="0" u="none" strike="noStrike" kern="1200" baseline="0">
                    <a:solidFill>
                      <a:sysClr val="windowText" lastClr="000000">
                        <a:lumMod val="65000"/>
                        <a:lumOff val="35000"/>
                      </a:sysClr>
                    </a:solidFill>
                  </a:rPr>
                  <a:t>Monto de colocación</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endParaRPr lang="es-CO"/>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ysClr val="windowText" lastClr="000000">
                      <a:lumMod val="65000"/>
                      <a:lumOff val="35000"/>
                    </a:sysClr>
                  </a:solidFill>
                  <a:latin typeface="+mn-lt"/>
                  <a:ea typeface="+mn-ea"/>
                  <a:cs typeface="+mn-cs"/>
                </a:defRPr>
              </a:pPr>
              <a:endParaRPr lang="es-CO"/>
            </a:p>
          </c:txPr>
        </c:title>
        <c:numFmt formatCode="&quot;$&quot;\ #,##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9793120"/>
        <c:crosses val="autoZero"/>
        <c:crossBetween val="between"/>
      </c:valAx>
      <c:valAx>
        <c:axId val="1042549503"/>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u="none" strike="noStrike" kern="1200" baseline="0">
                    <a:solidFill>
                      <a:sysClr val="windowText" lastClr="000000">
                        <a:lumMod val="65000"/>
                        <a:lumOff val="35000"/>
                      </a:sysClr>
                    </a:solidFill>
                  </a:rPr>
                  <a:t>Tasa promedio colocación</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42549983"/>
        <c:crosses val="max"/>
        <c:crossBetween val="between"/>
      </c:valAx>
      <c:catAx>
        <c:axId val="1042549983"/>
        <c:scaling>
          <c:orientation val="minMax"/>
        </c:scaling>
        <c:delete val="1"/>
        <c:axPos val="b"/>
        <c:numFmt formatCode="General" sourceLinked="1"/>
        <c:majorTickMark val="out"/>
        <c:minorTickMark val="none"/>
        <c:tickLblPos val="nextTo"/>
        <c:crossAx val="104254950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NO</a:t>
            </a:r>
            <a:r>
              <a:rPr lang="es-CO" baseline="0"/>
              <a:t> VIS -</a:t>
            </a:r>
            <a:r>
              <a:rPr lang="es-CO"/>
              <a:t> Pesos</a:t>
            </a:r>
            <a:r>
              <a:rPr lang="es-CO" baseline="0"/>
              <a:t> - superior </a:t>
            </a:r>
            <a:r>
              <a:rPr lang="es-CO"/>
              <a:t>20 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0.11415482169532923"/>
          <c:y val="0.15514258980513404"/>
          <c:w val="0.78744988624736201"/>
          <c:h val="0.56388397542817625"/>
        </c:manualLayout>
      </c:layout>
      <c:barChart>
        <c:barDir val="col"/>
        <c:grouping val="clustered"/>
        <c:varyColors val="0"/>
        <c:ser>
          <c:idx val="0"/>
          <c:order val="0"/>
          <c:tx>
            <c:strRef>
              <c:f>Vivienda!$D$33</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Vivienda!$C$34:$C$38</c:f>
              <c:strCache>
                <c:ptCount val="4"/>
                <c:pt idx="0">
                  <c:v>5 entidades</c:v>
                </c:pt>
                <c:pt idx="1">
                  <c:v>Banco Davibank</c:v>
                </c:pt>
                <c:pt idx="2">
                  <c:v>Scotiabank Colpatria S.A.</c:v>
                </c:pt>
                <c:pt idx="3">
                  <c:v>PRESENTE</c:v>
                </c:pt>
              </c:strCache>
            </c:strRef>
          </c:cat>
          <c:val>
            <c:numRef>
              <c:f>Vivienda!$D$34:$D$38</c:f>
              <c:numCache>
                <c:formatCode>_-* #,##0_-;\-* #,##0_-;_-* "-"??_-;_-@_-</c:formatCode>
                <c:ptCount val="5"/>
                <c:pt idx="0">
                  <c:v>17</c:v>
                </c:pt>
                <c:pt idx="1">
                  <c:v>7</c:v>
                </c:pt>
                <c:pt idx="2">
                  <c:v>7</c:v>
                </c:pt>
                <c:pt idx="3" formatCode="General">
                  <c:v>0</c:v>
                </c:pt>
              </c:numCache>
            </c:numRef>
          </c:val>
          <c:extLst>
            <c:ext xmlns:c16="http://schemas.microsoft.com/office/drawing/2014/chart" uri="{C3380CC4-5D6E-409C-BE32-E72D297353CC}">
              <c16:uniqueId val="{00000000-BC88-4561-9A1F-C6D84563B29B}"/>
            </c:ext>
          </c:extLst>
        </c:ser>
        <c:ser>
          <c:idx val="1"/>
          <c:order val="1"/>
          <c:tx>
            <c:strRef>
              <c:f>Vivienda!$E$33</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Vivienda!$C$34:$C$38</c:f>
              <c:strCache>
                <c:ptCount val="4"/>
                <c:pt idx="0">
                  <c:v>5 entidades</c:v>
                </c:pt>
                <c:pt idx="1">
                  <c:v>Banco Davibank</c:v>
                </c:pt>
                <c:pt idx="2">
                  <c:v>Scotiabank Colpatria S.A.</c:v>
                </c:pt>
                <c:pt idx="3">
                  <c:v>PRESENTE</c:v>
                </c:pt>
              </c:strCache>
            </c:strRef>
          </c:cat>
          <c:val>
            <c:numRef>
              <c:f>Vivienda!$E$34:$E$38</c:f>
              <c:numCache>
                <c:formatCode>"$"\ #,##0</c:formatCode>
                <c:ptCount val="5"/>
                <c:pt idx="0">
                  <c:v>5840</c:v>
                </c:pt>
                <c:pt idx="1">
                  <c:v>2579.9409569999998</c:v>
                </c:pt>
                <c:pt idx="2">
                  <c:v>2579.9409569999998</c:v>
                </c:pt>
                <c:pt idx="3" formatCode="General">
                  <c:v>0</c:v>
                </c:pt>
              </c:numCache>
            </c:numRef>
          </c:val>
          <c:extLst>
            <c:ext xmlns:c16="http://schemas.microsoft.com/office/drawing/2014/chart" uri="{C3380CC4-5D6E-409C-BE32-E72D297353CC}">
              <c16:uniqueId val="{00000001-BC88-4561-9A1F-C6D84563B29B}"/>
            </c:ext>
          </c:extLst>
        </c:ser>
        <c:dLbls>
          <c:showLegendKey val="0"/>
          <c:showVal val="1"/>
          <c:showCatName val="0"/>
          <c:showSerName val="0"/>
          <c:showPercent val="0"/>
          <c:showBubbleSize val="0"/>
        </c:dLbls>
        <c:gapWidth val="219"/>
        <c:axId val="323668784"/>
        <c:axId val="323672624"/>
      </c:barChart>
      <c:lineChart>
        <c:grouping val="standard"/>
        <c:varyColors val="0"/>
        <c:ser>
          <c:idx val="2"/>
          <c:order val="2"/>
          <c:tx>
            <c:strRef>
              <c:f>Vivienda!$F$33</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dLbl>
              <c:idx val="0"/>
              <c:layout>
                <c:manualLayout>
                  <c:x val="2.4509277308256045E-2"/>
                  <c:y val="4.54660103331841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C88-4561-9A1F-C6D84563B29B}"/>
                </c:ext>
              </c:extLst>
            </c:dLbl>
            <c:dLbl>
              <c:idx val="1"/>
              <c:layout>
                <c:manualLayout>
                  <c:x val="0"/>
                  <c:y val="-5.37325576664903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88-4561-9A1F-C6D84563B29B}"/>
                </c:ext>
              </c:extLst>
            </c:dLbl>
            <c:dLbl>
              <c:idx val="2"/>
              <c:layout>
                <c:manualLayout>
                  <c:x val="0"/>
                  <c:y val="-4.13327366665310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C88-4561-9A1F-C6D84563B29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Vivienda!$C$34:$C$38</c:f>
              <c:strCache>
                <c:ptCount val="4"/>
                <c:pt idx="0">
                  <c:v>5 entidades</c:v>
                </c:pt>
                <c:pt idx="1">
                  <c:v>Banco Davibank</c:v>
                </c:pt>
                <c:pt idx="2">
                  <c:v>Scotiabank Colpatria S.A.</c:v>
                </c:pt>
                <c:pt idx="3">
                  <c:v>PRESENTE</c:v>
                </c:pt>
              </c:strCache>
            </c:strRef>
          </c:cat>
          <c:val>
            <c:numRef>
              <c:f>Vivienda!$F$34:$F$38</c:f>
              <c:numCache>
                <c:formatCode>0.00%</c:formatCode>
                <c:ptCount val="5"/>
                <c:pt idx="0">
                  <c:v>0.1237</c:v>
                </c:pt>
                <c:pt idx="1">
                  <c:v>0.1152</c:v>
                </c:pt>
                <c:pt idx="2">
                  <c:v>0.1152</c:v>
                </c:pt>
                <c:pt idx="3" formatCode="General">
                  <c:v>0</c:v>
                </c:pt>
              </c:numCache>
            </c:numRef>
          </c:val>
          <c:smooth val="0"/>
          <c:extLst>
            <c:ext xmlns:c16="http://schemas.microsoft.com/office/drawing/2014/chart" uri="{C3380CC4-5D6E-409C-BE32-E72D297353CC}">
              <c16:uniqueId val="{00000005-BC88-4561-9A1F-C6D84563B29B}"/>
            </c:ext>
          </c:extLst>
        </c:ser>
        <c:dLbls>
          <c:showLegendKey val="0"/>
          <c:showVal val="1"/>
          <c:showCatName val="0"/>
          <c:showSerName val="0"/>
          <c:showPercent val="0"/>
          <c:showBubbleSize val="0"/>
        </c:dLbls>
        <c:marker val="1"/>
        <c:smooth val="0"/>
        <c:axId val="1254804896"/>
        <c:axId val="1254806816"/>
      </c:lineChart>
      <c:catAx>
        <c:axId val="323668784"/>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3672624"/>
        <c:crosses val="autoZero"/>
        <c:auto val="1"/>
        <c:lblAlgn val="ctr"/>
        <c:lblOffset val="100"/>
        <c:noMultiLvlLbl val="0"/>
      </c:catAx>
      <c:valAx>
        <c:axId val="323672624"/>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Monto de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23668784"/>
        <c:crosses val="autoZero"/>
        <c:crossBetween val="between"/>
      </c:valAx>
      <c:valAx>
        <c:axId val="1254806816"/>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Tasa promedio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54804896"/>
        <c:crosses val="max"/>
        <c:crossBetween val="between"/>
      </c:valAx>
      <c:catAx>
        <c:axId val="1254804896"/>
        <c:scaling>
          <c:orientation val="minMax"/>
        </c:scaling>
        <c:delete val="1"/>
        <c:axPos val="b"/>
        <c:numFmt formatCode="General" sourceLinked="1"/>
        <c:majorTickMark val="none"/>
        <c:minorTickMark val="none"/>
        <c:tickLblPos val="nextTo"/>
        <c:crossAx val="12548068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VIS - UVR</a:t>
            </a:r>
            <a:r>
              <a:rPr lang="es-CO" baseline="0"/>
              <a:t> -</a:t>
            </a:r>
            <a:r>
              <a:rPr lang="es-CO"/>
              <a:t> 20 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Vivienda!$M$2</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Vivienda!$L$3:$L$8</c:f>
              <c:strCache>
                <c:ptCount val="6"/>
                <c:pt idx="0">
                  <c:v>10 entidades</c:v>
                </c:pt>
                <c:pt idx="1">
                  <c:v>Davivienda</c:v>
                </c:pt>
                <c:pt idx="2">
                  <c:v>Banco caja social</c:v>
                </c:pt>
                <c:pt idx="3">
                  <c:v>Bancolombia</c:v>
                </c:pt>
                <c:pt idx="4">
                  <c:v>BBVA</c:v>
                </c:pt>
                <c:pt idx="5">
                  <c:v>PRESENTE</c:v>
                </c:pt>
              </c:strCache>
            </c:strRef>
          </c:cat>
          <c:val>
            <c:numRef>
              <c:f>Vivienda!$M$3:$M$8</c:f>
              <c:numCache>
                <c:formatCode>General</c:formatCode>
                <c:ptCount val="6"/>
                <c:pt idx="0" formatCode="_-* #,##0_-;\-* #,##0_-;_-* &quot;-&quot;??_-;_-@_-">
                  <c:v>765</c:v>
                </c:pt>
                <c:pt idx="1">
                  <c:v>171</c:v>
                </c:pt>
                <c:pt idx="2">
                  <c:v>168</c:v>
                </c:pt>
                <c:pt idx="3">
                  <c:v>138</c:v>
                </c:pt>
                <c:pt idx="4">
                  <c:v>115</c:v>
                </c:pt>
                <c:pt idx="5">
                  <c:v>0</c:v>
                </c:pt>
              </c:numCache>
            </c:numRef>
          </c:val>
          <c:extLst>
            <c:ext xmlns:c16="http://schemas.microsoft.com/office/drawing/2014/chart" uri="{C3380CC4-5D6E-409C-BE32-E72D297353CC}">
              <c16:uniqueId val="{00000000-DE6C-4ABA-A308-D9B584E92702}"/>
            </c:ext>
          </c:extLst>
        </c:ser>
        <c:ser>
          <c:idx val="1"/>
          <c:order val="1"/>
          <c:tx>
            <c:strRef>
              <c:f>Vivienda!$N$2</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Vivienda!$L$3:$L$8</c:f>
              <c:strCache>
                <c:ptCount val="6"/>
                <c:pt idx="0">
                  <c:v>10 entidades</c:v>
                </c:pt>
                <c:pt idx="1">
                  <c:v>Davivienda</c:v>
                </c:pt>
                <c:pt idx="2">
                  <c:v>Banco caja social</c:v>
                </c:pt>
                <c:pt idx="3">
                  <c:v>Bancolombia</c:v>
                </c:pt>
                <c:pt idx="4">
                  <c:v>BBVA</c:v>
                </c:pt>
                <c:pt idx="5">
                  <c:v>PRESENTE</c:v>
                </c:pt>
              </c:strCache>
            </c:strRef>
          </c:cat>
          <c:val>
            <c:numRef>
              <c:f>Vivienda!$N$3:$N$8</c:f>
              <c:numCache>
                <c:formatCode>"$"\ #,##0</c:formatCode>
                <c:ptCount val="6"/>
                <c:pt idx="0">
                  <c:v>78530</c:v>
                </c:pt>
                <c:pt idx="1">
                  <c:v>18148.374168999999</c:v>
                </c:pt>
                <c:pt idx="2">
                  <c:v>18065.610097000001</c:v>
                </c:pt>
                <c:pt idx="3">
                  <c:v>14657.024181000001</c:v>
                </c:pt>
                <c:pt idx="4">
                  <c:v>13413.544986999999</c:v>
                </c:pt>
                <c:pt idx="5" formatCode="General">
                  <c:v>0</c:v>
                </c:pt>
              </c:numCache>
            </c:numRef>
          </c:val>
          <c:extLst>
            <c:ext xmlns:c16="http://schemas.microsoft.com/office/drawing/2014/chart" uri="{C3380CC4-5D6E-409C-BE32-E72D297353CC}">
              <c16:uniqueId val="{00000001-DE6C-4ABA-A308-D9B584E92702}"/>
            </c:ext>
          </c:extLst>
        </c:ser>
        <c:dLbls>
          <c:showLegendKey val="0"/>
          <c:showVal val="1"/>
          <c:showCatName val="0"/>
          <c:showSerName val="0"/>
          <c:showPercent val="0"/>
          <c:showBubbleSize val="0"/>
        </c:dLbls>
        <c:gapWidth val="219"/>
        <c:axId val="594653247"/>
        <c:axId val="594655167"/>
      </c:barChart>
      <c:lineChart>
        <c:grouping val="standard"/>
        <c:varyColors val="0"/>
        <c:ser>
          <c:idx val="2"/>
          <c:order val="2"/>
          <c:tx>
            <c:strRef>
              <c:f>Vivienda!$O$2</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dLbl>
              <c:idx val="0"/>
              <c:layout>
                <c:manualLayout>
                  <c:x val="0"/>
                  <c:y val="-3.56963973621768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E6C-4ABA-A308-D9B584E92702}"/>
                </c:ext>
              </c:extLst>
            </c:dLbl>
            <c:dLbl>
              <c:idx val="3"/>
              <c:layout>
                <c:manualLayout>
                  <c:x val="-8.8845844903697405E-3"/>
                  <c:y val="4.28356768346120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E6C-4ABA-A308-D9B584E92702}"/>
                </c:ext>
              </c:extLst>
            </c:dLbl>
            <c:dLbl>
              <c:idx val="4"/>
              <c:layout>
                <c:manualLayout>
                  <c:x val="-2.3099919674961455E-2"/>
                  <c:y val="3.56963973621767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E6C-4ABA-A308-D9B584E9270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Vivienda!$L$3:$L$8</c:f>
              <c:strCache>
                <c:ptCount val="6"/>
                <c:pt idx="0">
                  <c:v>10 entidades</c:v>
                </c:pt>
                <c:pt idx="1">
                  <c:v>Davivienda</c:v>
                </c:pt>
                <c:pt idx="2">
                  <c:v>Banco caja social</c:v>
                </c:pt>
                <c:pt idx="3">
                  <c:v>Bancolombia</c:v>
                </c:pt>
                <c:pt idx="4">
                  <c:v>BBVA</c:v>
                </c:pt>
                <c:pt idx="5">
                  <c:v>PRESENTE</c:v>
                </c:pt>
              </c:strCache>
            </c:strRef>
          </c:cat>
          <c:val>
            <c:numRef>
              <c:f>Vivienda!$O$3:$O$8</c:f>
              <c:numCache>
                <c:formatCode>0.00%</c:formatCode>
                <c:ptCount val="6"/>
                <c:pt idx="0">
                  <c:v>0.1181</c:v>
                </c:pt>
                <c:pt idx="1">
                  <c:v>0.12369999999999999</c:v>
                </c:pt>
                <c:pt idx="2">
                  <c:v>0.113</c:v>
                </c:pt>
                <c:pt idx="3">
                  <c:v>0.12210000000000001</c:v>
                </c:pt>
                <c:pt idx="4">
                  <c:v>0.1082</c:v>
                </c:pt>
                <c:pt idx="5" formatCode="General">
                  <c:v>0</c:v>
                </c:pt>
              </c:numCache>
            </c:numRef>
          </c:val>
          <c:smooth val="0"/>
          <c:extLst>
            <c:ext xmlns:c16="http://schemas.microsoft.com/office/drawing/2014/chart" uri="{C3380CC4-5D6E-409C-BE32-E72D297353CC}">
              <c16:uniqueId val="{00000005-DE6C-4ABA-A308-D9B584E92702}"/>
            </c:ext>
          </c:extLst>
        </c:ser>
        <c:dLbls>
          <c:showLegendKey val="0"/>
          <c:showVal val="1"/>
          <c:showCatName val="0"/>
          <c:showSerName val="0"/>
          <c:showPercent val="0"/>
          <c:showBubbleSize val="0"/>
        </c:dLbls>
        <c:marker val="1"/>
        <c:smooth val="0"/>
        <c:axId val="594651327"/>
        <c:axId val="594643647"/>
      </c:lineChart>
      <c:catAx>
        <c:axId val="594653247"/>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594655167"/>
        <c:crosses val="autoZero"/>
        <c:auto val="1"/>
        <c:lblAlgn val="ctr"/>
        <c:lblOffset val="100"/>
        <c:noMultiLvlLbl val="0"/>
      </c:catAx>
      <c:valAx>
        <c:axId val="594655167"/>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Monto</a:t>
                </a:r>
                <a:r>
                  <a:rPr lang="es-CO" baseline="0"/>
                  <a:t> de colocación</a:t>
                </a:r>
                <a:endParaRPr lang="es-CO"/>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594653247"/>
        <c:crosses val="autoZero"/>
        <c:crossBetween val="between"/>
      </c:valAx>
      <c:valAx>
        <c:axId val="594643647"/>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a:t>Tasa</a:t>
                </a:r>
                <a:r>
                  <a:rPr lang="es-CO" baseline="0"/>
                  <a:t> pronedio colocación</a:t>
                </a:r>
              </a:p>
              <a:p>
                <a:pPr>
                  <a:defRPr/>
                </a:pPr>
                <a:endParaRPr lang="es-CO"/>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594651327"/>
        <c:crosses val="max"/>
        <c:crossBetween val="between"/>
      </c:valAx>
      <c:catAx>
        <c:axId val="594651327"/>
        <c:scaling>
          <c:orientation val="minMax"/>
        </c:scaling>
        <c:delete val="1"/>
        <c:axPos val="b"/>
        <c:numFmt formatCode="General" sourceLinked="1"/>
        <c:majorTickMark val="none"/>
        <c:minorTickMark val="none"/>
        <c:tickLblPos val="nextTo"/>
        <c:crossAx val="59464364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VIS</a:t>
            </a:r>
            <a:r>
              <a:rPr lang="es-CO" baseline="0"/>
              <a:t> -</a:t>
            </a:r>
            <a:r>
              <a:rPr lang="es-CO"/>
              <a:t> UVR</a:t>
            </a:r>
            <a:r>
              <a:rPr lang="es-CO" baseline="0"/>
              <a:t> - </a:t>
            </a:r>
            <a:r>
              <a:rPr lang="es-CO"/>
              <a:t>s</a:t>
            </a:r>
            <a:r>
              <a:rPr lang="es-CO" baseline="0"/>
              <a:t>uperior </a:t>
            </a:r>
            <a:r>
              <a:rPr lang="es-CO"/>
              <a:t>20 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Vivienda!$M$13</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Vivienda!$L$14:$L$18</c:f>
              <c:strCache>
                <c:ptCount val="5"/>
                <c:pt idx="0">
                  <c:v>8 entidades</c:v>
                </c:pt>
                <c:pt idx="1">
                  <c:v>Bancolombia</c:v>
                </c:pt>
                <c:pt idx="2">
                  <c:v>Banco Davivienda</c:v>
                </c:pt>
                <c:pt idx="3">
                  <c:v>Fondo Nacional del Ahorro</c:v>
                </c:pt>
                <c:pt idx="4">
                  <c:v>PRESENTE</c:v>
                </c:pt>
              </c:strCache>
            </c:strRef>
          </c:cat>
          <c:val>
            <c:numRef>
              <c:f>Vivienda!$M$14:$M$18</c:f>
              <c:numCache>
                <c:formatCode>_-* #,##0_-;\-* #,##0_-;_-* "-"??_-;_-@_-</c:formatCode>
                <c:ptCount val="5"/>
                <c:pt idx="0">
                  <c:v>2911</c:v>
                </c:pt>
                <c:pt idx="1">
                  <c:v>1112</c:v>
                </c:pt>
                <c:pt idx="2">
                  <c:v>774</c:v>
                </c:pt>
                <c:pt idx="3">
                  <c:v>687</c:v>
                </c:pt>
                <c:pt idx="4" formatCode="General">
                  <c:v>0</c:v>
                </c:pt>
              </c:numCache>
            </c:numRef>
          </c:val>
          <c:extLst>
            <c:ext xmlns:c16="http://schemas.microsoft.com/office/drawing/2014/chart" uri="{C3380CC4-5D6E-409C-BE32-E72D297353CC}">
              <c16:uniqueId val="{00000000-C267-4CE8-BA88-3A0C8F2C59E4}"/>
            </c:ext>
          </c:extLst>
        </c:ser>
        <c:ser>
          <c:idx val="1"/>
          <c:order val="1"/>
          <c:tx>
            <c:strRef>
              <c:f>Vivienda!$N$13</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Vivienda!$L$14:$L$18</c:f>
              <c:strCache>
                <c:ptCount val="5"/>
                <c:pt idx="0">
                  <c:v>8 entidades</c:v>
                </c:pt>
                <c:pt idx="1">
                  <c:v>Bancolombia</c:v>
                </c:pt>
                <c:pt idx="2">
                  <c:v>Banco Davivienda</c:v>
                </c:pt>
                <c:pt idx="3">
                  <c:v>Fondo Nacional del Ahorro</c:v>
                </c:pt>
                <c:pt idx="4">
                  <c:v>PRESENTE</c:v>
                </c:pt>
              </c:strCache>
            </c:strRef>
          </c:cat>
          <c:val>
            <c:numRef>
              <c:f>Vivienda!$N$14:$N$18</c:f>
              <c:numCache>
                <c:formatCode>"$"\ #,##0</c:formatCode>
                <c:ptCount val="5"/>
                <c:pt idx="0">
                  <c:v>326540</c:v>
                </c:pt>
                <c:pt idx="1">
                  <c:v>116610.49122663001</c:v>
                </c:pt>
                <c:pt idx="2">
                  <c:v>86300.432266000003</c:v>
                </c:pt>
                <c:pt idx="3">
                  <c:v>81367.9810194499</c:v>
                </c:pt>
                <c:pt idx="4" formatCode="General">
                  <c:v>0</c:v>
                </c:pt>
              </c:numCache>
            </c:numRef>
          </c:val>
          <c:extLst>
            <c:ext xmlns:c16="http://schemas.microsoft.com/office/drawing/2014/chart" uri="{C3380CC4-5D6E-409C-BE32-E72D297353CC}">
              <c16:uniqueId val="{00000001-C267-4CE8-BA88-3A0C8F2C59E4}"/>
            </c:ext>
          </c:extLst>
        </c:ser>
        <c:dLbls>
          <c:showLegendKey val="0"/>
          <c:showVal val="1"/>
          <c:showCatName val="0"/>
          <c:showSerName val="0"/>
          <c:showPercent val="0"/>
          <c:showBubbleSize val="0"/>
        </c:dLbls>
        <c:gapWidth val="219"/>
        <c:axId val="1020479487"/>
        <c:axId val="1020479967"/>
      </c:barChart>
      <c:lineChart>
        <c:grouping val="standard"/>
        <c:varyColors val="0"/>
        <c:ser>
          <c:idx val="2"/>
          <c:order val="2"/>
          <c:tx>
            <c:strRef>
              <c:f>Vivienda!$O$13</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dLbl>
              <c:idx val="0"/>
              <c:layout>
                <c:manualLayout>
                  <c:x val="2.4912539890889207E-2"/>
                  <c:y val="2.2008777516387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267-4CE8-BA88-3A0C8F2C59E4}"/>
                </c:ext>
              </c:extLst>
            </c:dLbl>
            <c:dLbl>
              <c:idx val="1"/>
              <c:layout>
                <c:manualLayout>
                  <c:x val="-5.3384014051905517E-3"/>
                  <c:y val="-2.9345036688516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267-4CE8-BA88-3A0C8F2C59E4}"/>
                </c:ext>
              </c:extLst>
            </c:dLbl>
            <c:dLbl>
              <c:idx val="3"/>
              <c:layout>
                <c:manualLayout>
                  <c:x val="-4.0927744106461023E-2"/>
                  <c:y val="-8.43669804794851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267-4CE8-BA88-3A0C8F2C59E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Vivienda!$L$14:$L$18</c:f>
              <c:strCache>
                <c:ptCount val="5"/>
                <c:pt idx="0">
                  <c:v>8 entidades</c:v>
                </c:pt>
                <c:pt idx="1">
                  <c:v>Bancolombia</c:v>
                </c:pt>
                <c:pt idx="2">
                  <c:v>Banco Davivienda</c:v>
                </c:pt>
                <c:pt idx="3">
                  <c:v>Fondo Nacional del Ahorro</c:v>
                </c:pt>
                <c:pt idx="4">
                  <c:v>PRESENTE</c:v>
                </c:pt>
              </c:strCache>
            </c:strRef>
          </c:cat>
          <c:val>
            <c:numRef>
              <c:f>Vivienda!$O$14:$O$18</c:f>
              <c:numCache>
                <c:formatCode>0.00%</c:formatCode>
                <c:ptCount val="5"/>
                <c:pt idx="0">
                  <c:v>0.11600000000000001</c:v>
                </c:pt>
                <c:pt idx="1">
                  <c:v>0.1226</c:v>
                </c:pt>
                <c:pt idx="2">
                  <c:v>0.12359999999999999</c:v>
                </c:pt>
                <c:pt idx="3">
                  <c:v>0.1012</c:v>
                </c:pt>
                <c:pt idx="4" formatCode="General">
                  <c:v>0</c:v>
                </c:pt>
              </c:numCache>
            </c:numRef>
          </c:val>
          <c:smooth val="0"/>
          <c:extLst>
            <c:ext xmlns:c16="http://schemas.microsoft.com/office/drawing/2014/chart" uri="{C3380CC4-5D6E-409C-BE32-E72D297353CC}">
              <c16:uniqueId val="{00000005-C267-4CE8-BA88-3A0C8F2C59E4}"/>
            </c:ext>
          </c:extLst>
        </c:ser>
        <c:dLbls>
          <c:showLegendKey val="0"/>
          <c:showVal val="1"/>
          <c:showCatName val="0"/>
          <c:showSerName val="0"/>
          <c:showPercent val="0"/>
          <c:showBubbleSize val="0"/>
        </c:dLbls>
        <c:marker val="1"/>
        <c:smooth val="0"/>
        <c:axId val="1020483807"/>
        <c:axId val="1020483327"/>
      </c:lineChart>
      <c:catAx>
        <c:axId val="1020479487"/>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79967"/>
        <c:crosses val="autoZero"/>
        <c:auto val="1"/>
        <c:lblAlgn val="ctr"/>
        <c:lblOffset val="100"/>
        <c:noMultiLvlLbl val="0"/>
      </c:catAx>
      <c:valAx>
        <c:axId val="1020479967"/>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ysClr val="windowText" lastClr="000000">
                        <a:lumMod val="65000"/>
                        <a:lumOff val="35000"/>
                      </a:sysClr>
                    </a:solidFill>
                    <a:latin typeface="+mn-lt"/>
                    <a:ea typeface="+mn-ea"/>
                    <a:cs typeface="+mn-cs"/>
                  </a:defRPr>
                </a:pPr>
                <a:r>
                  <a:rPr lang="es-CO" sz="900" b="0" i="0" u="none" strike="noStrike" kern="1200" baseline="0">
                    <a:solidFill>
                      <a:sysClr val="windowText" lastClr="000000">
                        <a:lumMod val="65000"/>
                        <a:lumOff val="35000"/>
                      </a:sysClr>
                    </a:solidFill>
                  </a:rPr>
                  <a:t>Monto de colocación</a:t>
                </a: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ysClr val="windowText" lastClr="000000">
                      <a:lumMod val="65000"/>
                      <a:lumOff val="35000"/>
                    </a:sys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79487"/>
        <c:crosses val="autoZero"/>
        <c:crossBetween val="between"/>
      </c:valAx>
      <c:valAx>
        <c:axId val="1020483327"/>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u="none" strike="noStrike" kern="1200" baseline="0">
                    <a:solidFill>
                      <a:sysClr val="windowText" lastClr="000000">
                        <a:lumMod val="65000"/>
                        <a:lumOff val="35000"/>
                      </a:sysClr>
                    </a:solidFill>
                  </a:rPr>
                  <a:t>Tasa promedio colocación</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0483807"/>
        <c:crosses val="max"/>
        <c:crossBetween val="between"/>
      </c:valAx>
      <c:catAx>
        <c:axId val="1020483807"/>
        <c:scaling>
          <c:orientation val="minMax"/>
        </c:scaling>
        <c:delete val="1"/>
        <c:axPos val="b"/>
        <c:numFmt formatCode="General" sourceLinked="1"/>
        <c:majorTickMark val="none"/>
        <c:minorTickMark val="none"/>
        <c:tickLblPos val="nextTo"/>
        <c:crossAx val="102048332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NO</a:t>
            </a:r>
            <a:r>
              <a:rPr lang="es-CO" baseline="0"/>
              <a:t> VIS -</a:t>
            </a:r>
            <a:r>
              <a:rPr lang="es-CO"/>
              <a:t> UVR</a:t>
            </a:r>
            <a:r>
              <a:rPr lang="es-CO" baseline="0"/>
              <a:t> - </a:t>
            </a:r>
            <a:r>
              <a:rPr lang="es-CO"/>
              <a:t>20 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Vivienda!$M$22</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Vivienda!$L$23:$L$29</c:f>
              <c:strCache>
                <c:ptCount val="6"/>
                <c:pt idx="0">
                  <c:v>9 entidades</c:v>
                </c:pt>
                <c:pt idx="1">
                  <c:v>Bancolombia</c:v>
                </c:pt>
                <c:pt idx="2">
                  <c:v>BBVA Colombia</c:v>
                </c:pt>
                <c:pt idx="3">
                  <c:v>Banco Caja Social S.A.</c:v>
                </c:pt>
                <c:pt idx="4">
                  <c:v>Fondo Nacional del Ahorro</c:v>
                </c:pt>
                <c:pt idx="5">
                  <c:v>PRESENTE</c:v>
                </c:pt>
              </c:strCache>
            </c:strRef>
          </c:cat>
          <c:val>
            <c:numRef>
              <c:f>Vivienda!$M$23:$M$29</c:f>
              <c:numCache>
                <c:formatCode>_-* #,##0_-;\-* #,##0_-;_-* "-"??_-;_-@_-</c:formatCode>
                <c:ptCount val="7"/>
                <c:pt idx="0">
                  <c:v>108</c:v>
                </c:pt>
                <c:pt idx="1">
                  <c:v>41</c:v>
                </c:pt>
                <c:pt idx="2">
                  <c:v>25</c:v>
                </c:pt>
                <c:pt idx="3">
                  <c:v>18</c:v>
                </c:pt>
                <c:pt idx="4">
                  <c:v>7</c:v>
                </c:pt>
                <c:pt idx="5" formatCode="General">
                  <c:v>0</c:v>
                </c:pt>
              </c:numCache>
            </c:numRef>
          </c:val>
          <c:extLst>
            <c:ext xmlns:c16="http://schemas.microsoft.com/office/drawing/2014/chart" uri="{C3380CC4-5D6E-409C-BE32-E72D297353CC}">
              <c16:uniqueId val="{00000000-64C7-4CBF-9583-712A2E8964A0}"/>
            </c:ext>
          </c:extLst>
        </c:ser>
        <c:ser>
          <c:idx val="1"/>
          <c:order val="1"/>
          <c:tx>
            <c:strRef>
              <c:f>Vivienda!$N$22</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Vivienda!$L$23:$L$29</c:f>
              <c:strCache>
                <c:ptCount val="6"/>
                <c:pt idx="0">
                  <c:v>9 entidades</c:v>
                </c:pt>
                <c:pt idx="1">
                  <c:v>Bancolombia</c:v>
                </c:pt>
                <c:pt idx="2">
                  <c:v>BBVA Colombia</c:v>
                </c:pt>
                <c:pt idx="3">
                  <c:v>Banco Caja Social S.A.</c:v>
                </c:pt>
                <c:pt idx="4">
                  <c:v>Fondo Nacional del Ahorro</c:v>
                </c:pt>
                <c:pt idx="5">
                  <c:v>PRESENTE</c:v>
                </c:pt>
              </c:strCache>
            </c:strRef>
          </c:cat>
          <c:val>
            <c:numRef>
              <c:f>Vivienda!$N$23:$N$29</c:f>
              <c:numCache>
                <c:formatCode>"$"\ #,##0</c:formatCode>
                <c:ptCount val="7"/>
                <c:pt idx="0">
                  <c:v>22670</c:v>
                </c:pt>
                <c:pt idx="1">
                  <c:v>9841.5824373700016</c:v>
                </c:pt>
                <c:pt idx="2">
                  <c:v>4909.9303300000001</c:v>
                </c:pt>
                <c:pt idx="3">
                  <c:v>3053.3663539999998</c:v>
                </c:pt>
                <c:pt idx="4">
                  <c:v>1588.375644</c:v>
                </c:pt>
                <c:pt idx="5" formatCode="General">
                  <c:v>0</c:v>
                </c:pt>
              </c:numCache>
            </c:numRef>
          </c:val>
          <c:extLst>
            <c:ext xmlns:c16="http://schemas.microsoft.com/office/drawing/2014/chart" uri="{C3380CC4-5D6E-409C-BE32-E72D297353CC}">
              <c16:uniqueId val="{00000001-64C7-4CBF-9583-712A2E8964A0}"/>
            </c:ext>
          </c:extLst>
        </c:ser>
        <c:dLbls>
          <c:showLegendKey val="0"/>
          <c:showVal val="1"/>
          <c:showCatName val="0"/>
          <c:showSerName val="0"/>
          <c:showPercent val="0"/>
          <c:showBubbleSize val="0"/>
        </c:dLbls>
        <c:gapWidth val="219"/>
        <c:axId val="393419376"/>
        <c:axId val="393420816"/>
      </c:barChart>
      <c:lineChart>
        <c:grouping val="standard"/>
        <c:varyColors val="0"/>
        <c:ser>
          <c:idx val="2"/>
          <c:order val="2"/>
          <c:tx>
            <c:strRef>
              <c:f>Vivienda!$O$22</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Vivienda!$L$23:$L$29</c:f>
              <c:strCache>
                <c:ptCount val="6"/>
                <c:pt idx="0">
                  <c:v>9 entidades</c:v>
                </c:pt>
                <c:pt idx="1">
                  <c:v>Bancolombia</c:v>
                </c:pt>
                <c:pt idx="2">
                  <c:v>BBVA Colombia</c:v>
                </c:pt>
                <c:pt idx="3">
                  <c:v>Banco Caja Social S.A.</c:v>
                </c:pt>
                <c:pt idx="4">
                  <c:v>Fondo Nacional del Ahorro</c:v>
                </c:pt>
                <c:pt idx="5">
                  <c:v>PRESENTE</c:v>
                </c:pt>
              </c:strCache>
            </c:strRef>
          </c:cat>
          <c:val>
            <c:numRef>
              <c:f>Vivienda!$O$23:$O$29</c:f>
              <c:numCache>
                <c:formatCode>0.00%</c:formatCode>
                <c:ptCount val="7"/>
                <c:pt idx="0">
                  <c:v>0.1331</c:v>
                </c:pt>
                <c:pt idx="1">
                  <c:v>0.1401</c:v>
                </c:pt>
                <c:pt idx="2">
                  <c:v>0.12590000000000001</c:v>
                </c:pt>
                <c:pt idx="3">
                  <c:v>0.1263</c:v>
                </c:pt>
                <c:pt idx="4">
                  <c:v>0.1308</c:v>
                </c:pt>
                <c:pt idx="5" formatCode="General">
                  <c:v>0</c:v>
                </c:pt>
              </c:numCache>
            </c:numRef>
          </c:val>
          <c:smooth val="0"/>
          <c:extLst>
            <c:ext xmlns:c16="http://schemas.microsoft.com/office/drawing/2014/chart" uri="{C3380CC4-5D6E-409C-BE32-E72D297353CC}">
              <c16:uniqueId val="{00000002-64C7-4CBF-9583-712A2E8964A0}"/>
            </c:ext>
          </c:extLst>
        </c:ser>
        <c:dLbls>
          <c:showLegendKey val="0"/>
          <c:showVal val="1"/>
          <c:showCatName val="0"/>
          <c:showSerName val="0"/>
          <c:showPercent val="0"/>
          <c:showBubbleSize val="0"/>
        </c:dLbls>
        <c:marker val="1"/>
        <c:smooth val="0"/>
        <c:axId val="232251984"/>
        <c:axId val="232256784"/>
      </c:lineChart>
      <c:catAx>
        <c:axId val="393419376"/>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93420816"/>
        <c:crosses val="autoZero"/>
        <c:auto val="1"/>
        <c:lblAlgn val="ctr"/>
        <c:lblOffset val="100"/>
        <c:noMultiLvlLbl val="0"/>
      </c:catAx>
      <c:valAx>
        <c:axId val="393420816"/>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Monto de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93419376"/>
        <c:crosses val="autoZero"/>
        <c:crossBetween val="between"/>
      </c:valAx>
      <c:valAx>
        <c:axId val="232256784"/>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Tasa promedio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32251984"/>
        <c:crosses val="max"/>
        <c:crossBetween val="between"/>
      </c:valAx>
      <c:catAx>
        <c:axId val="232251984"/>
        <c:scaling>
          <c:orientation val="minMax"/>
        </c:scaling>
        <c:delete val="1"/>
        <c:axPos val="b"/>
        <c:numFmt formatCode="General" sourceLinked="1"/>
        <c:majorTickMark val="none"/>
        <c:minorTickMark val="none"/>
        <c:tickLblPos val="nextTo"/>
        <c:crossAx val="2322567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CO"/>
              <a:t>Compra vivienda no vis UVR, </a:t>
            </a:r>
            <a:r>
              <a:rPr lang="es-CO" baseline="0"/>
              <a:t> &gt;</a:t>
            </a:r>
            <a:r>
              <a:rPr lang="es-CO"/>
              <a:t>20 años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Vivienda!$M$38</c:f>
              <c:strCache>
                <c:ptCount val="1"/>
                <c:pt idx="0">
                  <c:v># DESEMBOLSOS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Vivienda!$L$39:$L$42</c:f>
              <c:strCache>
                <c:ptCount val="4"/>
                <c:pt idx="0">
                  <c:v>5 entidades</c:v>
                </c:pt>
                <c:pt idx="1">
                  <c:v>Bancolombia</c:v>
                </c:pt>
                <c:pt idx="2">
                  <c:v>Fondo Nacional del Ahorro</c:v>
                </c:pt>
                <c:pt idx="3">
                  <c:v>PRESENTE</c:v>
                </c:pt>
              </c:strCache>
            </c:strRef>
          </c:cat>
          <c:val>
            <c:numRef>
              <c:f>Vivienda!$M$39:$M$42</c:f>
              <c:numCache>
                <c:formatCode>_-* #,##0_-;\-* #,##0_-;_-* "-"??_-;_-@_-</c:formatCode>
                <c:ptCount val="4"/>
                <c:pt idx="0">
                  <c:v>257</c:v>
                </c:pt>
                <c:pt idx="1">
                  <c:v>166</c:v>
                </c:pt>
                <c:pt idx="2">
                  <c:v>71</c:v>
                </c:pt>
                <c:pt idx="3" formatCode="General">
                  <c:v>0</c:v>
                </c:pt>
              </c:numCache>
            </c:numRef>
          </c:val>
          <c:extLst>
            <c:ext xmlns:c16="http://schemas.microsoft.com/office/drawing/2014/chart" uri="{C3380CC4-5D6E-409C-BE32-E72D297353CC}">
              <c16:uniqueId val="{00000000-711F-4EF9-B88F-DBBF4AF143BA}"/>
            </c:ext>
          </c:extLst>
        </c:ser>
        <c:ser>
          <c:idx val="1"/>
          <c:order val="1"/>
          <c:tx>
            <c:strRef>
              <c:f>Vivienda!$N$38</c:f>
              <c:strCache>
                <c:ptCount val="1"/>
                <c:pt idx="0">
                  <c:v>$ DESEMBOLSOS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Vivienda!$L$39:$L$42</c:f>
              <c:strCache>
                <c:ptCount val="4"/>
                <c:pt idx="0">
                  <c:v>5 entidades</c:v>
                </c:pt>
                <c:pt idx="1">
                  <c:v>Bancolombia</c:v>
                </c:pt>
                <c:pt idx="2">
                  <c:v>Fondo Nacional del Ahorro</c:v>
                </c:pt>
                <c:pt idx="3">
                  <c:v>PRESENTE</c:v>
                </c:pt>
              </c:strCache>
            </c:strRef>
          </c:cat>
          <c:val>
            <c:numRef>
              <c:f>Vivienda!$N$39:$N$42</c:f>
              <c:numCache>
                <c:formatCode>"$"\ #,##0</c:formatCode>
                <c:ptCount val="4"/>
                <c:pt idx="0">
                  <c:v>57300</c:v>
                </c:pt>
                <c:pt idx="1">
                  <c:v>38126.841625970002</c:v>
                </c:pt>
                <c:pt idx="2">
                  <c:v>14635.36300886</c:v>
                </c:pt>
                <c:pt idx="3" formatCode="General">
                  <c:v>0</c:v>
                </c:pt>
              </c:numCache>
            </c:numRef>
          </c:val>
          <c:extLst>
            <c:ext xmlns:c16="http://schemas.microsoft.com/office/drawing/2014/chart" uri="{C3380CC4-5D6E-409C-BE32-E72D297353CC}">
              <c16:uniqueId val="{00000001-711F-4EF9-B88F-DBBF4AF143BA}"/>
            </c:ext>
          </c:extLst>
        </c:ser>
        <c:dLbls>
          <c:showLegendKey val="0"/>
          <c:showVal val="1"/>
          <c:showCatName val="0"/>
          <c:showSerName val="0"/>
          <c:showPercent val="0"/>
          <c:showBubbleSize val="0"/>
        </c:dLbls>
        <c:gapWidth val="219"/>
        <c:axId val="846993967"/>
        <c:axId val="846993487"/>
      </c:barChart>
      <c:lineChart>
        <c:grouping val="standard"/>
        <c:varyColors val="0"/>
        <c:ser>
          <c:idx val="2"/>
          <c:order val="2"/>
          <c:tx>
            <c:strRef>
              <c:f>Vivienda!$O$38</c:f>
              <c:strCache>
                <c:ptCount val="1"/>
                <c:pt idx="0">
                  <c:v>TPP</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Vivienda!$L$39:$L$42</c:f>
              <c:strCache>
                <c:ptCount val="4"/>
                <c:pt idx="0">
                  <c:v>5 entidades</c:v>
                </c:pt>
                <c:pt idx="1">
                  <c:v>Bancolombia</c:v>
                </c:pt>
                <c:pt idx="2">
                  <c:v>Fondo Nacional del Ahorro</c:v>
                </c:pt>
                <c:pt idx="3">
                  <c:v>PRESENTE</c:v>
                </c:pt>
              </c:strCache>
            </c:strRef>
          </c:cat>
          <c:val>
            <c:numRef>
              <c:f>Vivienda!$O$40:$O$42</c:f>
              <c:numCache>
                <c:formatCode>0.00%</c:formatCode>
                <c:ptCount val="3"/>
                <c:pt idx="0">
                  <c:v>0.14019999999999999</c:v>
                </c:pt>
                <c:pt idx="1">
                  <c:v>0.12429999999999999</c:v>
                </c:pt>
                <c:pt idx="2" formatCode="General">
                  <c:v>0</c:v>
                </c:pt>
              </c:numCache>
            </c:numRef>
          </c:val>
          <c:smooth val="0"/>
          <c:extLst>
            <c:ext xmlns:c16="http://schemas.microsoft.com/office/drawing/2014/chart" uri="{C3380CC4-5D6E-409C-BE32-E72D297353CC}">
              <c16:uniqueId val="{00000002-711F-4EF9-B88F-DBBF4AF143BA}"/>
            </c:ext>
          </c:extLst>
        </c:ser>
        <c:dLbls>
          <c:showLegendKey val="0"/>
          <c:showVal val="1"/>
          <c:showCatName val="0"/>
          <c:showSerName val="0"/>
          <c:showPercent val="0"/>
          <c:showBubbleSize val="0"/>
        </c:dLbls>
        <c:marker val="1"/>
        <c:smooth val="0"/>
        <c:axId val="846986767"/>
        <c:axId val="846981967"/>
      </c:lineChart>
      <c:catAx>
        <c:axId val="846993967"/>
        <c:scaling>
          <c:orientation val="minMax"/>
        </c:scaling>
        <c:delete val="0"/>
        <c:axPos val="b"/>
        <c:title>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46993487"/>
        <c:crosses val="autoZero"/>
        <c:auto val="1"/>
        <c:lblAlgn val="ctr"/>
        <c:lblOffset val="100"/>
        <c:noMultiLvlLbl val="0"/>
      </c:catAx>
      <c:valAx>
        <c:axId val="846993487"/>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Monto de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46993967"/>
        <c:crosses val="autoZero"/>
        <c:crossBetween val="between"/>
      </c:valAx>
      <c:valAx>
        <c:axId val="846981967"/>
        <c:scaling>
          <c:orientation val="minMax"/>
        </c:scaling>
        <c:delete val="0"/>
        <c:axPos val="r"/>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s-CO" sz="900" b="0" i="0" baseline="0">
                    <a:effectLst/>
                  </a:rPr>
                  <a:t>Tasa promedio colocación</a:t>
                </a:r>
                <a:endParaRPr lang="es-CO" sz="90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46986767"/>
        <c:crosses val="max"/>
        <c:crossBetween val="between"/>
      </c:valAx>
      <c:catAx>
        <c:axId val="846986767"/>
        <c:scaling>
          <c:orientation val="minMax"/>
        </c:scaling>
        <c:delete val="1"/>
        <c:axPos val="b"/>
        <c:numFmt formatCode="General" sourceLinked="1"/>
        <c:majorTickMark val="none"/>
        <c:minorTickMark val="none"/>
        <c:tickLblPos val="nextTo"/>
        <c:crossAx val="84698196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496346230102536E-2"/>
          <c:y val="0.16723647959048774"/>
          <c:w val="0.87569364980456577"/>
          <c:h val="0.58767982779131023"/>
        </c:manualLayout>
      </c:layout>
      <c:lineChart>
        <c:grouping val="standard"/>
        <c:varyColors val="0"/>
        <c:ser>
          <c:idx val="0"/>
          <c:order val="0"/>
          <c:tx>
            <c:strRef>
              <c:f>Hoja1!$B$1</c:f>
              <c:strCache>
                <c:ptCount val="1"/>
                <c:pt idx="0">
                  <c:v>Saldo total pasivos</c:v>
                </c:pt>
              </c:strCache>
            </c:strRef>
          </c:tx>
          <c:spPr>
            <a:ln w="9525" cap="rnd">
              <a:solidFill>
                <a:srgbClr val="BD20E8"/>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ln>
                      <a:solidFill>
                        <a:srgbClr val="BD20E8"/>
                      </a:solidFill>
                    </a:ln>
                    <a:solidFill>
                      <a:schemeClr val="accent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Hoja1!$B$48:$B$60</c:f>
              <c:numCache>
                <c:formatCode>_-* #,##0_-;\-* #,##0_-;_-* "-"??_-;_-@_-</c:formatCode>
                <c:ptCount val="13"/>
                <c:pt idx="0">
                  <c:v>207183.73129920999</c:v>
                </c:pt>
                <c:pt idx="1">
                  <c:v>187707.39814871998</c:v>
                </c:pt>
                <c:pt idx="2">
                  <c:v>189281.71066148003</c:v>
                </c:pt>
                <c:pt idx="3">
                  <c:v>192419.37788324</c:v>
                </c:pt>
                <c:pt idx="4">
                  <c:v>191423.53834116002</c:v>
                </c:pt>
                <c:pt idx="5">
                  <c:v>191983.07308726001</c:v>
                </c:pt>
                <c:pt idx="6">
                  <c:v>198131.00603083998</c:v>
                </c:pt>
                <c:pt idx="7">
                  <c:v>195237.966105</c:v>
                </c:pt>
                <c:pt idx="8">
                  <c:v>200242.75925951998</c:v>
                </c:pt>
                <c:pt idx="9">
                  <c:v>203471.811456</c:v>
                </c:pt>
                <c:pt idx="10">
                  <c:v>206135.59787999999</c:v>
                </c:pt>
                <c:pt idx="11">
                  <c:v>210620.88076599999</c:v>
                </c:pt>
                <c:pt idx="12">
                  <c:v>221894.04474500002</c:v>
                </c:pt>
              </c:numCache>
            </c:numRef>
          </c:val>
          <c:smooth val="0"/>
          <c:extLst>
            <c:ext xmlns:c16="http://schemas.microsoft.com/office/drawing/2014/chart" uri="{C3380CC4-5D6E-409C-BE32-E72D297353CC}">
              <c16:uniqueId val="{00000000-2297-4AD3-AD27-F0C7C476661D}"/>
            </c:ext>
          </c:extLst>
        </c:ser>
        <c:ser>
          <c:idx val="1"/>
          <c:order val="1"/>
          <c:tx>
            <c:strRef>
              <c:f>Hoja1!$C$1</c:f>
              <c:strCache>
                <c:ptCount val="1"/>
                <c:pt idx="0">
                  <c:v>CDATs</c:v>
                </c:pt>
              </c:strCache>
            </c:strRef>
          </c:tx>
          <c:spPr>
            <a:ln w="12700"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2"/>
                      </a:solidFill>
                    </a:ln>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Hoja1!$C$48:$C$60</c:f>
              <c:numCache>
                <c:formatCode>_-* #,##0_-;\-* #,##0_-;_-* "-"??_-;_-@_-</c:formatCode>
                <c:ptCount val="13"/>
                <c:pt idx="0">
                  <c:v>87723.37234039999</c:v>
                </c:pt>
                <c:pt idx="1">
                  <c:v>89551.24295439999</c:v>
                </c:pt>
                <c:pt idx="2">
                  <c:v>91352.12850240001</c:v>
                </c:pt>
                <c:pt idx="3">
                  <c:v>92480.890455999994</c:v>
                </c:pt>
                <c:pt idx="4">
                  <c:v>92822.723035000003</c:v>
                </c:pt>
                <c:pt idx="5">
                  <c:v>92923.129864999995</c:v>
                </c:pt>
                <c:pt idx="6">
                  <c:v>93039.532621999999</c:v>
                </c:pt>
                <c:pt idx="7">
                  <c:v>96739.680731</c:v>
                </c:pt>
                <c:pt idx="8">
                  <c:v>100212.81626199999</c:v>
                </c:pt>
                <c:pt idx="9">
                  <c:v>103031.082476</c:v>
                </c:pt>
                <c:pt idx="10">
                  <c:v>107019.998305</c:v>
                </c:pt>
                <c:pt idx="11">
                  <c:v>107711.847996</c:v>
                </c:pt>
                <c:pt idx="12">
                  <c:v>110869.99139</c:v>
                </c:pt>
              </c:numCache>
            </c:numRef>
          </c:val>
          <c:smooth val="0"/>
          <c:extLst>
            <c:ext xmlns:c16="http://schemas.microsoft.com/office/drawing/2014/chart" uri="{C3380CC4-5D6E-409C-BE32-E72D297353CC}">
              <c16:uniqueId val="{00000001-2297-4AD3-AD27-F0C7C476661D}"/>
            </c:ext>
          </c:extLst>
        </c:ser>
        <c:ser>
          <c:idx val="2"/>
          <c:order val="2"/>
          <c:tx>
            <c:strRef>
              <c:f>Hoja1!$D$1</c:f>
              <c:strCache>
                <c:ptCount val="1"/>
                <c:pt idx="0">
                  <c:v>Ahorros Programados</c:v>
                </c:pt>
              </c:strCache>
            </c:strRef>
          </c:tx>
          <c:spPr>
            <a:ln w="9525" cap="rnd">
              <a:solidFill>
                <a:srgbClr val="92D050"/>
              </a:solidFill>
              <a:round/>
            </a:ln>
            <a:effectLst/>
          </c:spPr>
          <c:marker>
            <c:symbol val="circle"/>
            <c:size val="5"/>
            <c:spPr>
              <a:solidFill>
                <a:srgbClr val="00CC00"/>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ln>
                      <a:solidFill>
                        <a:srgbClr val="92D050"/>
                      </a:solidFill>
                    </a:ln>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Hoja1!$D$48:$D$60</c:f>
              <c:numCache>
                <c:formatCode>_-* #,##0_-;\-* #,##0_-;_-* "-"??_-;_-@_-</c:formatCode>
                <c:ptCount val="13"/>
                <c:pt idx="0">
                  <c:v>9512.7389870000006</c:v>
                </c:pt>
                <c:pt idx="1">
                  <c:v>10492.840273</c:v>
                </c:pt>
                <c:pt idx="2">
                  <c:v>12226.253343</c:v>
                </c:pt>
                <c:pt idx="3">
                  <c:v>14315.477568</c:v>
                </c:pt>
                <c:pt idx="4">
                  <c:v>16034.148997</c:v>
                </c:pt>
                <c:pt idx="5">
                  <c:v>14963.165435000001</c:v>
                </c:pt>
                <c:pt idx="6">
                  <c:v>16500.702423999999</c:v>
                </c:pt>
                <c:pt idx="7">
                  <c:v>18455.995974000001</c:v>
                </c:pt>
                <c:pt idx="8">
                  <c:v>20047.431488999999</c:v>
                </c:pt>
                <c:pt idx="9">
                  <c:v>21944.876471</c:v>
                </c:pt>
                <c:pt idx="10">
                  <c:v>24201.65913</c:v>
                </c:pt>
                <c:pt idx="11">
                  <c:v>25620.820239000001</c:v>
                </c:pt>
                <c:pt idx="12">
                  <c:v>11080.241754000001</c:v>
                </c:pt>
              </c:numCache>
            </c:numRef>
          </c:val>
          <c:smooth val="0"/>
          <c:extLst>
            <c:ext xmlns:c16="http://schemas.microsoft.com/office/drawing/2014/chart" uri="{C3380CC4-5D6E-409C-BE32-E72D297353CC}">
              <c16:uniqueId val="{00000002-2297-4AD3-AD27-F0C7C476661D}"/>
            </c:ext>
          </c:extLst>
        </c:ser>
        <c:ser>
          <c:idx val="3"/>
          <c:order val="3"/>
          <c:tx>
            <c:strRef>
              <c:f>Hoja1!$F$1</c:f>
              <c:strCache>
                <c:ptCount val="1"/>
                <c:pt idx="0">
                  <c:v>Ahorros disponibles</c:v>
                </c:pt>
              </c:strCache>
            </c:strRef>
          </c:tx>
          <c:spPr>
            <a:ln w="952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4"/>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Hoja1!$F$48:$F$60</c:f>
              <c:numCache>
                <c:formatCode>_-* #,##0_-;\-* #,##0_-;_-* "-"??_-;_-@_-</c:formatCode>
                <c:ptCount val="13"/>
                <c:pt idx="0">
                  <c:v>56100.757916720002</c:v>
                </c:pt>
                <c:pt idx="1">
                  <c:v>33922.217734539998</c:v>
                </c:pt>
                <c:pt idx="2">
                  <c:v>32135.46785968</c:v>
                </c:pt>
                <c:pt idx="3">
                  <c:v>32684.064140779999</c:v>
                </c:pt>
                <c:pt idx="4">
                  <c:v>29937.308933140001</c:v>
                </c:pt>
                <c:pt idx="5">
                  <c:v>31537.726124790002</c:v>
                </c:pt>
                <c:pt idx="6">
                  <c:v>36060.446509339999</c:v>
                </c:pt>
                <c:pt idx="7">
                  <c:v>27513.704741000001</c:v>
                </c:pt>
                <c:pt idx="8">
                  <c:v>27485.32927731</c:v>
                </c:pt>
                <c:pt idx="9">
                  <c:v>25845.642799000001</c:v>
                </c:pt>
                <c:pt idx="10">
                  <c:v>23179.670279999998</c:v>
                </c:pt>
                <c:pt idx="11">
                  <c:v>25641.274689000002</c:v>
                </c:pt>
                <c:pt idx="12">
                  <c:v>48263.528718000001</c:v>
                </c:pt>
              </c:numCache>
            </c:numRef>
          </c:val>
          <c:smooth val="0"/>
          <c:extLst>
            <c:ext xmlns:c16="http://schemas.microsoft.com/office/drawing/2014/chart" uri="{C3380CC4-5D6E-409C-BE32-E72D297353CC}">
              <c16:uniqueId val="{00000003-2297-4AD3-AD27-F0C7C476661D}"/>
            </c:ext>
          </c:extLst>
        </c:ser>
        <c:ser>
          <c:idx val="4"/>
          <c:order val="4"/>
          <c:tx>
            <c:strRef>
              <c:f>Hoja1!$E$1</c:f>
              <c:strCache>
                <c:ptCount val="1"/>
                <c:pt idx="0">
                  <c:v>Ahorro Futuro</c:v>
                </c:pt>
              </c:strCache>
            </c:strRef>
          </c:tx>
          <c:spPr>
            <a:ln w="12700" cap="rnd">
              <a:solidFill>
                <a:schemeClr val="accent1">
                  <a:lumMod val="60000"/>
                  <a:lumOff val="40000"/>
                </a:schemeClr>
              </a:solidFill>
              <a:round/>
            </a:ln>
            <a:effectLst/>
          </c:spPr>
          <c:marker>
            <c:symbol val="circle"/>
            <c:size val="5"/>
            <c:spPr>
              <a:solidFill>
                <a:schemeClr val="accent5"/>
              </a:solidFill>
              <a:ln w="9525">
                <a:solidFill>
                  <a:schemeClr val="accent5"/>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ln>
                      <a:solidFill>
                        <a:srgbClr val="00B0F0"/>
                      </a:solidFill>
                    </a:ln>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Hoja1!$E$48:$E$60</c:f>
              <c:numCache>
                <c:formatCode>_-* #,##0_-;\-* #,##0_-;_-* "-"??_-;_-@_-</c:formatCode>
                <c:ptCount val="13"/>
                <c:pt idx="0">
                  <c:v>53846.862055089994</c:v>
                </c:pt>
                <c:pt idx="1">
                  <c:v>53741.097186779996</c:v>
                </c:pt>
                <c:pt idx="2">
                  <c:v>53567.8609564</c:v>
                </c:pt>
                <c:pt idx="3">
                  <c:v>52938.945718459996</c:v>
                </c:pt>
                <c:pt idx="4">
                  <c:v>52629.357376020002</c:v>
                </c:pt>
                <c:pt idx="5">
                  <c:v>52559.051662470003</c:v>
                </c:pt>
                <c:pt idx="6">
                  <c:v>52530.324475499998</c:v>
                </c:pt>
                <c:pt idx="7">
                  <c:v>52528.584659</c:v>
                </c:pt>
                <c:pt idx="8">
                  <c:v>52497.182231209998</c:v>
                </c:pt>
                <c:pt idx="9">
                  <c:v>52650.209710000003</c:v>
                </c:pt>
                <c:pt idx="10">
                  <c:v>51734.270165000002</c:v>
                </c:pt>
                <c:pt idx="11">
                  <c:v>51646.937841999999</c:v>
                </c:pt>
                <c:pt idx="12">
                  <c:v>51680.282883</c:v>
                </c:pt>
              </c:numCache>
            </c:numRef>
          </c:val>
          <c:smooth val="0"/>
          <c:extLst>
            <c:ext xmlns:c16="http://schemas.microsoft.com/office/drawing/2014/chart" uri="{C3380CC4-5D6E-409C-BE32-E72D297353CC}">
              <c16:uniqueId val="{00000004-2297-4AD3-AD27-F0C7C476661D}"/>
            </c:ext>
          </c:extLst>
        </c:ser>
        <c:dLbls>
          <c:showLegendKey val="0"/>
          <c:showVal val="0"/>
          <c:showCatName val="0"/>
          <c:showSerName val="0"/>
          <c:showPercent val="0"/>
          <c:showBubbleSize val="0"/>
        </c:dLbls>
        <c:marker val="1"/>
        <c:smooth val="0"/>
        <c:axId val="2105692272"/>
        <c:axId val="2105688528"/>
      </c:lineChart>
      <c:dateAx>
        <c:axId val="210569227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105688528"/>
        <c:crosses val="autoZero"/>
        <c:auto val="1"/>
        <c:lblOffset val="100"/>
        <c:baseTimeUnit val="months"/>
      </c:dateAx>
      <c:valAx>
        <c:axId val="2105688528"/>
        <c:scaling>
          <c:orientation val="minMax"/>
        </c:scaling>
        <c:delete val="1"/>
        <c:axPos val="l"/>
        <c:numFmt formatCode="_-* #,##0_-;\-* #,##0_-;_-* &quot;-&quot;??_-;_-@_-" sourceLinked="1"/>
        <c:majorTickMark val="none"/>
        <c:minorTickMark val="none"/>
        <c:tickLblPos val="nextTo"/>
        <c:crossAx val="2105692272"/>
        <c:crosses val="autoZero"/>
        <c:crossBetween val="between"/>
        <c:majorUnit val="1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'CDATS - TPP'!$B$1</c:f>
              <c:strCache>
                <c:ptCount val="1"/>
                <c:pt idx="0">
                  <c:v> Saldo CDATs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'CDATS - TPP'!$A$48:$A$60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'CDATS - TPP'!$B$48:$B$60</c:f>
              <c:numCache>
                <c:formatCode>_-* #,##0_-;\-* #,##0_-;_-* "-"??_-;_-@_-</c:formatCode>
                <c:ptCount val="13"/>
                <c:pt idx="0">
                  <c:v>87723.37234039999</c:v>
                </c:pt>
                <c:pt idx="1">
                  <c:v>89551.24295439999</c:v>
                </c:pt>
                <c:pt idx="2">
                  <c:v>91352.12850240001</c:v>
                </c:pt>
                <c:pt idx="3">
                  <c:v>92480.890455999994</c:v>
                </c:pt>
                <c:pt idx="4">
                  <c:v>92822.723035000003</c:v>
                </c:pt>
                <c:pt idx="5">
                  <c:v>92923.129864999995</c:v>
                </c:pt>
                <c:pt idx="6">
                  <c:v>93039.532621999999</c:v>
                </c:pt>
                <c:pt idx="7">
                  <c:v>96739.680731</c:v>
                </c:pt>
                <c:pt idx="8">
                  <c:v>100212.81626199999</c:v>
                </c:pt>
                <c:pt idx="9">
                  <c:v>103031.082476</c:v>
                </c:pt>
                <c:pt idx="10">
                  <c:v>107019.998305</c:v>
                </c:pt>
                <c:pt idx="11">
                  <c:v>107711.847996</c:v>
                </c:pt>
                <c:pt idx="12">
                  <c:v>110869.99139</c:v>
                </c:pt>
              </c:numCache>
            </c:numRef>
          </c:val>
          <c:smooth val="0"/>
          <c:extLst>
            <c:ext xmlns:c16="http://schemas.microsoft.com/office/drawing/2014/chart" uri="{C3380CC4-5D6E-409C-BE32-E72D297353CC}">
              <c16:uniqueId val="{00000000-107F-4A74-8285-656E8A0EA68E}"/>
            </c:ext>
          </c:extLst>
        </c:ser>
        <c:ser>
          <c:idx val="1"/>
          <c:order val="1"/>
          <c:tx>
            <c:strRef>
              <c:f>'CDATS - TPP'!$C$1</c:f>
              <c:strCache>
                <c:ptCount val="1"/>
                <c:pt idx="0">
                  <c:v> Saldo Captación </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'CDATS - TPP'!$A$48:$A$60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'CDATS - TPP'!$C$48:$C$60</c:f>
              <c:numCache>
                <c:formatCode>_-* #,##0_-;\-* #,##0_-;_-* "-"??_-;_-@_-</c:formatCode>
                <c:ptCount val="13"/>
                <c:pt idx="0">
                  <c:v>207183.73129920999</c:v>
                </c:pt>
                <c:pt idx="1">
                  <c:v>187707.39814871998</c:v>
                </c:pt>
                <c:pt idx="2">
                  <c:v>189281.71066148003</c:v>
                </c:pt>
                <c:pt idx="3">
                  <c:v>192419.37788324</c:v>
                </c:pt>
                <c:pt idx="4">
                  <c:v>191423.53834116002</c:v>
                </c:pt>
                <c:pt idx="5">
                  <c:v>191983.07308726001</c:v>
                </c:pt>
                <c:pt idx="6">
                  <c:v>198131.00603083998</c:v>
                </c:pt>
                <c:pt idx="7">
                  <c:v>195237.966105</c:v>
                </c:pt>
                <c:pt idx="8">
                  <c:v>200242.75925951998</c:v>
                </c:pt>
                <c:pt idx="9">
                  <c:v>203471.811456</c:v>
                </c:pt>
                <c:pt idx="10">
                  <c:v>206135.59787999999</c:v>
                </c:pt>
                <c:pt idx="11">
                  <c:v>210620.88076599999</c:v>
                </c:pt>
                <c:pt idx="12">
                  <c:v>221894.04474500002</c:v>
                </c:pt>
              </c:numCache>
            </c:numRef>
          </c:val>
          <c:smooth val="0"/>
          <c:extLst>
            <c:ext xmlns:c16="http://schemas.microsoft.com/office/drawing/2014/chart" uri="{C3380CC4-5D6E-409C-BE32-E72D297353CC}">
              <c16:uniqueId val="{00000001-107F-4A74-8285-656E8A0EA68E}"/>
            </c:ext>
          </c:extLst>
        </c:ser>
        <c:dLbls>
          <c:showLegendKey val="0"/>
          <c:showVal val="0"/>
          <c:showCatName val="0"/>
          <c:showSerName val="0"/>
          <c:showPercent val="0"/>
          <c:showBubbleSize val="0"/>
        </c:dLbls>
        <c:marker val="1"/>
        <c:smooth val="0"/>
        <c:axId val="881040287"/>
        <c:axId val="881028767"/>
      </c:lineChart>
      <c:lineChart>
        <c:grouping val="standard"/>
        <c:varyColors val="0"/>
        <c:ser>
          <c:idx val="2"/>
          <c:order val="2"/>
          <c:tx>
            <c:strRef>
              <c:f>'CDATS - TPP'!$D$1</c:f>
              <c:strCache>
                <c:ptCount val="1"/>
                <c:pt idx="0">
                  <c:v>TPP  CDAT</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'CDATS - TPP'!$A$48:$A$60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'CDATS - TPP'!$D$48:$D$60</c:f>
              <c:numCache>
                <c:formatCode>0.00</c:formatCode>
                <c:ptCount val="13"/>
                <c:pt idx="0">
                  <c:v>10.8266147</c:v>
                </c:pt>
                <c:pt idx="1">
                  <c:v>10.56235232</c:v>
                </c:pt>
                <c:pt idx="2">
                  <c:v>10.366406400000001</c:v>
                </c:pt>
                <c:pt idx="3">
                  <c:v>10.175989400000001</c:v>
                </c:pt>
                <c:pt idx="4">
                  <c:v>10.128338299999999</c:v>
                </c:pt>
                <c:pt idx="5">
                  <c:v>10.0995001</c:v>
                </c:pt>
                <c:pt idx="6">
                  <c:v>10.081436099999999</c:v>
                </c:pt>
                <c:pt idx="7">
                  <c:v>10.2118082572</c:v>
                </c:pt>
                <c:pt idx="8">
                  <c:v>10.30143005</c:v>
                </c:pt>
                <c:pt idx="9">
                  <c:v>10.398745229299999</c:v>
                </c:pt>
                <c:pt idx="10">
                  <c:v>10.4547774312</c:v>
                </c:pt>
                <c:pt idx="11">
                  <c:v>10.5189781426</c:v>
                </c:pt>
                <c:pt idx="12">
                  <c:v>10.5615019217</c:v>
                </c:pt>
              </c:numCache>
            </c:numRef>
          </c:val>
          <c:smooth val="0"/>
          <c:extLst>
            <c:ext xmlns:c16="http://schemas.microsoft.com/office/drawing/2014/chart" uri="{C3380CC4-5D6E-409C-BE32-E72D297353CC}">
              <c16:uniqueId val="{00000002-107F-4A74-8285-656E8A0EA68E}"/>
            </c:ext>
          </c:extLst>
        </c:ser>
        <c:ser>
          <c:idx val="3"/>
          <c:order val="3"/>
          <c:tx>
            <c:strRef>
              <c:f>'CDATS - TPP'!$G$1</c:f>
              <c:strCache>
                <c:ptCount val="1"/>
                <c:pt idx="0">
                  <c:v>Total TPP captación</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'CDATS - TPP'!$A$48:$A$60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'CDATS - TPP'!$G$48:$G$60</c:f>
              <c:numCache>
                <c:formatCode>0.00</c:formatCode>
                <c:ptCount val="13"/>
                <c:pt idx="0">
                  <c:v>7.6921450384192234</c:v>
                </c:pt>
                <c:pt idx="1">
                  <c:v>8.2902905035090644</c:v>
                </c:pt>
                <c:pt idx="2">
                  <c:v>8.2290594865351032</c:v>
                </c:pt>
                <c:pt idx="3">
                  <c:v>8.0605352732782549</c:v>
                </c:pt>
                <c:pt idx="4">
                  <c:v>8.3105778062013691</c:v>
                </c:pt>
                <c:pt idx="5">
                  <c:v>8.0579291531173389</c:v>
                </c:pt>
                <c:pt idx="6">
                  <c:v>7.8384716439209878</c:v>
                </c:pt>
                <c:pt idx="7">
                  <c:v>8.1838591657267692</c:v>
                </c:pt>
                <c:pt idx="8">
                  <c:v>8.0438043703967814</c:v>
                </c:pt>
                <c:pt idx="9">
                  <c:v>8.4721497218397435</c:v>
                </c:pt>
                <c:pt idx="10">
                  <c:v>8.6971724952942537</c:v>
                </c:pt>
                <c:pt idx="11">
                  <c:v>8.5974049389581904</c:v>
                </c:pt>
                <c:pt idx="12">
                  <c:v>8.5503632685190709</c:v>
                </c:pt>
              </c:numCache>
            </c:numRef>
          </c:val>
          <c:smooth val="0"/>
          <c:extLst>
            <c:ext xmlns:c16="http://schemas.microsoft.com/office/drawing/2014/chart" uri="{C3380CC4-5D6E-409C-BE32-E72D297353CC}">
              <c16:uniqueId val="{00000003-107F-4A74-8285-656E8A0EA68E}"/>
            </c:ext>
          </c:extLst>
        </c:ser>
        <c:dLbls>
          <c:showLegendKey val="0"/>
          <c:showVal val="0"/>
          <c:showCatName val="0"/>
          <c:showSerName val="0"/>
          <c:showPercent val="0"/>
          <c:showBubbleSize val="0"/>
        </c:dLbls>
        <c:marker val="1"/>
        <c:smooth val="0"/>
        <c:axId val="880994687"/>
        <c:axId val="881004767"/>
      </c:lineChart>
      <c:dateAx>
        <c:axId val="881040287"/>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81028767"/>
        <c:crosses val="autoZero"/>
        <c:auto val="1"/>
        <c:lblOffset val="100"/>
        <c:baseTimeUnit val="months"/>
      </c:dateAx>
      <c:valAx>
        <c:axId val="881028767"/>
        <c:scaling>
          <c:orientation val="minMax"/>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81040287"/>
        <c:crosses val="autoZero"/>
        <c:crossBetween val="between"/>
      </c:valAx>
      <c:valAx>
        <c:axId val="881004767"/>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880994687"/>
        <c:crosses val="max"/>
        <c:crossBetween val="between"/>
      </c:valAx>
      <c:dateAx>
        <c:axId val="880994687"/>
        <c:scaling>
          <c:orientation val="minMax"/>
        </c:scaling>
        <c:delete val="1"/>
        <c:axPos val="b"/>
        <c:numFmt formatCode="mmm\-yy" sourceLinked="1"/>
        <c:majorTickMark val="out"/>
        <c:minorTickMark val="none"/>
        <c:tickLblPos val="nextTo"/>
        <c:crossAx val="881004767"/>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9.5126917610698872E-2"/>
          <c:w val="1"/>
          <c:h val="0.7267830559444961"/>
        </c:manualLayout>
      </c:layout>
      <c:lineChart>
        <c:grouping val="standard"/>
        <c:varyColors val="0"/>
        <c:ser>
          <c:idx val="1"/>
          <c:order val="0"/>
          <c:tx>
            <c:strRef>
              <c:f>'Cancelación Anticp'!$I$1</c:f>
              <c:strCache>
                <c:ptCount val="1"/>
                <c:pt idx="0">
                  <c:v>% Ahorros cancelados sobre saldo total</c:v>
                </c:pt>
              </c:strCache>
            </c:strRef>
          </c:tx>
          <c:spPr>
            <a:ln w="9525" cap="rnd">
              <a:solidFill>
                <a:srgbClr val="C00000"/>
              </a:solidFill>
              <a:round/>
            </a:ln>
            <a:effectLst/>
          </c:spPr>
          <c:marker>
            <c:symbol val="circle"/>
            <c:size val="5"/>
            <c:spPr>
              <a:solidFill>
                <a:srgbClr val="C00000"/>
              </a:solidFill>
              <a:ln w="9525">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C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'Cancelación Anticp'!$A$48:$A$60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'Cancelación Anticp'!$I$48:$I$60</c:f>
              <c:numCache>
                <c:formatCode>0.0%</c:formatCode>
                <c:ptCount val="13"/>
                <c:pt idx="0">
                  <c:v>1.2930029949112487E-2</c:v>
                </c:pt>
                <c:pt idx="1">
                  <c:v>5.3027795670515495E-3</c:v>
                </c:pt>
                <c:pt idx="2">
                  <c:v>3.000038030538625E-3</c:v>
                </c:pt>
                <c:pt idx="3">
                  <c:v>5.0631309822328384E-3</c:v>
                </c:pt>
                <c:pt idx="4">
                  <c:v>3.4419461245075019E-3</c:v>
                </c:pt>
                <c:pt idx="5">
                  <c:v>4.2369087794557284E-3</c:v>
                </c:pt>
                <c:pt idx="6">
                  <c:v>2.6687801445318643E-3</c:v>
                </c:pt>
                <c:pt idx="7">
                  <c:v>3.5270127438097802E-3</c:v>
                </c:pt>
                <c:pt idx="8">
                  <c:v>4.6904185731521074E-3</c:v>
                </c:pt>
                <c:pt idx="9">
                  <c:v>3.8325368161057352E-3</c:v>
                </c:pt>
                <c:pt idx="10">
                  <c:v>5.9704388952775073E-4</c:v>
                </c:pt>
                <c:pt idx="11">
                  <c:v>5.1442749986346369E-4</c:v>
                </c:pt>
                <c:pt idx="12">
                  <c:v>1.4970754310492998E-3</c:v>
                </c:pt>
              </c:numCache>
            </c:numRef>
          </c:val>
          <c:smooth val="0"/>
          <c:extLst>
            <c:ext xmlns:c16="http://schemas.microsoft.com/office/drawing/2014/chart" uri="{C3380CC4-5D6E-409C-BE32-E72D297353CC}">
              <c16:uniqueId val="{00000000-3FD0-4D36-ACD1-3C44DA438FFD}"/>
            </c:ext>
          </c:extLst>
        </c:ser>
        <c:dLbls>
          <c:showLegendKey val="0"/>
          <c:showVal val="0"/>
          <c:showCatName val="0"/>
          <c:showSerName val="0"/>
          <c:showPercent val="0"/>
          <c:showBubbleSize val="0"/>
        </c:dLbls>
        <c:marker val="1"/>
        <c:smooth val="0"/>
        <c:axId val="1563162672"/>
        <c:axId val="1563164752"/>
      </c:lineChart>
      <c:dateAx>
        <c:axId val="156316267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crossAx val="1563164752"/>
        <c:crosses val="autoZero"/>
        <c:auto val="1"/>
        <c:lblOffset val="100"/>
        <c:baseTimeUnit val="months"/>
      </c:dateAx>
      <c:valAx>
        <c:axId val="1563164752"/>
        <c:scaling>
          <c:orientation val="minMax"/>
          <c:max val="5.000000000000001E-2"/>
        </c:scaling>
        <c:delete val="1"/>
        <c:axPos val="l"/>
        <c:numFmt formatCode="0.0%" sourceLinked="1"/>
        <c:majorTickMark val="none"/>
        <c:minorTickMark val="none"/>
        <c:tickLblPos val="nextTo"/>
        <c:crossAx val="1563162672"/>
        <c:crosses val="autoZero"/>
        <c:crossBetween val="between"/>
        <c:majorUnit val="1.0000000000000002E-3"/>
      </c:valAx>
      <c:spPr>
        <a:noFill/>
        <a:ln>
          <a:noFill/>
        </a:ln>
        <a:effectLst/>
      </c:spPr>
    </c:plotArea>
    <c:legend>
      <c:legendPos val="b"/>
      <c:layout>
        <c:manualLayout>
          <c:xMode val="edge"/>
          <c:yMode val="edge"/>
          <c:x val="1.0524606299212577E-2"/>
          <c:y val="0.89467570720326617"/>
          <c:w val="0.22270078740157481"/>
          <c:h val="3.125021872265966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
          <c:y val="9.738799743542452E-2"/>
          <c:w val="0.99995209973360399"/>
          <c:h val="0.64592155147273256"/>
        </c:manualLayout>
      </c:layout>
      <c:lineChart>
        <c:grouping val="standard"/>
        <c:varyColors val="0"/>
        <c:ser>
          <c:idx val="0"/>
          <c:order val="0"/>
          <c:tx>
            <c:strRef>
              <c:f>'Cancelación Anticp'!$H$1</c:f>
              <c:strCache>
                <c:ptCount val="1"/>
                <c:pt idx="0">
                  <c:v>Ahorro programados cancelados anticipadamente</c:v>
                </c:pt>
              </c:strCache>
            </c:strRef>
          </c:tx>
          <c:spPr>
            <a:ln w="9525" cap="rnd">
              <a:solidFill>
                <a:srgbClr val="7030A0"/>
              </a:solidFill>
              <a:round/>
            </a:ln>
            <a:effectLst/>
          </c:spPr>
          <c:marker>
            <c:symbol val="circle"/>
            <c:size val="5"/>
            <c:spPr>
              <a:solidFill>
                <a:srgbClr val="7030A0"/>
              </a:solidFill>
              <a:ln w="9525">
                <a:solidFill>
                  <a:srgbClr val="7030A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7030A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'Cancelación Anticp'!$A$48:$A$60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'Cancelación Anticp'!$H$48:$H$60</c:f>
              <c:numCache>
                <c:formatCode>"$"\ #,##0</c:formatCode>
                <c:ptCount val="13"/>
                <c:pt idx="0">
                  <c:v>123</c:v>
                </c:pt>
                <c:pt idx="1">
                  <c:v>55.641219</c:v>
                </c:pt>
                <c:pt idx="2">
                  <c:v>36.679225000000002</c:v>
                </c:pt>
                <c:pt idx="3">
                  <c:v>72.481138000000001</c:v>
                </c:pt>
                <c:pt idx="4">
                  <c:v>55.188676999999998</c:v>
                </c:pt>
                <c:pt idx="5">
                  <c:v>63.397567000000002</c:v>
                </c:pt>
                <c:pt idx="6">
                  <c:v>44.036746999999998</c:v>
                </c:pt>
                <c:pt idx="7">
                  <c:v>65.094532999999998</c:v>
                </c:pt>
                <c:pt idx="8">
                  <c:v>94.030844999999999</c:v>
                </c:pt>
                <c:pt idx="9">
                  <c:v>84.104546999999997</c:v>
                </c:pt>
                <c:pt idx="10">
                  <c:v>14.4494527</c:v>
                </c:pt>
                <c:pt idx="11">
                  <c:v>13.180054500000001</c:v>
                </c:pt>
                <c:pt idx="12">
                  <c:v>16.5879577</c:v>
                </c:pt>
              </c:numCache>
            </c:numRef>
          </c:val>
          <c:smooth val="0"/>
          <c:extLst>
            <c:ext xmlns:c16="http://schemas.microsoft.com/office/drawing/2014/chart" uri="{C3380CC4-5D6E-409C-BE32-E72D297353CC}">
              <c16:uniqueId val="{00000000-8E63-400A-B2D2-4D65D173E2AD}"/>
            </c:ext>
          </c:extLst>
        </c:ser>
        <c:dLbls>
          <c:showLegendKey val="0"/>
          <c:showVal val="0"/>
          <c:showCatName val="0"/>
          <c:showSerName val="0"/>
          <c:showPercent val="0"/>
          <c:showBubbleSize val="0"/>
        </c:dLbls>
        <c:marker val="1"/>
        <c:smooth val="0"/>
        <c:axId val="121250128"/>
        <c:axId val="121257200"/>
      </c:lineChart>
      <c:dateAx>
        <c:axId val="121250128"/>
        <c:scaling>
          <c:orientation val="minMax"/>
        </c:scaling>
        <c:delete val="1"/>
        <c:axPos val="b"/>
        <c:numFmt formatCode="mmm\-yy" sourceLinked="1"/>
        <c:majorTickMark val="out"/>
        <c:minorTickMark val="none"/>
        <c:tickLblPos val="nextTo"/>
        <c:crossAx val="121257200"/>
        <c:crosses val="autoZero"/>
        <c:auto val="1"/>
        <c:lblOffset val="100"/>
        <c:baseTimeUnit val="months"/>
      </c:dateAx>
      <c:valAx>
        <c:axId val="121257200"/>
        <c:scaling>
          <c:orientation val="minMax"/>
          <c:max val="300"/>
        </c:scaling>
        <c:delete val="1"/>
        <c:axPos val="l"/>
        <c:numFmt formatCode="&quot;$&quot;\ #,##0" sourceLinked="1"/>
        <c:majorTickMark val="none"/>
        <c:minorTickMark val="none"/>
        <c:tickLblPos val="nextTo"/>
        <c:crossAx val="121250128"/>
        <c:crosses val="autoZero"/>
        <c:crossBetween val="between"/>
      </c:valAx>
      <c:spPr>
        <a:noFill/>
        <a:ln>
          <a:noFill/>
        </a:ln>
        <a:effectLst/>
      </c:spPr>
    </c:plotArea>
    <c:legend>
      <c:legendPos val="b"/>
      <c:layout>
        <c:manualLayout>
          <c:xMode val="edge"/>
          <c:yMode val="edge"/>
          <c:x val="0.21176412498065331"/>
          <c:y val="0.89467570720326617"/>
          <c:w val="0.27438830990717766"/>
          <c:h val="3.125021872265966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0016666666666666"/>
          <c:w val="1"/>
          <c:h val="0.34450904053659953"/>
        </c:manualLayout>
      </c:layout>
      <c:lineChart>
        <c:grouping val="standard"/>
        <c:varyColors val="0"/>
        <c:ser>
          <c:idx val="0"/>
          <c:order val="0"/>
          <c:tx>
            <c:strRef>
              <c:f>'Cancelación Anticp'!$C$1</c:f>
              <c:strCache>
                <c:ptCount val="1"/>
                <c:pt idx="0">
                  <c:v>CDATs cancelados anticipadamente</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'Cancelación Anticp'!$A$48:$A$60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'Cancelación Anticp'!$C$48:$C$60</c:f>
              <c:numCache>
                <c:formatCode>"$"\ #,##0</c:formatCode>
                <c:ptCount val="13"/>
                <c:pt idx="0">
                  <c:v>792.85436200000004</c:v>
                </c:pt>
                <c:pt idx="1">
                  <c:v>207.906373</c:v>
                </c:pt>
                <c:pt idx="2">
                  <c:v>286.401928</c:v>
                </c:pt>
                <c:pt idx="3">
                  <c:v>619.50145999999995</c:v>
                </c:pt>
                <c:pt idx="4">
                  <c:v>140.01309499999999</c:v>
                </c:pt>
                <c:pt idx="5">
                  <c:v>362.73032899999998</c:v>
                </c:pt>
                <c:pt idx="6">
                  <c:v>861.01872900000001</c:v>
                </c:pt>
                <c:pt idx="7">
                  <c:v>19.545981000000001</c:v>
                </c:pt>
                <c:pt idx="8">
                  <c:v>214.567161</c:v>
                </c:pt>
                <c:pt idx="9">
                  <c:v>267.68353999999999</c:v>
                </c:pt>
                <c:pt idx="10">
                  <c:v>272.06645900000001</c:v>
                </c:pt>
                <c:pt idx="11">
                  <c:v>746.92165799999998</c:v>
                </c:pt>
                <c:pt idx="12">
                  <c:v>631.88958500000001</c:v>
                </c:pt>
              </c:numCache>
            </c:numRef>
          </c:val>
          <c:smooth val="0"/>
          <c:extLst>
            <c:ext xmlns:c16="http://schemas.microsoft.com/office/drawing/2014/chart" uri="{C3380CC4-5D6E-409C-BE32-E72D297353CC}">
              <c16:uniqueId val="{00000000-F48E-40E3-878C-87ED2402CEA2}"/>
            </c:ext>
          </c:extLst>
        </c:ser>
        <c:dLbls>
          <c:showLegendKey val="0"/>
          <c:showVal val="0"/>
          <c:showCatName val="0"/>
          <c:showSerName val="0"/>
          <c:showPercent val="0"/>
          <c:showBubbleSize val="0"/>
        </c:dLbls>
        <c:marker val="1"/>
        <c:smooth val="0"/>
        <c:axId val="331481840"/>
        <c:axId val="342797664"/>
      </c:lineChart>
      <c:dateAx>
        <c:axId val="331481840"/>
        <c:scaling>
          <c:orientation val="minMax"/>
        </c:scaling>
        <c:delete val="1"/>
        <c:axPos val="b"/>
        <c:numFmt formatCode="mmm\-yy" sourceLinked="1"/>
        <c:majorTickMark val="none"/>
        <c:minorTickMark val="none"/>
        <c:tickLblPos val="nextTo"/>
        <c:crossAx val="342797664"/>
        <c:crosses val="autoZero"/>
        <c:auto val="1"/>
        <c:lblOffset val="100"/>
        <c:baseTimeUnit val="months"/>
      </c:dateAx>
      <c:valAx>
        <c:axId val="342797664"/>
        <c:scaling>
          <c:orientation val="minMax"/>
        </c:scaling>
        <c:delete val="1"/>
        <c:axPos val="l"/>
        <c:numFmt formatCode="&quot;$&quot;\ #,##0" sourceLinked="1"/>
        <c:majorTickMark val="none"/>
        <c:minorTickMark val="none"/>
        <c:tickLblPos val="nextTo"/>
        <c:crossAx val="331481840"/>
        <c:crosses val="autoZero"/>
        <c:crossBetween val="between"/>
      </c:valAx>
      <c:spPr>
        <a:noFill/>
        <a:ln>
          <a:noFill/>
        </a:ln>
        <a:effectLst/>
      </c:spPr>
    </c:plotArea>
    <c:legend>
      <c:legendPos val="b"/>
      <c:layout>
        <c:manualLayout>
          <c:xMode val="edge"/>
          <c:yMode val="edge"/>
          <c:x val="0.46509973180769881"/>
          <c:y val="0.89652755905511816"/>
          <c:w val="0.20730055894038041"/>
          <c:h val="3.125021872265966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8.2394284047827317E-3"/>
          <c:w val="1"/>
          <c:h val="0.26011636045494313"/>
        </c:manualLayout>
      </c:layout>
      <c:lineChart>
        <c:grouping val="standard"/>
        <c:varyColors val="0"/>
        <c:ser>
          <c:idx val="1"/>
          <c:order val="0"/>
          <c:tx>
            <c:strRef>
              <c:f>'Cancelación Anticp'!$D$1</c:f>
              <c:strCache>
                <c:ptCount val="1"/>
                <c:pt idx="0">
                  <c:v>% CDATs cancelados sobre saldo total</c:v>
                </c:pt>
              </c:strCache>
            </c:strRef>
          </c:tx>
          <c:spPr>
            <a:ln w="9525" cap="rnd">
              <a:solidFill>
                <a:srgbClr val="00B0F0"/>
              </a:solidFill>
              <a:round/>
            </a:ln>
            <a:effectLst/>
          </c:spPr>
          <c:marker>
            <c:symbol val="circle"/>
            <c:size val="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F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'Cancelación Anticp'!$A$48:$A$60</c:f>
              <c:numCache>
                <c:formatCode>mmm\-yy</c:formatCode>
                <c:ptCount val="13"/>
                <c:pt idx="0">
                  <c:v>45597</c:v>
                </c:pt>
                <c:pt idx="1">
                  <c:v>45627</c:v>
                </c:pt>
                <c:pt idx="2">
                  <c:v>45658</c:v>
                </c:pt>
                <c:pt idx="3">
                  <c:v>45689</c:v>
                </c:pt>
                <c:pt idx="4">
                  <c:v>45717</c:v>
                </c:pt>
                <c:pt idx="5">
                  <c:v>45748</c:v>
                </c:pt>
                <c:pt idx="6">
                  <c:v>45778</c:v>
                </c:pt>
                <c:pt idx="7">
                  <c:v>45809</c:v>
                </c:pt>
                <c:pt idx="8">
                  <c:v>45839</c:v>
                </c:pt>
                <c:pt idx="9">
                  <c:v>45870</c:v>
                </c:pt>
                <c:pt idx="10">
                  <c:v>45901</c:v>
                </c:pt>
                <c:pt idx="11">
                  <c:v>45931</c:v>
                </c:pt>
                <c:pt idx="12">
                  <c:v>45962</c:v>
                </c:pt>
              </c:numCache>
            </c:numRef>
          </c:cat>
          <c:val>
            <c:numRef>
              <c:f>'Cancelación Anticp'!$D$48:$D$60</c:f>
              <c:numCache>
                <c:formatCode>0.0%</c:formatCode>
                <c:ptCount val="13"/>
                <c:pt idx="0">
                  <c:v>9.0381199542058661E-3</c:v>
                </c:pt>
                <c:pt idx="1">
                  <c:v>2.3216469826763558E-3</c:v>
                </c:pt>
                <c:pt idx="2">
                  <c:v>3.1351423628019309E-3</c:v>
                </c:pt>
                <c:pt idx="3">
                  <c:v>6.698696962641624E-3</c:v>
                </c:pt>
                <c:pt idx="4">
                  <c:v>1.5083924541537772E-3</c:v>
                </c:pt>
                <c:pt idx="5">
                  <c:v>3.9035526410591162E-3</c:v>
                </c:pt>
                <c:pt idx="6">
                  <c:v>9.254332053645814E-3</c:v>
                </c:pt>
                <c:pt idx="7">
                  <c:v>2.0204719358492298E-4</c:v>
                </c:pt>
                <c:pt idx="8">
                  <c:v>2.1411149691575168E-3</c:v>
                </c:pt>
                <c:pt idx="9">
                  <c:v>2.5980852920025766E-3</c:v>
                </c:pt>
                <c:pt idx="10">
                  <c:v>2.5422020492340915E-3</c:v>
                </c:pt>
                <c:pt idx="11">
                  <c:v>6.9344428853150659E-3</c:v>
                </c:pt>
                <c:pt idx="12">
                  <c:v>5.6993743489818088E-3</c:v>
                </c:pt>
              </c:numCache>
            </c:numRef>
          </c:val>
          <c:smooth val="0"/>
          <c:extLst>
            <c:ext xmlns:c16="http://schemas.microsoft.com/office/drawing/2014/chart" uri="{C3380CC4-5D6E-409C-BE32-E72D297353CC}">
              <c16:uniqueId val="{00000000-EF3B-4696-9841-269AED72EBE7}"/>
            </c:ext>
          </c:extLst>
        </c:ser>
        <c:dLbls>
          <c:showLegendKey val="0"/>
          <c:showVal val="0"/>
          <c:showCatName val="0"/>
          <c:showSerName val="0"/>
          <c:showPercent val="0"/>
          <c:showBubbleSize val="0"/>
        </c:dLbls>
        <c:marker val="1"/>
        <c:smooth val="0"/>
        <c:axId val="1563162672"/>
        <c:axId val="1563164752"/>
      </c:lineChart>
      <c:dateAx>
        <c:axId val="1563162672"/>
        <c:scaling>
          <c:orientation val="minMax"/>
        </c:scaling>
        <c:delete val="1"/>
        <c:axPos val="b"/>
        <c:numFmt formatCode="mmm\-yy" sourceLinked="1"/>
        <c:majorTickMark val="out"/>
        <c:minorTickMark val="none"/>
        <c:tickLblPos val="nextTo"/>
        <c:crossAx val="1563164752"/>
        <c:crosses val="autoZero"/>
        <c:auto val="1"/>
        <c:lblOffset val="100"/>
        <c:baseTimeUnit val="months"/>
      </c:dateAx>
      <c:valAx>
        <c:axId val="1563164752"/>
        <c:scaling>
          <c:orientation val="minMax"/>
          <c:max val="5.000000000000001E-2"/>
        </c:scaling>
        <c:delete val="1"/>
        <c:axPos val="l"/>
        <c:numFmt formatCode="0.0%" sourceLinked="1"/>
        <c:majorTickMark val="none"/>
        <c:minorTickMark val="none"/>
        <c:tickLblPos val="nextTo"/>
        <c:crossAx val="1563162672"/>
        <c:crosses val="autoZero"/>
        <c:crossBetween val="between"/>
        <c:majorUnit val="1.0000000000000002E-3"/>
      </c:valAx>
      <c:spPr>
        <a:noFill/>
        <a:ln>
          <a:noFill/>
        </a:ln>
        <a:effectLst/>
      </c:spPr>
    </c:plotArea>
    <c:legend>
      <c:legendPos val="b"/>
      <c:layout>
        <c:manualLayout>
          <c:xMode val="edge"/>
          <c:yMode val="edge"/>
          <c:x val="0.66070289211801947"/>
          <c:y val="0.89191484397783616"/>
          <c:w val="0.28326253617735819"/>
          <c:h val="4.825488480606590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withinLinear" id="17">
  <a:schemeClr val="accent4"/>
</cs:colorStyle>
</file>

<file path=ppt/charts/colors2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3.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4.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5.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6.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7.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8.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9.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2D9785-08C3-4AEF-A2B1-E183DF7D1FAF}" type="datetimeFigureOut">
              <a:rPr lang="es-CO" smtClean="0"/>
              <a:t>21/01/2026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8EB2D-78AF-404B-9CD6-B3BF2555DCF7}" type="slidenum">
              <a:rPr lang="es-CO" smtClean="0"/>
              <a:t>‹Nº›</a:t>
            </a:fld>
            <a:endParaRPr lang="es-CO"/>
          </a:p>
        </p:txBody>
      </p:sp>
    </p:spTree>
    <p:extLst>
      <p:ext uri="{BB962C8B-B14F-4D97-AF65-F5344CB8AC3E}">
        <p14:creationId xmlns:p14="http://schemas.microsoft.com/office/powerpoint/2010/main" val="2062079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638EB2D-78AF-404B-9CD6-B3BF2555DCF7}" type="slidenum">
              <a:rPr lang="es-CO" smtClean="0"/>
              <a:t>27</a:t>
            </a:fld>
            <a:endParaRPr lang="es-CO"/>
          </a:p>
        </p:txBody>
      </p:sp>
    </p:spTree>
    <p:extLst>
      <p:ext uri="{BB962C8B-B14F-4D97-AF65-F5344CB8AC3E}">
        <p14:creationId xmlns:p14="http://schemas.microsoft.com/office/powerpoint/2010/main" val="1434373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B34B2A-F895-A1A1-05D0-2D1BA3080D73}"/>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EE284D74-8DEE-23AF-F3EC-90F54AD9C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FB2B7594-15B5-B9C7-F334-D6D868F4BD01}"/>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D81C655A-28FA-15AA-B6BE-F66B458DBEC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51A4762-E46B-074A-4B89-813ED28A852F}"/>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2792466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6D3BF8-8C9B-5EC9-D647-648DE54E90C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051DD081-A152-5755-D17E-CBA77C20C8A2}"/>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D15B5DA8-C7C5-B515-0E45-2338C86C9384}"/>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32BA1968-9FCC-EF2B-5A7C-F41F3411BAB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3896FBF-A8E1-4227-2FBD-C9CEB2CF9E13}"/>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67535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9E0DDB-16E2-EF5F-A4C6-D78CDB398DFB}"/>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0FF672B4-A301-01BF-D257-9215C0078D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C35BC8EB-A92E-DAED-4CA7-FC33877AD402}"/>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00F24808-FE59-E644-5AAB-58E41AF5233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025B310-DEED-CB6E-3CCB-D4D990A2A86D}"/>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147160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F6B10A-964F-C37C-DC6C-28A54A7A3F01}"/>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0775FD11-58D5-324F-DD2A-5EB30A0A90E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103B8657-1279-5544-BAF8-79758A21A221}"/>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96C566E4-917C-A02D-FB51-5F3D6411ABA0}"/>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6" name="Marcador de pie de página 5">
            <a:extLst>
              <a:ext uri="{FF2B5EF4-FFF2-40B4-BE49-F238E27FC236}">
                <a16:creationId xmlns:a16="http://schemas.microsoft.com/office/drawing/2014/main" id="{FB1BC0E8-DFB6-DB79-914A-6FBEAE09FC0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23DC36A-589E-6F44-93DD-3FD663FE00FB}"/>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1889825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7B5899-061A-C8E0-A8AC-183BF5B824ED}"/>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3B23129-1266-979E-955E-E21F4F855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02E186B8-74E4-8FB7-3EE3-A31F1DCE39C6}"/>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DCDBE7C9-FB78-B6A9-3190-9E0815FDA6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DFCDB3A-40E5-5AE6-FA48-470CCAD49E32}"/>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DE0731A5-2736-BA23-C9F3-672664C904E0}"/>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8" name="Marcador de pie de página 7">
            <a:extLst>
              <a:ext uri="{FF2B5EF4-FFF2-40B4-BE49-F238E27FC236}">
                <a16:creationId xmlns:a16="http://schemas.microsoft.com/office/drawing/2014/main" id="{8D991DE8-6720-994C-3F5D-EF15D51C9DE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0A72B004-0A0C-0BE6-EEA1-3B7377F1BC29}"/>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2104277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4DB67-E287-C34E-ED6B-377E61B7FC6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677311A8-D9AA-33D5-E651-48F624786D89}"/>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4" name="Marcador de pie de página 3">
            <a:extLst>
              <a:ext uri="{FF2B5EF4-FFF2-40B4-BE49-F238E27FC236}">
                <a16:creationId xmlns:a16="http://schemas.microsoft.com/office/drawing/2014/main" id="{263AF00C-3E96-BD31-087E-F857A3353E3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351B572-8979-0318-42DF-2094C5FDBF13}"/>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282253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7E2F0A9-735F-C01E-F449-12777B287B7C}"/>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3" name="Marcador de pie de página 2">
            <a:extLst>
              <a:ext uri="{FF2B5EF4-FFF2-40B4-BE49-F238E27FC236}">
                <a16:creationId xmlns:a16="http://schemas.microsoft.com/office/drawing/2014/main" id="{EA4C7960-CD87-73D1-896E-31C96A57C5F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630ED7C-441D-FB60-7FA3-BC25C1A0AF4C}"/>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3116222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D18DB4-FDA5-33C5-8749-8E9EB513322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32425640-5EBE-02F7-BBE8-7E0B0AFE1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D035D6C2-5639-9F17-ED88-7F129DF547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6FDB3E3-4341-9256-F30C-7132CEF10FC4}"/>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6" name="Marcador de pie de página 5">
            <a:extLst>
              <a:ext uri="{FF2B5EF4-FFF2-40B4-BE49-F238E27FC236}">
                <a16:creationId xmlns:a16="http://schemas.microsoft.com/office/drawing/2014/main" id="{83455370-97EF-3E47-6365-D976E996E32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D07769C-98A8-1811-4851-7AF985EF4304}"/>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3711825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A71C77-C5A0-4D4B-2A12-32B12BE7DC1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1CDEA82F-A2E4-9911-8A30-8EE1BBFDAF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15F880CD-A981-C880-2B49-94C0B9812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576BF563-7F7D-E85A-1DA1-DA696F23B7A8}"/>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6" name="Marcador de pie de página 5">
            <a:extLst>
              <a:ext uri="{FF2B5EF4-FFF2-40B4-BE49-F238E27FC236}">
                <a16:creationId xmlns:a16="http://schemas.microsoft.com/office/drawing/2014/main" id="{CD126881-6316-8103-5F8C-A644A65D7A5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751C055-7DB1-038E-CAEA-E616C797D3CE}"/>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175031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917D90-7F56-4001-6C02-EE86027D7471}"/>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F7C18ABF-E17C-FE88-CA7B-E86D056104A9}"/>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1F15CE0B-8E48-55E5-8F5D-E55820CCA54C}"/>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35DE5960-6492-04E9-2808-230893558B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5522B78-B7E5-CF94-F7F5-684DA446EEF7}"/>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3010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FE6B4D8-8F81-383A-8A46-B98D41E5678E}"/>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4C296A67-59B4-23F0-5E87-1D48BC6F885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68864F06-45F5-33A7-D630-2127011842AC}"/>
              </a:ext>
            </a:extLst>
          </p:cNvPr>
          <p:cNvSpPr>
            <a:spLocks noGrp="1"/>
          </p:cNvSpPr>
          <p:nvPr>
            <p:ph type="dt" sz="half" idx="10"/>
          </p:nvPr>
        </p:nvSpPr>
        <p:spPr/>
        <p:txBody>
          <a:body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3C8E130D-BBFA-2B25-3611-22BC777FA22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6E8228-38A4-92F0-F315-D8698A9B5839}"/>
              </a:ext>
            </a:extLst>
          </p:cNvPr>
          <p:cNvSpPr>
            <a:spLocks noGrp="1"/>
          </p:cNvSpPr>
          <p:nvPr>
            <p:ph type="sldNum" sz="quarter" idx="12"/>
          </p:nvPr>
        </p:nvSpPr>
        <p:spPr/>
        <p:txBody>
          <a:bodyPr/>
          <a:lstStyle/>
          <a:p>
            <a:fld id="{568FB94D-1B47-5A4C-ADA8-C837B15C4808}" type="slidenum">
              <a:rPr lang="es-CO" smtClean="0"/>
              <a:t>‹Nº›</a:t>
            </a:fld>
            <a:endParaRPr lang="es-CO"/>
          </a:p>
        </p:txBody>
      </p:sp>
    </p:spTree>
    <p:extLst>
      <p:ext uri="{BB962C8B-B14F-4D97-AF65-F5344CB8AC3E}">
        <p14:creationId xmlns:p14="http://schemas.microsoft.com/office/powerpoint/2010/main" val="619014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01DBAB4-6419-59F7-8F67-1085A4A5BF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B68B5439-D0C5-CF3B-DAB9-0630454493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D12CD7C-0394-6427-D287-467DF32A2B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968BA8-F6AA-5248-B01D-643177063883}" type="datetimeFigureOut">
              <a:rPr lang="es-CO" smtClean="0"/>
              <a:t>21/01/2026</a:t>
            </a:fld>
            <a:endParaRPr lang="es-CO"/>
          </a:p>
        </p:txBody>
      </p:sp>
      <p:sp>
        <p:nvSpPr>
          <p:cNvPr id="5" name="Marcador de pie de página 4">
            <a:extLst>
              <a:ext uri="{FF2B5EF4-FFF2-40B4-BE49-F238E27FC236}">
                <a16:creationId xmlns:a16="http://schemas.microsoft.com/office/drawing/2014/main" id="{891C148F-BDC0-CC37-1585-AB36332952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15EF159-DFE9-32CC-73B9-A248D0CF40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8FB94D-1B47-5A4C-ADA8-C837B15C4808}" type="slidenum">
              <a:rPr lang="es-CO" smtClean="0"/>
              <a:t>‹Nº›</a:t>
            </a:fld>
            <a:endParaRPr lang="es-CO"/>
          </a:p>
        </p:txBody>
      </p:sp>
    </p:spTree>
    <p:extLst>
      <p:ext uri="{BB962C8B-B14F-4D97-AF65-F5344CB8AC3E}">
        <p14:creationId xmlns:p14="http://schemas.microsoft.com/office/powerpoint/2010/main" val="1894593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2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74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2EE092-CF68-F0C1-062A-5D67BE93EAA0}"/>
              </a:ext>
            </a:extLst>
          </p:cNvPr>
          <p:cNvSpPr txBox="1">
            <a:spLocks/>
          </p:cNvSpPr>
          <p:nvPr/>
        </p:nvSpPr>
        <p:spPr>
          <a:xfrm>
            <a:off x="3066859" y="3429000"/>
            <a:ext cx="5747386" cy="1080053"/>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3600" b="1" dirty="0">
                <a:solidFill>
                  <a:schemeClr val="bg1"/>
                </a:solidFill>
                <a:latin typeface="Aptos ExtraBold" panose="020B0004020202020204" pitchFamily="34" charset="0"/>
              </a:rPr>
              <a:t>Comité de Precios</a:t>
            </a:r>
          </a:p>
          <a:p>
            <a:r>
              <a:rPr lang="es-ES" sz="3600" b="1" dirty="0">
                <a:solidFill>
                  <a:schemeClr val="bg1"/>
                </a:solidFill>
                <a:latin typeface="Aptos ExtraBold" panose="020B0004020202020204" pitchFamily="34" charset="0"/>
              </a:rPr>
              <a:t>Diciembre 2025</a:t>
            </a:r>
          </a:p>
        </p:txBody>
      </p:sp>
    </p:spTree>
    <p:extLst>
      <p:ext uri="{BB962C8B-B14F-4D97-AF65-F5344CB8AC3E}">
        <p14:creationId xmlns:p14="http://schemas.microsoft.com/office/powerpoint/2010/main" val="3291150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76FB684-558E-A311-1E06-0D2C451BE048}"/>
              </a:ext>
            </a:extLst>
          </p:cNvPr>
          <p:cNvSpPr>
            <a:spLocks noGrp="1"/>
          </p:cNvSpPr>
          <p:nvPr>
            <p:ph type="title"/>
          </p:nvPr>
        </p:nvSpPr>
        <p:spPr>
          <a:xfrm>
            <a:off x="231070" y="320631"/>
            <a:ext cx="9114097" cy="767505"/>
          </a:xfrm>
        </p:spPr>
        <p:txBody>
          <a:bodyPr anchor="t">
            <a:noAutofit/>
          </a:bodyPr>
          <a:lstStyle/>
          <a:p>
            <a:r>
              <a:rPr lang="es-ES" sz="4000" b="1" dirty="0">
                <a:solidFill>
                  <a:srgbClr val="AC0049"/>
                </a:solidFill>
                <a:latin typeface="Aptos ExtraBold" panose="020B0004020202020204" pitchFamily="34" charset="0"/>
              </a:rPr>
              <a:t>Evolución Tasas de Referencia</a:t>
            </a:r>
          </a:p>
        </p:txBody>
      </p:sp>
      <p:pic>
        <p:nvPicPr>
          <p:cNvPr id="5" name="Imagen 4">
            <a:extLst>
              <a:ext uri="{FF2B5EF4-FFF2-40B4-BE49-F238E27FC236}">
                <a16:creationId xmlns:a16="http://schemas.microsoft.com/office/drawing/2014/main" id="{DE96A0C7-514A-508A-F214-F5204DB7E6C9}"/>
              </a:ext>
            </a:extLst>
          </p:cNvPr>
          <p:cNvPicPr>
            <a:picLocks noChangeAspect="1"/>
          </p:cNvPicPr>
          <p:nvPr/>
        </p:nvPicPr>
        <p:blipFill>
          <a:blip r:embed="rId3"/>
          <a:stretch>
            <a:fillRect/>
          </a:stretch>
        </p:blipFill>
        <p:spPr>
          <a:xfrm>
            <a:off x="329817" y="5235261"/>
            <a:ext cx="11593543" cy="1019317"/>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EFA14379-1577-F852-9890-E81682317E82}"/>
              </a:ext>
            </a:extLst>
          </p:cNvPr>
          <p:cNvPicPr>
            <a:picLocks noChangeAspect="1"/>
          </p:cNvPicPr>
          <p:nvPr/>
        </p:nvPicPr>
        <p:blipFill>
          <a:blip r:embed="rId4"/>
          <a:stretch>
            <a:fillRect/>
          </a:stretch>
        </p:blipFill>
        <p:spPr>
          <a:xfrm>
            <a:off x="884421" y="1009075"/>
            <a:ext cx="9668654" cy="4226186"/>
          </a:xfrm>
          <a:prstGeom prst="rect">
            <a:avLst/>
          </a:prstGeom>
        </p:spPr>
      </p:pic>
    </p:spTree>
    <p:extLst>
      <p:ext uri="{BB962C8B-B14F-4D97-AF65-F5344CB8AC3E}">
        <p14:creationId xmlns:p14="http://schemas.microsoft.com/office/powerpoint/2010/main" val="3010972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D00600B-1FA5-8807-A1B5-AE3944875FB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9A92021-09B4-1DFE-277D-B72C5A700800}"/>
              </a:ext>
            </a:extLst>
          </p:cNvPr>
          <p:cNvSpPr>
            <a:spLocks noGrp="1"/>
          </p:cNvSpPr>
          <p:nvPr>
            <p:ph type="title"/>
          </p:nvPr>
        </p:nvSpPr>
        <p:spPr>
          <a:xfrm>
            <a:off x="728472" y="474309"/>
            <a:ext cx="9114097" cy="767505"/>
          </a:xfrm>
        </p:spPr>
        <p:txBody>
          <a:bodyPr anchor="t">
            <a:noAutofit/>
          </a:bodyPr>
          <a:lstStyle/>
          <a:p>
            <a:r>
              <a:rPr lang="es-ES" sz="4800" b="1" dirty="0">
                <a:solidFill>
                  <a:srgbClr val="AC0049"/>
                </a:solidFill>
                <a:latin typeface="Aptos ExtraBold" panose="020B0004020202020204" pitchFamily="34" charset="0"/>
              </a:rPr>
              <a:t>Análisis Macroeconómico </a:t>
            </a:r>
          </a:p>
        </p:txBody>
      </p:sp>
      <p:sp>
        <p:nvSpPr>
          <p:cNvPr id="2" name="Marcador de contenido 2">
            <a:extLst>
              <a:ext uri="{FF2B5EF4-FFF2-40B4-BE49-F238E27FC236}">
                <a16:creationId xmlns:a16="http://schemas.microsoft.com/office/drawing/2014/main" id="{16494141-66C8-8F36-5416-EEC5D45B2494}"/>
              </a:ext>
            </a:extLst>
          </p:cNvPr>
          <p:cNvSpPr>
            <a:spLocks noGrp="1"/>
          </p:cNvSpPr>
          <p:nvPr>
            <p:ph idx="1"/>
          </p:nvPr>
        </p:nvSpPr>
        <p:spPr>
          <a:xfrm>
            <a:off x="728472" y="1582264"/>
            <a:ext cx="10735056" cy="5066898"/>
          </a:xfrm>
        </p:spPr>
        <p:txBody>
          <a:bodyPr>
            <a:normAutofit/>
          </a:bodyPr>
          <a:lstStyle/>
          <a:p>
            <a:pPr marL="0" indent="0" algn="just">
              <a:buNone/>
            </a:pPr>
            <a:r>
              <a:rPr lang="es-CO" dirty="0">
                <a:latin typeface="Aptos" panose="020B0004020202020204" pitchFamily="34" charset="0"/>
              </a:rPr>
              <a:t>La tasa de interés de política monetaria esta en  9,25%</a:t>
            </a:r>
            <a:endParaRPr lang="es-CO" b="1" dirty="0">
              <a:latin typeface="Aptos" panose="020B0004020202020204" pitchFamily="34" charset="0"/>
            </a:endParaRPr>
          </a:p>
          <a:p>
            <a:pPr marL="0" indent="0" algn="just">
              <a:buNone/>
            </a:pPr>
            <a:endParaRPr lang="es-CO" sz="2600" b="1" dirty="0">
              <a:latin typeface="Aptos" panose="020B0004020202020204" pitchFamily="34" charset="0"/>
            </a:endParaRPr>
          </a:p>
          <a:p>
            <a:pPr marL="0" indent="0" algn="just">
              <a:buNone/>
            </a:pPr>
            <a:r>
              <a:rPr lang="es-CO" dirty="0"/>
              <a:t>Los directores coincidieron en destacar el creciente dinamismo de la actividad económica estimulada por el sostenido aumento del consumo y el reciente repunte de la inversión. Resaltaron que este fortalecimiento de la demanda interna ha venido ocurriendo en el contexto de una política monetaria restrictiva. Igualmente subrayaron el buen desempeño del mercado laboral, en donde la población ocupada ha venido aumentando y la tasa de desempleo ha disminuido a mínimos históricos. </a:t>
            </a:r>
            <a:endParaRPr lang="es-CO" sz="2600" dirty="0">
              <a:latin typeface="Aptos" panose="020B0004020202020204" pitchFamily="34" charset="0"/>
            </a:endParaRPr>
          </a:p>
        </p:txBody>
      </p:sp>
    </p:spTree>
    <p:extLst>
      <p:ext uri="{BB962C8B-B14F-4D97-AF65-F5344CB8AC3E}">
        <p14:creationId xmlns:p14="http://schemas.microsoft.com/office/powerpoint/2010/main" val="1809272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EA15C6A-F85B-2B9D-72FF-EB5A00AC8F0C}"/>
            </a:ext>
          </a:extLst>
        </p:cNvPr>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B294B83D-0953-C2AE-CC1D-A921F2938C6B}"/>
              </a:ext>
            </a:extLst>
          </p:cNvPr>
          <p:cNvGraphicFramePr>
            <a:graphicFrameLocks noGrp="1"/>
          </p:cNvGraphicFramePr>
          <p:nvPr>
            <p:extLst>
              <p:ext uri="{D42A27DB-BD31-4B8C-83A1-F6EECF244321}">
                <p14:modId xmlns:p14="http://schemas.microsoft.com/office/powerpoint/2010/main" val="294752891"/>
              </p:ext>
            </p:extLst>
          </p:nvPr>
        </p:nvGraphicFramePr>
        <p:xfrm>
          <a:off x="944380" y="119921"/>
          <a:ext cx="10388184" cy="66256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660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30944C6-5BD1-FEE5-5DE1-570DA4075ED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50D290E-4CC3-A0F1-E98B-6CC3E2DAE6B0}"/>
              </a:ext>
            </a:extLst>
          </p:cNvPr>
          <p:cNvSpPr>
            <a:spLocks noGrp="1"/>
          </p:cNvSpPr>
          <p:nvPr>
            <p:ph type="title"/>
          </p:nvPr>
        </p:nvSpPr>
        <p:spPr>
          <a:xfrm>
            <a:off x="231070" y="320631"/>
            <a:ext cx="9114097" cy="767505"/>
          </a:xfrm>
        </p:spPr>
        <p:txBody>
          <a:bodyPr anchor="t">
            <a:noAutofit/>
          </a:bodyPr>
          <a:lstStyle/>
          <a:p>
            <a:r>
              <a:rPr lang="es-ES" sz="4800" b="1" dirty="0">
                <a:solidFill>
                  <a:srgbClr val="AC0049"/>
                </a:solidFill>
                <a:latin typeface="Aptos ExtraBold" panose="020B0004020202020204" pitchFamily="34" charset="0"/>
              </a:rPr>
              <a:t>Tasas de Stock Cartera</a:t>
            </a:r>
          </a:p>
        </p:txBody>
      </p:sp>
      <p:graphicFrame>
        <p:nvGraphicFramePr>
          <p:cNvPr id="2" name="Gráfico 1">
            <a:extLst>
              <a:ext uri="{FF2B5EF4-FFF2-40B4-BE49-F238E27FC236}">
                <a16:creationId xmlns:a16="http://schemas.microsoft.com/office/drawing/2014/main" id="{4A215140-2E60-ABBE-9AA4-DBC51AD4BE18}"/>
              </a:ext>
            </a:extLst>
          </p:cNvPr>
          <p:cNvGraphicFramePr>
            <a:graphicFrameLocks/>
          </p:cNvGraphicFramePr>
          <p:nvPr>
            <p:extLst>
              <p:ext uri="{D42A27DB-BD31-4B8C-83A1-F6EECF244321}">
                <p14:modId xmlns:p14="http://schemas.microsoft.com/office/powerpoint/2010/main" val="4201357851"/>
              </p:ext>
            </p:extLst>
          </p:nvPr>
        </p:nvGraphicFramePr>
        <p:xfrm>
          <a:off x="-224852" y="899410"/>
          <a:ext cx="12026341" cy="563795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05462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8F303BD-55D9-1820-FF36-E79EF1A0408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550B501-9211-1417-E397-1BAB8DBCA475}"/>
              </a:ext>
            </a:extLst>
          </p:cNvPr>
          <p:cNvSpPr>
            <a:spLocks noGrp="1"/>
          </p:cNvSpPr>
          <p:nvPr>
            <p:ph type="title"/>
          </p:nvPr>
        </p:nvSpPr>
        <p:spPr>
          <a:xfrm>
            <a:off x="231070" y="320631"/>
            <a:ext cx="9114097" cy="767505"/>
          </a:xfrm>
        </p:spPr>
        <p:txBody>
          <a:bodyPr anchor="t">
            <a:noAutofit/>
          </a:bodyPr>
          <a:lstStyle/>
          <a:p>
            <a:r>
              <a:rPr lang="es-ES" sz="4800" b="1" dirty="0">
                <a:solidFill>
                  <a:srgbClr val="AC0049"/>
                </a:solidFill>
                <a:latin typeface="Aptos ExtraBold" panose="020B0004020202020204" pitchFamily="34" charset="0"/>
              </a:rPr>
              <a:t>Tasa Desembolso Mensual</a:t>
            </a:r>
          </a:p>
        </p:txBody>
      </p:sp>
      <p:graphicFrame>
        <p:nvGraphicFramePr>
          <p:cNvPr id="2" name="Gráfico 1">
            <a:extLst>
              <a:ext uri="{FF2B5EF4-FFF2-40B4-BE49-F238E27FC236}">
                <a16:creationId xmlns:a16="http://schemas.microsoft.com/office/drawing/2014/main" id="{5272E26B-5459-40A0-B939-C12BF5378B74}"/>
              </a:ext>
            </a:extLst>
          </p:cNvPr>
          <p:cNvGraphicFramePr>
            <a:graphicFrameLocks/>
          </p:cNvGraphicFramePr>
          <p:nvPr>
            <p:extLst>
              <p:ext uri="{D42A27DB-BD31-4B8C-83A1-F6EECF244321}">
                <p14:modId xmlns:p14="http://schemas.microsoft.com/office/powerpoint/2010/main" val="4009812661"/>
              </p:ext>
            </p:extLst>
          </p:nvPr>
        </p:nvGraphicFramePr>
        <p:xfrm>
          <a:off x="0" y="1088136"/>
          <a:ext cx="11681733" cy="54492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18696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8BA5EE8-7EE9-B3B0-7236-DC8EFF0268B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2F0B073-074A-1DBD-A8E4-2B2D011F7B82}"/>
              </a:ext>
            </a:extLst>
          </p:cNvPr>
          <p:cNvSpPr>
            <a:spLocks noGrp="1"/>
          </p:cNvSpPr>
          <p:nvPr>
            <p:ph type="title"/>
          </p:nvPr>
        </p:nvSpPr>
        <p:spPr>
          <a:xfrm>
            <a:off x="231070" y="320631"/>
            <a:ext cx="9114097" cy="767505"/>
          </a:xfrm>
        </p:spPr>
        <p:txBody>
          <a:bodyPr anchor="t">
            <a:noAutofit/>
          </a:bodyPr>
          <a:lstStyle/>
          <a:p>
            <a:r>
              <a:rPr lang="es-ES" sz="4800" b="1" dirty="0">
                <a:solidFill>
                  <a:srgbClr val="AC0049"/>
                </a:solidFill>
                <a:latin typeface="Aptos ExtraBold" panose="020B0004020202020204" pitchFamily="34" charset="0"/>
              </a:rPr>
              <a:t>Desembolsos mensuales </a:t>
            </a:r>
          </a:p>
        </p:txBody>
      </p:sp>
      <p:graphicFrame>
        <p:nvGraphicFramePr>
          <p:cNvPr id="3" name="Gráfico 2">
            <a:extLst>
              <a:ext uri="{FF2B5EF4-FFF2-40B4-BE49-F238E27FC236}">
                <a16:creationId xmlns:a16="http://schemas.microsoft.com/office/drawing/2014/main" id="{CCF46ACE-95A4-4400-AC87-10F0F076A7D1}"/>
              </a:ext>
            </a:extLst>
          </p:cNvPr>
          <p:cNvGraphicFramePr>
            <a:graphicFrameLocks/>
          </p:cNvGraphicFramePr>
          <p:nvPr>
            <p:extLst>
              <p:ext uri="{D42A27DB-BD31-4B8C-83A1-F6EECF244321}">
                <p14:modId xmlns:p14="http://schemas.microsoft.com/office/powerpoint/2010/main" val="3045223363"/>
              </p:ext>
            </p:extLst>
          </p:nvPr>
        </p:nvGraphicFramePr>
        <p:xfrm>
          <a:off x="119921" y="884420"/>
          <a:ext cx="11523524" cy="56529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83171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024A4A8-F08F-E81D-6345-968F0109AA25}"/>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9739BC16-C12C-B641-1417-EECBB456EAEB}"/>
              </a:ext>
            </a:extLst>
          </p:cNvPr>
          <p:cNvSpPr>
            <a:spLocks noGrp="1"/>
          </p:cNvSpPr>
          <p:nvPr>
            <p:ph type="title"/>
          </p:nvPr>
        </p:nvSpPr>
        <p:spPr>
          <a:xfrm>
            <a:off x="231070" y="320631"/>
            <a:ext cx="9114097" cy="767505"/>
          </a:xfrm>
        </p:spPr>
        <p:txBody>
          <a:bodyPr anchor="t">
            <a:noAutofit/>
          </a:bodyPr>
          <a:lstStyle/>
          <a:p>
            <a:r>
              <a:rPr lang="es-CO" sz="4800" b="1" dirty="0">
                <a:solidFill>
                  <a:srgbClr val="AC0049"/>
                </a:solidFill>
                <a:latin typeface="Aptos ExtraBold" panose="020B0004020202020204" pitchFamily="34" charset="0"/>
              </a:rPr>
              <a:t>Saldo de cartera por línea</a:t>
            </a:r>
          </a:p>
        </p:txBody>
      </p:sp>
      <p:graphicFrame>
        <p:nvGraphicFramePr>
          <p:cNvPr id="2" name="Gráfico 1">
            <a:extLst>
              <a:ext uri="{FF2B5EF4-FFF2-40B4-BE49-F238E27FC236}">
                <a16:creationId xmlns:a16="http://schemas.microsoft.com/office/drawing/2014/main" id="{ED2CF1E5-1B6D-409C-84E4-8CFFDF831442}"/>
              </a:ext>
            </a:extLst>
          </p:cNvPr>
          <p:cNvGraphicFramePr>
            <a:graphicFrameLocks/>
          </p:cNvGraphicFramePr>
          <p:nvPr>
            <p:extLst>
              <p:ext uri="{D42A27DB-BD31-4B8C-83A1-F6EECF244321}">
                <p14:modId xmlns:p14="http://schemas.microsoft.com/office/powerpoint/2010/main" val="2632479440"/>
              </p:ext>
            </p:extLst>
          </p:nvPr>
        </p:nvGraphicFramePr>
        <p:xfrm>
          <a:off x="231070" y="1364105"/>
          <a:ext cx="11551199" cy="51732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44216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D4A4EE8-A118-9977-7253-B5EFAABF2C0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14ACA99-C208-F208-EC9A-3E99B2238BBC}"/>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Hasta 1 </a:t>
            </a:r>
            <a:r>
              <a:rPr lang="es-CO" sz="2400" b="1" dirty="0" err="1">
                <a:solidFill>
                  <a:srgbClr val="AC0049"/>
                </a:solidFill>
                <a:latin typeface="Aptos ExtraBold" panose="020B0004020202020204" pitchFamily="34" charset="0"/>
              </a:rPr>
              <a:t>smmlv</a:t>
            </a:r>
            <a:endParaRPr lang="es-CO" sz="2400" b="1" dirty="0">
              <a:solidFill>
                <a:srgbClr val="AC0049"/>
              </a:solidFill>
              <a:latin typeface="Aptos ExtraBold" panose="020B0004020202020204" pitchFamily="34" charset="0"/>
            </a:endParaRPr>
          </a:p>
        </p:txBody>
      </p:sp>
      <p:sp>
        <p:nvSpPr>
          <p:cNvPr id="6" name="CuadroTexto 5">
            <a:extLst>
              <a:ext uri="{FF2B5EF4-FFF2-40B4-BE49-F238E27FC236}">
                <a16:creationId xmlns:a16="http://schemas.microsoft.com/office/drawing/2014/main" id="{6DBF5CEE-F49B-708F-A82D-27214E63236C}"/>
              </a:ext>
            </a:extLst>
          </p:cNvPr>
          <p:cNvSpPr txBox="1"/>
          <p:nvPr/>
        </p:nvSpPr>
        <p:spPr>
          <a:xfrm>
            <a:off x="261485" y="1576965"/>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FB4E699C-E965-29F2-7D11-1FF319EAAAF3}"/>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solidFill>
                  <a:prstClr val="black">
                    <a:lumMod val="75000"/>
                    <a:lumOff val="25000"/>
                  </a:prstClr>
                </a:solidFill>
                <a:latin typeface="Calibri" panose="020F0502020204030204"/>
              </a:rPr>
              <a:t>22,59</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lang="es-CO" b="1" dirty="0">
                <a:solidFill>
                  <a:prstClr val="black">
                    <a:lumMod val="75000"/>
                    <a:lumOff val="25000"/>
                  </a:prstClr>
                </a:solidFill>
                <a:latin typeface="Calibri" panose="020F0502020204030204"/>
              </a:rPr>
              <a:t>159</a:t>
            </a:r>
          </a:p>
        </p:txBody>
      </p:sp>
      <p:graphicFrame>
        <p:nvGraphicFramePr>
          <p:cNvPr id="3" name="Gráfico 2">
            <a:extLst>
              <a:ext uri="{FF2B5EF4-FFF2-40B4-BE49-F238E27FC236}">
                <a16:creationId xmlns:a16="http://schemas.microsoft.com/office/drawing/2014/main" id="{36E3D5C6-C190-650E-9EBD-F83158A4DF6D}"/>
              </a:ext>
            </a:extLst>
          </p:cNvPr>
          <p:cNvGraphicFramePr>
            <a:graphicFrameLocks/>
          </p:cNvGraphicFramePr>
          <p:nvPr>
            <p:extLst>
              <p:ext uri="{D42A27DB-BD31-4B8C-83A1-F6EECF244321}">
                <p14:modId xmlns:p14="http://schemas.microsoft.com/office/powerpoint/2010/main" val="150799346"/>
              </p:ext>
            </p:extLst>
          </p:nvPr>
        </p:nvGraphicFramePr>
        <p:xfrm>
          <a:off x="2623342" y="1693889"/>
          <a:ext cx="9114097" cy="3927422"/>
        </p:xfrm>
        <a:graphic>
          <a:graphicData uri="http://schemas.openxmlformats.org/drawingml/2006/chart">
            <c:chart xmlns:c="http://schemas.openxmlformats.org/drawingml/2006/chart" xmlns:r="http://schemas.openxmlformats.org/officeDocument/2006/relationships" r:id="rId3"/>
          </a:graphicData>
        </a:graphic>
      </p:graphicFrame>
      <p:pic>
        <p:nvPicPr>
          <p:cNvPr id="7" name="Imagen 6" descr="Interfaz de usuario gráfica, Aplicación&#10;&#10;El contenido generado por IA puede ser incorrecto.">
            <a:extLst>
              <a:ext uri="{FF2B5EF4-FFF2-40B4-BE49-F238E27FC236}">
                <a16:creationId xmlns:a16="http://schemas.microsoft.com/office/drawing/2014/main" id="{51B42AFF-FA31-1743-DD02-1C5C4DA3A82C}"/>
              </a:ext>
            </a:extLst>
          </p:cNvPr>
          <p:cNvPicPr>
            <a:picLocks noChangeAspect="1"/>
          </p:cNvPicPr>
          <p:nvPr/>
        </p:nvPicPr>
        <p:blipFill>
          <a:blip r:embed="rId4"/>
          <a:stretch>
            <a:fillRect/>
          </a:stretch>
        </p:blipFill>
        <p:spPr>
          <a:xfrm>
            <a:off x="197945" y="2252497"/>
            <a:ext cx="2785097" cy="3323281"/>
          </a:xfrm>
          <a:prstGeom prst="rect">
            <a:avLst/>
          </a:prstGeom>
        </p:spPr>
      </p:pic>
    </p:spTree>
    <p:extLst>
      <p:ext uri="{BB962C8B-B14F-4D97-AF65-F5344CB8AC3E}">
        <p14:creationId xmlns:p14="http://schemas.microsoft.com/office/powerpoint/2010/main" val="282705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795FE08-2327-DF03-CAC5-E60DA371C4EC}"/>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0EFD342-65F7-B032-E4AB-518B1554B170}"/>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De 1 a 3 </a:t>
            </a:r>
            <a:r>
              <a:rPr lang="es-CO" sz="2400" b="1" dirty="0" err="1">
                <a:solidFill>
                  <a:srgbClr val="AC0049"/>
                </a:solidFill>
                <a:latin typeface="Aptos ExtraBold" panose="020B0004020202020204" pitchFamily="34" charset="0"/>
              </a:rPr>
              <a:t>smmlv</a:t>
            </a:r>
            <a:endParaRPr lang="es-CO" sz="2400" b="1" dirty="0">
              <a:solidFill>
                <a:srgbClr val="AC0049"/>
              </a:solidFill>
              <a:latin typeface="Aptos ExtraBold" panose="020B0004020202020204" pitchFamily="34" charset="0"/>
            </a:endParaRPr>
          </a:p>
        </p:txBody>
      </p:sp>
      <p:sp>
        <p:nvSpPr>
          <p:cNvPr id="5" name="CuadroTexto 4">
            <a:extLst>
              <a:ext uri="{FF2B5EF4-FFF2-40B4-BE49-F238E27FC236}">
                <a16:creationId xmlns:a16="http://schemas.microsoft.com/office/drawing/2014/main" id="{53DFB88A-4FF7-4CEE-EA34-DB7650543302}"/>
              </a:ext>
            </a:extLst>
          </p:cNvPr>
          <p:cNvSpPr txBox="1"/>
          <p:nvPr/>
        </p:nvSpPr>
        <p:spPr>
          <a:xfrm>
            <a:off x="324409" y="1608869"/>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2C2F07CE-D0F3-47E7-4741-0FECC5DB5632}"/>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solidFill>
                  <a:prstClr val="black">
                    <a:lumMod val="75000"/>
                    <a:lumOff val="25000"/>
                  </a:prstClr>
                </a:solidFill>
                <a:latin typeface="Calibri" panose="020F0502020204030204"/>
              </a:rPr>
              <a:t>22,49</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$648</a:t>
            </a:r>
            <a:endParaRPr lang="es-CO" b="1" dirty="0">
              <a:solidFill>
                <a:prstClr val="black">
                  <a:lumMod val="75000"/>
                  <a:lumOff val="25000"/>
                </a:prstClr>
              </a:solidFill>
              <a:latin typeface="Calibri" panose="020F0502020204030204"/>
            </a:endParaRPr>
          </a:p>
        </p:txBody>
      </p:sp>
      <p:pic>
        <p:nvPicPr>
          <p:cNvPr id="6" name="Imagen 5" descr="Interfaz de usuario gráfica&#10;&#10;El contenido generado por IA puede ser incorrecto.">
            <a:extLst>
              <a:ext uri="{FF2B5EF4-FFF2-40B4-BE49-F238E27FC236}">
                <a16:creationId xmlns:a16="http://schemas.microsoft.com/office/drawing/2014/main" id="{91388AF5-3BDF-4B2F-1C4A-3425E7E0F7AC}"/>
              </a:ext>
            </a:extLst>
          </p:cNvPr>
          <p:cNvPicPr>
            <a:picLocks noChangeAspect="1"/>
          </p:cNvPicPr>
          <p:nvPr/>
        </p:nvPicPr>
        <p:blipFill>
          <a:blip r:embed="rId3"/>
          <a:stretch>
            <a:fillRect/>
          </a:stretch>
        </p:blipFill>
        <p:spPr>
          <a:xfrm>
            <a:off x="77573" y="2498933"/>
            <a:ext cx="2725487" cy="3257289"/>
          </a:xfrm>
          <a:prstGeom prst="rect">
            <a:avLst/>
          </a:prstGeom>
        </p:spPr>
      </p:pic>
      <p:graphicFrame>
        <p:nvGraphicFramePr>
          <p:cNvPr id="7" name="Gráfico 6">
            <a:extLst>
              <a:ext uri="{FF2B5EF4-FFF2-40B4-BE49-F238E27FC236}">
                <a16:creationId xmlns:a16="http://schemas.microsoft.com/office/drawing/2014/main" id="{5CA7AAF8-703D-4E1A-9222-DC0A7870A567}"/>
              </a:ext>
            </a:extLst>
          </p:cNvPr>
          <p:cNvGraphicFramePr>
            <a:graphicFrameLocks/>
          </p:cNvGraphicFramePr>
          <p:nvPr>
            <p:extLst>
              <p:ext uri="{D42A27DB-BD31-4B8C-83A1-F6EECF244321}">
                <p14:modId xmlns:p14="http://schemas.microsoft.com/office/powerpoint/2010/main" val="835201250"/>
              </p:ext>
            </p:extLst>
          </p:nvPr>
        </p:nvGraphicFramePr>
        <p:xfrm>
          <a:off x="2584449" y="1822449"/>
          <a:ext cx="9524905" cy="407272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91169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F533876-F82F-35A8-2355-010F4ECEC03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BAE1277-065B-6231-406C-C40E7137131A}"/>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  	De 3 a 6 </a:t>
            </a:r>
            <a:r>
              <a:rPr lang="es-CO" sz="2400" b="1" dirty="0" err="1">
                <a:solidFill>
                  <a:srgbClr val="AC0049"/>
                </a:solidFill>
                <a:latin typeface="Aptos ExtraBold" panose="020B0004020202020204" pitchFamily="34" charset="0"/>
              </a:rPr>
              <a:t>smmlv</a:t>
            </a:r>
            <a:endParaRPr lang="es-CO" sz="2400" b="1" dirty="0">
              <a:solidFill>
                <a:srgbClr val="AC0049"/>
              </a:solidFill>
              <a:latin typeface="Aptos ExtraBold" panose="020B0004020202020204" pitchFamily="34" charset="0"/>
            </a:endParaRPr>
          </a:p>
        </p:txBody>
      </p:sp>
      <p:sp>
        <p:nvSpPr>
          <p:cNvPr id="5" name="CuadroTexto 4">
            <a:extLst>
              <a:ext uri="{FF2B5EF4-FFF2-40B4-BE49-F238E27FC236}">
                <a16:creationId xmlns:a16="http://schemas.microsoft.com/office/drawing/2014/main" id="{FFB6F353-838D-9880-62D2-A3E2E44DC273}"/>
              </a:ext>
            </a:extLst>
          </p:cNvPr>
          <p:cNvSpPr txBox="1"/>
          <p:nvPr/>
        </p:nvSpPr>
        <p:spPr>
          <a:xfrm>
            <a:off x="342766" y="1576965"/>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B85B632B-22FE-1A7A-C5B1-DDFA045453E9}"/>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solidFill>
                  <a:prstClr val="black">
                    <a:lumMod val="75000"/>
                    <a:lumOff val="25000"/>
                  </a:prstClr>
                </a:solidFill>
                <a:latin typeface="Calibri" panose="020F0502020204030204"/>
              </a:rPr>
              <a:t>21,07</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$727</a:t>
            </a:r>
          </a:p>
        </p:txBody>
      </p:sp>
      <p:pic>
        <p:nvPicPr>
          <p:cNvPr id="6" name="Imagen 5" descr="Interfaz de usuario gráfica&#10;&#10;El contenido generado por IA puede ser incorrecto.">
            <a:extLst>
              <a:ext uri="{FF2B5EF4-FFF2-40B4-BE49-F238E27FC236}">
                <a16:creationId xmlns:a16="http://schemas.microsoft.com/office/drawing/2014/main" id="{8787A55B-1FEC-7F69-4361-4EF2E6A18700}"/>
              </a:ext>
            </a:extLst>
          </p:cNvPr>
          <p:cNvPicPr>
            <a:picLocks noChangeAspect="1"/>
          </p:cNvPicPr>
          <p:nvPr/>
        </p:nvPicPr>
        <p:blipFill>
          <a:blip r:embed="rId3"/>
          <a:stretch>
            <a:fillRect/>
          </a:stretch>
        </p:blipFill>
        <p:spPr>
          <a:xfrm>
            <a:off x="-29014" y="2435126"/>
            <a:ext cx="2940656" cy="3428442"/>
          </a:xfrm>
          <a:prstGeom prst="rect">
            <a:avLst/>
          </a:prstGeom>
        </p:spPr>
      </p:pic>
      <p:graphicFrame>
        <p:nvGraphicFramePr>
          <p:cNvPr id="7" name="Gráfico 6">
            <a:extLst>
              <a:ext uri="{FF2B5EF4-FFF2-40B4-BE49-F238E27FC236}">
                <a16:creationId xmlns:a16="http://schemas.microsoft.com/office/drawing/2014/main" id="{41A25E84-6AE4-45A5-8744-4063626B509D}"/>
              </a:ext>
            </a:extLst>
          </p:cNvPr>
          <p:cNvGraphicFramePr>
            <a:graphicFrameLocks/>
          </p:cNvGraphicFramePr>
          <p:nvPr>
            <p:extLst>
              <p:ext uri="{D42A27DB-BD31-4B8C-83A1-F6EECF244321}">
                <p14:modId xmlns:p14="http://schemas.microsoft.com/office/powerpoint/2010/main" val="2954104769"/>
              </p:ext>
            </p:extLst>
          </p:nvPr>
        </p:nvGraphicFramePr>
        <p:xfrm>
          <a:off x="2612231" y="1912937"/>
          <a:ext cx="9114096" cy="398224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76986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07A750B-D3B0-0E4A-B296-ED6871EE584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E4DA3FB-D2AC-310E-83A1-C8260AE157AC}"/>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De 6 a 12 </a:t>
            </a:r>
            <a:r>
              <a:rPr lang="es-CO" sz="2400" b="1" dirty="0" err="1">
                <a:solidFill>
                  <a:srgbClr val="AC0049"/>
                </a:solidFill>
                <a:latin typeface="Aptos ExtraBold" panose="020B0004020202020204" pitchFamily="34" charset="0"/>
              </a:rPr>
              <a:t>smmlv</a:t>
            </a:r>
            <a:endParaRPr lang="es-CO" sz="2400" b="1" dirty="0">
              <a:solidFill>
                <a:srgbClr val="AC0049"/>
              </a:solidFill>
              <a:latin typeface="Aptos ExtraBold" panose="020B0004020202020204" pitchFamily="34" charset="0"/>
            </a:endParaRPr>
          </a:p>
        </p:txBody>
      </p:sp>
      <p:sp>
        <p:nvSpPr>
          <p:cNvPr id="5" name="CuadroTexto 4">
            <a:extLst>
              <a:ext uri="{FF2B5EF4-FFF2-40B4-BE49-F238E27FC236}">
                <a16:creationId xmlns:a16="http://schemas.microsoft.com/office/drawing/2014/main" id="{65747C52-C177-E141-FB3A-96CE8B3A7B7E}"/>
              </a:ext>
            </a:extLst>
          </p:cNvPr>
          <p:cNvSpPr txBox="1"/>
          <p:nvPr/>
        </p:nvSpPr>
        <p:spPr>
          <a:xfrm>
            <a:off x="369044" y="1577600"/>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ED2A09B7-C0B6-55C4-4E32-8ED726C901D0}"/>
              </a:ext>
            </a:extLst>
          </p:cNvPr>
          <p:cNvSpPr txBox="1"/>
          <p:nvPr/>
        </p:nvSpPr>
        <p:spPr>
          <a:xfrm>
            <a:off x="9849755" y="924245"/>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solidFill>
                  <a:prstClr val="black">
                    <a:lumMod val="75000"/>
                    <a:lumOff val="25000"/>
                  </a:prstClr>
                </a:solidFill>
                <a:latin typeface="Calibri" panose="020F0502020204030204"/>
              </a:rPr>
              <a:t>20,96</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ea  $</a:t>
            </a:r>
            <a:r>
              <a:rPr lang="es-CO" b="1" dirty="0">
                <a:solidFill>
                  <a:prstClr val="black">
                    <a:lumMod val="75000"/>
                    <a:lumOff val="25000"/>
                  </a:prstClr>
                </a:solidFill>
                <a:latin typeface="Calibri" panose="020F0502020204030204"/>
              </a:rPr>
              <a:t>1.030</a:t>
            </a:r>
          </a:p>
        </p:txBody>
      </p:sp>
      <p:pic>
        <p:nvPicPr>
          <p:cNvPr id="6" name="Imagen 5" descr="Interfaz de usuario gráfica, Aplicación&#10;&#10;El contenido generado por IA puede ser incorrecto.">
            <a:extLst>
              <a:ext uri="{FF2B5EF4-FFF2-40B4-BE49-F238E27FC236}">
                <a16:creationId xmlns:a16="http://schemas.microsoft.com/office/drawing/2014/main" id="{C5ECF3E3-0C47-5762-891C-575EDD692B18}"/>
              </a:ext>
            </a:extLst>
          </p:cNvPr>
          <p:cNvPicPr>
            <a:picLocks noChangeAspect="1"/>
          </p:cNvPicPr>
          <p:nvPr/>
        </p:nvPicPr>
        <p:blipFill>
          <a:blip r:embed="rId3"/>
          <a:stretch>
            <a:fillRect/>
          </a:stretch>
        </p:blipFill>
        <p:spPr>
          <a:xfrm>
            <a:off x="-107989" y="2290603"/>
            <a:ext cx="2966077" cy="3375679"/>
          </a:xfrm>
          <a:prstGeom prst="rect">
            <a:avLst/>
          </a:prstGeom>
        </p:spPr>
      </p:pic>
      <p:graphicFrame>
        <p:nvGraphicFramePr>
          <p:cNvPr id="7" name="Gráfico 6">
            <a:extLst>
              <a:ext uri="{FF2B5EF4-FFF2-40B4-BE49-F238E27FC236}">
                <a16:creationId xmlns:a16="http://schemas.microsoft.com/office/drawing/2014/main" id="{0EA6A6AC-BB90-4DCA-A5F4-1B2E08279BD6}"/>
              </a:ext>
            </a:extLst>
          </p:cNvPr>
          <p:cNvGraphicFramePr>
            <a:graphicFrameLocks/>
          </p:cNvGraphicFramePr>
          <p:nvPr>
            <p:extLst>
              <p:ext uri="{D42A27DB-BD31-4B8C-83A1-F6EECF244321}">
                <p14:modId xmlns:p14="http://schemas.microsoft.com/office/powerpoint/2010/main" val="1501830595"/>
              </p:ext>
            </p:extLst>
          </p:nvPr>
        </p:nvGraphicFramePr>
        <p:xfrm>
          <a:off x="2586037" y="1577599"/>
          <a:ext cx="8881438" cy="435615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12545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A526365-8B2A-994C-89D2-F8888A37C57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A06F542-3D1F-B243-62F7-8F3DA4F3A9FF}"/>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De 12 a 25 </a:t>
            </a:r>
            <a:r>
              <a:rPr lang="es-CO" sz="2400" b="1" dirty="0" err="1">
                <a:solidFill>
                  <a:srgbClr val="AC0049"/>
                </a:solidFill>
                <a:latin typeface="Aptos ExtraBold" panose="020B0004020202020204" pitchFamily="34" charset="0"/>
              </a:rPr>
              <a:t>smmlv</a:t>
            </a:r>
            <a:endParaRPr lang="es-CO" sz="2400" b="1" dirty="0">
              <a:solidFill>
                <a:srgbClr val="AC0049"/>
              </a:solidFill>
              <a:latin typeface="Aptos ExtraBold" panose="020B0004020202020204" pitchFamily="34" charset="0"/>
            </a:endParaRPr>
          </a:p>
        </p:txBody>
      </p:sp>
      <p:sp>
        <p:nvSpPr>
          <p:cNvPr id="5" name="CuadroTexto 4">
            <a:extLst>
              <a:ext uri="{FF2B5EF4-FFF2-40B4-BE49-F238E27FC236}">
                <a16:creationId xmlns:a16="http://schemas.microsoft.com/office/drawing/2014/main" id="{908E768D-DDDF-152D-937B-2C65FDB24A77}"/>
              </a:ext>
            </a:extLst>
          </p:cNvPr>
          <p:cNvSpPr txBox="1"/>
          <p:nvPr/>
        </p:nvSpPr>
        <p:spPr>
          <a:xfrm>
            <a:off x="414956" y="1594591"/>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5150FE26-71A3-939E-A51A-1E65DF913519}"/>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18,95%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lang="es-CO" b="1" dirty="0">
                <a:solidFill>
                  <a:prstClr val="black">
                    <a:lumMod val="75000"/>
                    <a:lumOff val="25000"/>
                  </a:prstClr>
                </a:solidFill>
                <a:latin typeface="Calibri" panose="020F0502020204030204"/>
              </a:rPr>
              <a:t>882</a:t>
            </a:r>
            <a:endPar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p:txBody>
      </p:sp>
      <p:pic>
        <p:nvPicPr>
          <p:cNvPr id="6" name="Imagen 5" descr="Interfaz de usuario gráfica, Aplicación&#10;&#10;El contenido generado por IA puede ser incorrecto.">
            <a:extLst>
              <a:ext uri="{FF2B5EF4-FFF2-40B4-BE49-F238E27FC236}">
                <a16:creationId xmlns:a16="http://schemas.microsoft.com/office/drawing/2014/main" id="{202FA17A-2C21-B2ED-89D5-56E5177B4D10}"/>
              </a:ext>
            </a:extLst>
          </p:cNvPr>
          <p:cNvPicPr>
            <a:picLocks noChangeAspect="1"/>
          </p:cNvPicPr>
          <p:nvPr/>
        </p:nvPicPr>
        <p:blipFill>
          <a:blip r:embed="rId3"/>
          <a:stretch>
            <a:fillRect/>
          </a:stretch>
        </p:blipFill>
        <p:spPr>
          <a:xfrm>
            <a:off x="231071" y="2731601"/>
            <a:ext cx="2942020" cy="3226274"/>
          </a:xfrm>
          <a:prstGeom prst="rect">
            <a:avLst/>
          </a:prstGeom>
        </p:spPr>
      </p:pic>
      <p:graphicFrame>
        <p:nvGraphicFramePr>
          <p:cNvPr id="7" name="Gráfico 6">
            <a:extLst>
              <a:ext uri="{FF2B5EF4-FFF2-40B4-BE49-F238E27FC236}">
                <a16:creationId xmlns:a16="http://schemas.microsoft.com/office/drawing/2014/main" id="{83F9254A-9E2B-4A71-9A58-D233328595EB}"/>
              </a:ext>
            </a:extLst>
          </p:cNvPr>
          <p:cNvGraphicFramePr>
            <a:graphicFrameLocks/>
          </p:cNvGraphicFramePr>
          <p:nvPr>
            <p:extLst>
              <p:ext uri="{D42A27DB-BD31-4B8C-83A1-F6EECF244321}">
                <p14:modId xmlns:p14="http://schemas.microsoft.com/office/powerpoint/2010/main" val="3053932228"/>
              </p:ext>
            </p:extLst>
          </p:nvPr>
        </p:nvGraphicFramePr>
        <p:xfrm>
          <a:off x="2612230" y="1914524"/>
          <a:ext cx="9164813" cy="415649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99865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A5DB19F-608A-67A7-42A3-85CFE98C1C9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C548A81-463A-BABF-59E0-3220CC2CD84C}"/>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Desembolsos - Consumo Créditos Noviembre</a:t>
            </a:r>
            <a:br>
              <a:rPr lang="es-CO" sz="2400" b="1" dirty="0">
                <a:solidFill>
                  <a:srgbClr val="AC0049"/>
                </a:solidFill>
                <a:latin typeface="Aptos ExtraBold" panose="020B0004020202020204" pitchFamily="34" charset="0"/>
              </a:rPr>
            </a:br>
            <a:br>
              <a:rPr lang="es-CO" sz="2400" b="1" dirty="0">
                <a:solidFill>
                  <a:srgbClr val="AC0049"/>
                </a:solidFill>
                <a:latin typeface="Aptos ExtraBold" panose="020B0004020202020204" pitchFamily="34" charset="0"/>
              </a:rPr>
            </a:br>
            <a:endParaRPr lang="es-CO" sz="2400" b="1" dirty="0">
              <a:solidFill>
                <a:srgbClr val="AC0049"/>
              </a:solidFill>
              <a:latin typeface="Aptos ExtraBold" panose="020B0004020202020204" pitchFamily="34" charset="0"/>
            </a:endParaRPr>
          </a:p>
        </p:txBody>
      </p:sp>
      <p:sp>
        <p:nvSpPr>
          <p:cNvPr id="5" name="CuadroTexto 4">
            <a:extLst>
              <a:ext uri="{FF2B5EF4-FFF2-40B4-BE49-F238E27FC236}">
                <a16:creationId xmlns:a16="http://schemas.microsoft.com/office/drawing/2014/main" id="{1272768A-2949-143C-6781-15A4A33D9E62}"/>
              </a:ext>
            </a:extLst>
          </p:cNvPr>
          <p:cNvSpPr txBox="1"/>
          <p:nvPr/>
        </p:nvSpPr>
        <p:spPr>
          <a:xfrm>
            <a:off x="359107" y="1503949"/>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2" name="CuadroTexto 1">
            <a:extLst>
              <a:ext uri="{FF2B5EF4-FFF2-40B4-BE49-F238E27FC236}">
                <a16:creationId xmlns:a16="http://schemas.microsoft.com/office/drawing/2014/main" id="{00952AA6-BF07-F8EC-7AA6-ABD64AD0C816}"/>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19,02%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lang="es-CO" b="1" dirty="0">
                <a:solidFill>
                  <a:prstClr val="black">
                    <a:lumMod val="75000"/>
                    <a:lumOff val="25000"/>
                  </a:prstClr>
                </a:solidFill>
                <a:latin typeface="Calibri" panose="020F0502020204030204"/>
              </a:rPr>
              <a:t>5.441</a:t>
            </a:r>
            <a:endPar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p:txBody>
      </p:sp>
      <p:pic>
        <p:nvPicPr>
          <p:cNvPr id="6" name="Imagen 5" descr="Interfaz de usuario gráfica, Aplicación&#10;&#10;El contenido generado por IA puede ser incorrecto.">
            <a:extLst>
              <a:ext uri="{FF2B5EF4-FFF2-40B4-BE49-F238E27FC236}">
                <a16:creationId xmlns:a16="http://schemas.microsoft.com/office/drawing/2014/main" id="{C2E384E2-1512-3607-0884-7A0A4B77EB82}"/>
              </a:ext>
            </a:extLst>
          </p:cNvPr>
          <p:cNvPicPr>
            <a:picLocks noChangeAspect="1"/>
          </p:cNvPicPr>
          <p:nvPr/>
        </p:nvPicPr>
        <p:blipFill>
          <a:blip r:embed="rId3"/>
          <a:stretch>
            <a:fillRect/>
          </a:stretch>
        </p:blipFill>
        <p:spPr>
          <a:xfrm>
            <a:off x="0" y="2304893"/>
            <a:ext cx="2838629" cy="3316418"/>
          </a:xfrm>
          <a:prstGeom prst="rect">
            <a:avLst/>
          </a:prstGeom>
        </p:spPr>
      </p:pic>
      <p:graphicFrame>
        <p:nvGraphicFramePr>
          <p:cNvPr id="7" name="Gráfico 6">
            <a:extLst>
              <a:ext uri="{FF2B5EF4-FFF2-40B4-BE49-F238E27FC236}">
                <a16:creationId xmlns:a16="http://schemas.microsoft.com/office/drawing/2014/main" id="{9D15E0AF-DC59-4ECE-80CD-10763B70DCB6}"/>
              </a:ext>
            </a:extLst>
          </p:cNvPr>
          <p:cNvGraphicFramePr>
            <a:graphicFrameLocks/>
          </p:cNvGraphicFramePr>
          <p:nvPr>
            <p:extLst>
              <p:ext uri="{D42A27DB-BD31-4B8C-83A1-F6EECF244321}">
                <p14:modId xmlns:p14="http://schemas.microsoft.com/office/powerpoint/2010/main" val="4199599035"/>
              </p:ext>
            </p:extLst>
          </p:nvPr>
        </p:nvGraphicFramePr>
        <p:xfrm>
          <a:off x="2586037" y="1236689"/>
          <a:ext cx="9114097" cy="47893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2757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955C92C-4202-5BBF-8C46-9D917E2A876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99DAC9C-DC79-1745-00E5-4F6D0BBDC38D}"/>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VIS pesos,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Hasta 20 años</a:t>
            </a:r>
          </a:p>
        </p:txBody>
      </p:sp>
      <p:sp>
        <p:nvSpPr>
          <p:cNvPr id="2" name="CuadroTexto 1">
            <a:extLst>
              <a:ext uri="{FF2B5EF4-FFF2-40B4-BE49-F238E27FC236}">
                <a16:creationId xmlns:a16="http://schemas.microsoft.com/office/drawing/2014/main" id="{6594A612-1952-370D-0411-3513DB2CCC39}"/>
              </a:ext>
            </a:extLst>
          </p:cNvPr>
          <p:cNvSpPr txBox="1"/>
          <p:nvPr/>
        </p:nvSpPr>
        <p:spPr>
          <a:xfrm>
            <a:off x="274886" y="1444283"/>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6" name="CuadroTexto 5">
            <a:extLst>
              <a:ext uri="{FF2B5EF4-FFF2-40B4-BE49-F238E27FC236}">
                <a16:creationId xmlns:a16="http://schemas.microsoft.com/office/drawing/2014/main" id="{355BC443-4C4F-A25A-982C-835EDAD1E7D5}"/>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10,93%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$873</a:t>
            </a:r>
          </a:p>
        </p:txBody>
      </p:sp>
      <p:graphicFrame>
        <p:nvGraphicFramePr>
          <p:cNvPr id="3" name="Gráfico 2">
            <a:extLst>
              <a:ext uri="{FF2B5EF4-FFF2-40B4-BE49-F238E27FC236}">
                <a16:creationId xmlns:a16="http://schemas.microsoft.com/office/drawing/2014/main" id="{47DD7308-265F-48DC-A336-C536918DAED1}"/>
              </a:ext>
            </a:extLst>
          </p:cNvPr>
          <p:cNvGraphicFramePr>
            <a:graphicFrameLocks/>
          </p:cNvGraphicFramePr>
          <p:nvPr>
            <p:extLst>
              <p:ext uri="{D42A27DB-BD31-4B8C-83A1-F6EECF244321}">
                <p14:modId xmlns:p14="http://schemas.microsoft.com/office/powerpoint/2010/main" val="375920156"/>
              </p:ext>
            </p:extLst>
          </p:nvPr>
        </p:nvGraphicFramePr>
        <p:xfrm>
          <a:off x="1835695" y="1727593"/>
          <a:ext cx="10935925" cy="4403384"/>
        </p:xfrm>
        <a:graphic>
          <a:graphicData uri="http://schemas.openxmlformats.org/drawingml/2006/chart">
            <c:chart xmlns:c="http://schemas.openxmlformats.org/drawingml/2006/chart" xmlns:r="http://schemas.openxmlformats.org/officeDocument/2006/relationships" r:id="rId3"/>
          </a:graphicData>
        </a:graphic>
      </p:graphicFrame>
      <p:pic>
        <p:nvPicPr>
          <p:cNvPr id="9" name="Imagen 8" descr="Interfaz de usuario gráfica, Aplicación&#10;&#10;El contenido generado por IA puede ser incorrecto.">
            <a:extLst>
              <a:ext uri="{FF2B5EF4-FFF2-40B4-BE49-F238E27FC236}">
                <a16:creationId xmlns:a16="http://schemas.microsoft.com/office/drawing/2014/main" id="{3C5632F6-01E2-159E-AADE-DFE33DC94BAD}"/>
              </a:ext>
            </a:extLst>
          </p:cNvPr>
          <p:cNvPicPr>
            <a:picLocks noChangeAspect="1"/>
          </p:cNvPicPr>
          <p:nvPr/>
        </p:nvPicPr>
        <p:blipFill>
          <a:blip r:embed="rId4"/>
          <a:stretch>
            <a:fillRect/>
          </a:stretch>
        </p:blipFill>
        <p:spPr>
          <a:xfrm>
            <a:off x="0" y="2295366"/>
            <a:ext cx="2667071" cy="2966181"/>
          </a:xfrm>
          <a:prstGeom prst="rect">
            <a:avLst/>
          </a:prstGeom>
        </p:spPr>
      </p:pic>
    </p:spTree>
    <p:extLst>
      <p:ext uri="{BB962C8B-B14F-4D97-AF65-F5344CB8AC3E}">
        <p14:creationId xmlns:p14="http://schemas.microsoft.com/office/powerpoint/2010/main" val="3811729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47F8273-23FA-3328-EB4A-28FADD533BF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9CA929F-E6CD-8767-F5ED-60E5A03C5F6A}"/>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VIS pesos,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Superior a 20 años</a:t>
            </a:r>
          </a:p>
        </p:txBody>
      </p:sp>
      <p:sp>
        <p:nvSpPr>
          <p:cNvPr id="2" name="CuadroTexto 1">
            <a:extLst>
              <a:ext uri="{FF2B5EF4-FFF2-40B4-BE49-F238E27FC236}">
                <a16:creationId xmlns:a16="http://schemas.microsoft.com/office/drawing/2014/main" id="{AE0BB32A-7BF3-9A12-BD88-832A1300DAEA}"/>
              </a:ext>
            </a:extLst>
          </p:cNvPr>
          <p:cNvSpPr txBox="1"/>
          <p:nvPr/>
        </p:nvSpPr>
        <p:spPr>
          <a:xfrm>
            <a:off x="318703" y="1665378"/>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graphicFrame>
        <p:nvGraphicFramePr>
          <p:cNvPr id="3" name="Gráfico 2">
            <a:extLst>
              <a:ext uri="{FF2B5EF4-FFF2-40B4-BE49-F238E27FC236}">
                <a16:creationId xmlns:a16="http://schemas.microsoft.com/office/drawing/2014/main" id="{053D392A-9DA7-662C-4FBA-BCC45128B416}"/>
              </a:ext>
            </a:extLst>
          </p:cNvPr>
          <p:cNvGraphicFramePr>
            <a:graphicFrameLocks/>
          </p:cNvGraphicFramePr>
          <p:nvPr>
            <p:extLst>
              <p:ext uri="{D42A27DB-BD31-4B8C-83A1-F6EECF244321}">
                <p14:modId xmlns:p14="http://schemas.microsoft.com/office/powerpoint/2010/main" val="3646029657"/>
              </p:ext>
            </p:extLst>
          </p:nvPr>
        </p:nvGraphicFramePr>
        <p:xfrm>
          <a:off x="2413416" y="1643978"/>
          <a:ext cx="9697661" cy="4172206"/>
        </p:xfrm>
        <a:graphic>
          <a:graphicData uri="http://schemas.openxmlformats.org/drawingml/2006/chart">
            <c:chart xmlns:c="http://schemas.openxmlformats.org/drawingml/2006/chart" xmlns:r="http://schemas.openxmlformats.org/officeDocument/2006/relationships" r:id="rId3"/>
          </a:graphicData>
        </a:graphic>
      </p:graphicFrame>
      <p:pic>
        <p:nvPicPr>
          <p:cNvPr id="8" name="Imagen 7" descr="Interfaz de usuario gráfica, Aplicación&#10;&#10;El contenido generado por IA puede ser incorrecto.">
            <a:extLst>
              <a:ext uri="{FF2B5EF4-FFF2-40B4-BE49-F238E27FC236}">
                <a16:creationId xmlns:a16="http://schemas.microsoft.com/office/drawing/2014/main" id="{4AC6FA94-1DBE-6FA0-F3B2-B7D37DB1D6B4}"/>
              </a:ext>
            </a:extLst>
          </p:cNvPr>
          <p:cNvPicPr>
            <a:picLocks noChangeAspect="1"/>
          </p:cNvPicPr>
          <p:nvPr/>
        </p:nvPicPr>
        <p:blipFill>
          <a:blip r:embed="rId4"/>
          <a:stretch>
            <a:fillRect/>
          </a:stretch>
        </p:blipFill>
        <p:spPr>
          <a:xfrm>
            <a:off x="0" y="2309656"/>
            <a:ext cx="2527196" cy="2882966"/>
          </a:xfrm>
          <a:prstGeom prst="rect">
            <a:avLst/>
          </a:prstGeom>
        </p:spPr>
      </p:pic>
    </p:spTree>
    <p:extLst>
      <p:ext uri="{BB962C8B-B14F-4D97-AF65-F5344CB8AC3E}">
        <p14:creationId xmlns:p14="http://schemas.microsoft.com/office/powerpoint/2010/main" val="3860753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F811844-E674-E410-D5CF-E86C99CF462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27CF2FE-EF7A-3571-07FE-2527A69911EC}"/>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NO VIS pesos, Noviembre 	</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Hasta 20 años</a:t>
            </a:r>
          </a:p>
        </p:txBody>
      </p:sp>
      <p:sp>
        <p:nvSpPr>
          <p:cNvPr id="2" name="CuadroTexto 1">
            <a:extLst>
              <a:ext uri="{FF2B5EF4-FFF2-40B4-BE49-F238E27FC236}">
                <a16:creationId xmlns:a16="http://schemas.microsoft.com/office/drawing/2014/main" id="{E3B91581-850B-0045-42F3-5240420799BA}"/>
              </a:ext>
            </a:extLst>
          </p:cNvPr>
          <p:cNvSpPr txBox="1"/>
          <p:nvPr/>
        </p:nvSpPr>
        <p:spPr>
          <a:xfrm>
            <a:off x="318703" y="1665378"/>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sp>
        <p:nvSpPr>
          <p:cNvPr id="7" name="CuadroTexto 6">
            <a:extLst>
              <a:ext uri="{FF2B5EF4-FFF2-40B4-BE49-F238E27FC236}">
                <a16:creationId xmlns:a16="http://schemas.microsoft.com/office/drawing/2014/main" id="{CDC360C7-2EBE-2953-725D-373CA3C36D71}"/>
              </a:ext>
            </a:extLst>
          </p:cNvPr>
          <p:cNvSpPr txBox="1"/>
          <p:nvPr/>
        </p:nvSpPr>
        <p:spPr>
          <a:xfrm>
            <a:off x="9928413" y="962823"/>
            <a:ext cx="2180942" cy="408623"/>
          </a:xfrm>
          <a:prstGeom prst="round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11,37% </a:t>
            </a:r>
            <a:r>
              <a:rPr kumimoji="0" lang="es-CO" sz="1800" b="1"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ea</a:t>
            </a:r>
            <a:r>
              <a:rPr kumimoji="0" lang="es-CO" sz="1800" b="1"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$1.213</a:t>
            </a:r>
          </a:p>
        </p:txBody>
      </p:sp>
      <p:pic>
        <p:nvPicPr>
          <p:cNvPr id="6" name="Imagen 5" descr="Interfaz de usuario gráfica&#10;&#10;El contenido generado por IA puede ser incorrecto.">
            <a:extLst>
              <a:ext uri="{FF2B5EF4-FFF2-40B4-BE49-F238E27FC236}">
                <a16:creationId xmlns:a16="http://schemas.microsoft.com/office/drawing/2014/main" id="{956344B2-7134-AC42-D955-B90D5937EACA}"/>
              </a:ext>
            </a:extLst>
          </p:cNvPr>
          <p:cNvPicPr>
            <a:picLocks noChangeAspect="1"/>
          </p:cNvPicPr>
          <p:nvPr/>
        </p:nvPicPr>
        <p:blipFill>
          <a:blip r:embed="rId3"/>
          <a:stretch>
            <a:fillRect/>
          </a:stretch>
        </p:blipFill>
        <p:spPr>
          <a:xfrm>
            <a:off x="0" y="2286209"/>
            <a:ext cx="2941831" cy="3275141"/>
          </a:xfrm>
          <a:prstGeom prst="rect">
            <a:avLst/>
          </a:prstGeom>
        </p:spPr>
      </p:pic>
      <p:graphicFrame>
        <p:nvGraphicFramePr>
          <p:cNvPr id="9" name="Gráfico 8">
            <a:extLst>
              <a:ext uri="{FF2B5EF4-FFF2-40B4-BE49-F238E27FC236}">
                <a16:creationId xmlns:a16="http://schemas.microsoft.com/office/drawing/2014/main" id="{859240D7-5752-46B4-8DEF-EED8308A5A40}"/>
              </a:ext>
            </a:extLst>
          </p:cNvPr>
          <p:cNvGraphicFramePr>
            <a:graphicFrameLocks/>
          </p:cNvGraphicFramePr>
          <p:nvPr>
            <p:extLst>
              <p:ext uri="{D42A27DB-BD31-4B8C-83A1-F6EECF244321}">
                <p14:modId xmlns:p14="http://schemas.microsoft.com/office/powerpoint/2010/main" val="1124941685"/>
              </p:ext>
            </p:extLst>
          </p:nvPr>
        </p:nvGraphicFramePr>
        <p:xfrm>
          <a:off x="3057992" y="1434288"/>
          <a:ext cx="9114097" cy="47416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617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F81EFB4-5B0E-6F48-27BB-F0285A0052D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142173E8-25C8-0095-345E-D8547861DF01}"/>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NO VIS pesos,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Superior a 20 años</a:t>
            </a:r>
          </a:p>
        </p:txBody>
      </p:sp>
      <p:sp>
        <p:nvSpPr>
          <p:cNvPr id="2" name="CuadroTexto 1">
            <a:extLst>
              <a:ext uri="{FF2B5EF4-FFF2-40B4-BE49-F238E27FC236}">
                <a16:creationId xmlns:a16="http://schemas.microsoft.com/office/drawing/2014/main" id="{4C88E27C-C6FC-AC8C-A6A8-4A2F356CC6F2}"/>
              </a:ext>
            </a:extLst>
          </p:cNvPr>
          <p:cNvSpPr txBox="1"/>
          <p:nvPr/>
        </p:nvSpPr>
        <p:spPr>
          <a:xfrm>
            <a:off x="402488" y="1480712"/>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pic>
        <p:nvPicPr>
          <p:cNvPr id="7" name="Imagen 6" descr="Interfaz de usuario gráfica, Aplicación&#10;&#10;El contenido generado por IA puede ser incorrecto.">
            <a:extLst>
              <a:ext uri="{FF2B5EF4-FFF2-40B4-BE49-F238E27FC236}">
                <a16:creationId xmlns:a16="http://schemas.microsoft.com/office/drawing/2014/main" id="{2E064740-25F9-39E7-8FEB-0B564E5CD8F3}"/>
              </a:ext>
            </a:extLst>
          </p:cNvPr>
          <p:cNvPicPr>
            <a:picLocks noChangeAspect="1"/>
          </p:cNvPicPr>
          <p:nvPr/>
        </p:nvPicPr>
        <p:blipFill>
          <a:blip r:embed="rId3"/>
          <a:stretch>
            <a:fillRect/>
          </a:stretch>
        </p:blipFill>
        <p:spPr>
          <a:xfrm>
            <a:off x="0" y="2333471"/>
            <a:ext cx="2758190" cy="3187857"/>
          </a:xfrm>
          <a:prstGeom prst="rect">
            <a:avLst/>
          </a:prstGeom>
        </p:spPr>
      </p:pic>
      <p:graphicFrame>
        <p:nvGraphicFramePr>
          <p:cNvPr id="8" name="Gráfico 7">
            <a:extLst>
              <a:ext uri="{FF2B5EF4-FFF2-40B4-BE49-F238E27FC236}">
                <a16:creationId xmlns:a16="http://schemas.microsoft.com/office/drawing/2014/main" id="{9EBCA75A-3C91-E545-6A1D-3AA26B6DA0EA}"/>
              </a:ext>
            </a:extLst>
          </p:cNvPr>
          <p:cNvGraphicFramePr>
            <a:graphicFrameLocks/>
          </p:cNvGraphicFramePr>
          <p:nvPr>
            <p:extLst>
              <p:ext uri="{D42A27DB-BD31-4B8C-83A1-F6EECF244321}">
                <p14:modId xmlns:p14="http://schemas.microsoft.com/office/powerpoint/2010/main" val="3562772705"/>
              </p:ext>
            </p:extLst>
          </p:nvPr>
        </p:nvGraphicFramePr>
        <p:xfrm>
          <a:off x="2758190" y="1873858"/>
          <a:ext cx="8919148" cy="36474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61726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F1A2578-FD29-6D5B-2D50-F7C3DC01DC7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175BAAF-6199-6032-C3FC-3EE6DFEBD5C7}"/>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VIS UVR,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Hasta 20 años</a:t>
            </a:r>
          </a:p>
        </p:txBody>
      </p:sp>
      <p:sp>
        <p:nvSpPr>
          <p:cNvPr id="2" name="CuadroTexto 1">
            <a:extLst>
              <a:ext uri="{FF2B5EF4-FFF2-40B4-BE49-F238E27FC236}">
                <a16:creationId xmlns:a16="http://schemas.microsoft.com/office/drawing/2014/main" id="{B4E1BB74-FC32-F28E-2162-2A50154AD2B6}"/>
              </a:ext>
            </a:extLst>
          </p:cNvPr>
          <p:cNvSpPr txBox="1"/>
          <p:nvPr/>
        </p:nvSpPr>
        <p:spPr>
          <a:xfrm>
            <a:off x="318703" y="1665378"/>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pic>
        <p:nvPicPr>
          <p:cNvPr id="5" name="Imagen 4" descr="Interfaz de usuario gráfica, Aplicación&#10;&#10;El contenido generado por IA puede ser incorrecto.">
            <a:extLst>
              <a:ext uri="{FF2B5EF4-FFF2-40B4-BE49-F238E27FC236}">
                <a16:creationId xmlns:a16="http://schemas.microsoft.com/office/drawing/2014/main" id="{212FCC24-CD19-3F6C-7B4B-561028A39852}"/>
              </a:ext>
            </a:extLst>
          </p:cNvPr>
          <p:cNvPicPr>
            <a:picLocks noChangeAspect="1"/>
          </p:cNvPicPr>
          <p:nvPr/>
        </p:nvPicPr>
        <p:blipFill>
          <a:blip r:embed="rId3"/>
          <a:stretch>
            <a:fillRect/>
          </a:stretch>
        </p:blipFill>
        <p:spPr>
          <a:xfrm>
            <a:off x="0" y="2224885"/>
            <a:ext cx="3017792" cy="3411417"/>
          </a:xfrm>
          <a:prstGeom prst="rect">
            <a:avLst/>
          </a:prstGeom>
        </p:spPr>
      </p:pic>
      <p:graphicFrame>
        <p:nvGraphicFramePr>
          <p:cNvPr id="6" name="Gráfico 5">
            <a:extLst>
              <a:ext uri="{FF2B5EF4-FFF2-40B4-BE49-F238E27FC236}">
                <a16:creationId xmlns:a16="http://schemas.microsoft.com/office/drawing/2014/main" id="{518B0DAD-6B42-2532-EAB2-BD309E8F0A86}"/>
              </a:ext>
            </a:extLst>
          </p:cNvPr>
          <p:cNvGraphicFramePr>
            <a:graphicFrameLocks/>
          </p:cNvGraphicFramePr>
          <p:nvPr>
            <p:extLst>
              <p:ext uri="{D42A27DB-BD31-4B8C-83A1-F6EECF244321}">
                <p14:modId xmlns:p14="http://schemas.microsoft.com/office/powerpoint/2010/main" val="1014887327"/>
              </p:ext>
            </p:extLst>
          </p:nvPr>
        </p:nvGraphicFramePr>
        <p:xfrm>
          <a:off x="2428407" y="1592753"/>
          <a:ext cx="9763593" cy="40435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08509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5655C18-8EBE-493E-36F4-FAB34234655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75259C8-91F3-C5E2-4823-35D1B0D2DB97}"/>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VIS UVR,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Superior a 20 años</a:t>
            </a:r>
          </a:p>
        </p:txBody>
      </p:sp>
      <p:sp>
        <p:nvSpPr>
          <p:cNvPr id="2" name="CuadroTexto 1">
            <a:extLst>
              <a:ext uri="{FF2B5EF4-FFF2-40B4-BE49-F238E27FC236}">
                <a16:creationId xmlns:a16="http://schemas.microsoft.com/office/drawing/2014/main" id="{6D4B2898-B917-A68E-56EC-0A7A820FD98E}"/>
              </a:ext>
            </a:extLst>
          </p:cNvPr>
          <p:cNvSpPr txBox="1"/>
          <p:nvPr/>
        </p:nvSpPr>
        <p:spPr>
          <a:xfrm>
            <a:off x="318703" y="1665378"/>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pic>
        <p:nvPicPr>
          <p:cNvPr id="5" name="Imagen 4" descr="Interfaz de usuario gráfica, Texto, Aplicación&#10;&#10;El contenido generado por IA puede ser incorrecto.">
            <a:extLst>
              <a:ext uri="{FF2B5EF4-FFF2-40B4-BE49-F238E27FC236}">
                <a16:creationId xmlns:a16="http://schemas.microsoft.com/office/drawing/2014/main" id="{ACDC0388-6FD6-E942-0F15-E00AC8019422}"/>
              </a:ext>
            </a:extLst>
          </p:cNvPr>
          <p:cNvPicPr>
            <a:picLocks noChangeAspect="1"/>
          </p:cNvPicPr>
          <p:nvPr/>
        </p:nvPicPr>
        <p:blipFill>
          <a:blip r:embed="rId3"/>
          <a:stretch>
            <a:fillRect/>
          </a:stretch>
        </p:blipFill>
        <p:spPr>
          <a:xfrm>
            <a:off x="119922" y="2333471"/>
            <a:ext cx="2743415" cy="3077977"/>
          </a:xfrm>
          <a:prstGeom prst="rect">
            <a:avLst/>
          </a:prstGeom>
        </p:spPr>
      </p:pic>
      <p:graphicFrame>
        <p:nvGraphicFramePr>
          <p:cNvPr id="7" name="Gráfico 6">
            <a:extLst>
              <a:ext uri="{FF2B5EF4-FFF2-40B4-BE49-F238E27FC236}">
                <a16:creationId xmlns:a16="http://schemas.microsoft.com/office/drawing/2014/main" id="{6CF22661-C1D0-504A-CED8-5FFEC3E52313}"/>
              </a:ext>
            </a:extLst>
          </p:cNvPr>
          <p:cNvGraphicFramePr>
            <a:graphicFrameLocks/>
          </p:cNvGraphicFramePr>
          <p:nvPr>
            <p:extLst>
              <p:ext uri="{D42A27DB-BD31-4B8C-83A1-F6EECF244321}">
                <p14:modId xmlns:p14="http://schemas.microsoft.com/office/powerpoint/2010/main" val="4250123286"/>
              </p:ext>
            </p:extLst>
          </p:nvPr>
        </p:nvGraphicFramePr>
        <p:xfrm>
          <a:off x="2344683" y="1752886"/>
          <a:ext cx="9997218" cy="37335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59060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98DCB6C-A0D2-D28F-95AF-65E01C44443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3AEEC2E-C049-B998-1739-0AA4CDB6C127}"/>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NO VIS UVR,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Hasta 20 años</a:t>
            </a:r>
          </a:p>
        </p:txBody>
      </p:sp>
      <p:sp>
        <p:nvSpPr>
          <p:cNvPr id="2" name="CuadroTexto 1">
            <a:extLst>
              <a:ext uri="{FF2B5EF4-FFF2-40B4-BE49-F238E27FC236}">
                <a16:creationId xmlns:a16="http://schemas.microsoft.com/office/drawing/2014/main" id="{FF160055-45E5-49B4-BED7-5EA77C759534}"/>
              </a:ext>
            </a:extLst>
          </p:cNvPr>
          <p:cNvSpPr txBox="1"/>
          <p:nvPr/>
        </p:nvSpPr>
        <p:spPr>
          <a:xfrm>
            <a:off x="231070" y="1492111"/>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pic>
        <p:nvPicPr>
          <p:cNvPr id="5" name="Imagen 4" descr="Interfaz de usuario gráfica, Aplicación&#10;&#10;El contenido generado por IA puede ser incorrecto.">
            <a:extLst>
              <a:ext uri="{FF2B5EF4-FFF2-40B4-BE49-F238E27FC236}">
                <a16:creationId xmlns:a16="http://schemas.microsoft.com/office/drawing/2014/main" id="{6C361039-D2FB-5785-1128-C4BB5E53E82A}"/>
              </a:ext>
            </a:extLst>
          </p:cNvPr>
          <p:cNvPicPr>
            <a:picLocks noChangeAspect="1"/>
          </p:cNvPicPr>
          <p:nvPr/>
        </p:nvPicPr>
        <p:blipFill>
          <a:blip r:embed="rId3"/>
          <a:stretch>
            <a:fillRect/>
          </a:stretch>
        </p:blipFill>
        <p:spPr>
          <a:xfrm>
            <a:off x="-1" y="2135571"/>
            <a:ext cx="2860957" cy="3251721"/>
          </a:xfrm>
          <a:prstGeom prst="rect">
            <a:avLst/>
          </a:prstGeom>
        </p:spPr>
      </p:pic>
      <p:graphicFrame>
        <p:nvGraphicFramePr>
          <p:cNvPr id="6" name="Gráfico 5">
            <a:extLst>
              <a:ext uri="{FF2B5EF4-FFF2-40B4-BE49-F238E27FC236}">
                <a16:creationId xmlns:a16="http://schemas.microsoft.com/office/drawing/2014/main" id="{07C85BD1-B827-95E6-997A-CC8215D918EB}"/>
              </a:ext>
            </a:extLst>
          </p:cNvPr>
          <p:cNvGraphicFramePr>
            <a:graphicFrameLocks/>
          </p:cNvGraphicFramePr>
          <p:nvPr>
            <p:extLst>
              <p:ext uri="{D42A27DB-BD31-4B8C-83A1-F6EECF244321}">
                <p14:modId xmlns:p14="http://schemas.microsoft.com/office/powerpoint/2010/main" val="1770960961"/>
              </p:ext>
            </p:extLst>
          </p:nvPr>
        </p:nvGraphicFramePr>
        <p:xfrm>
          <a:off x="2169883" y="1449306"/>
          <a:ext cx="9897199" cy="417200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69308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98BBE2-A8B9-FDFD-D1C7-EEFA8752DB09}"/>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23DF1B5-B453-034A-B2A6-E844538822F1}"/>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  Compra de vivienda NO VIS UVR, Noviembre</a:t>
            </a:r>
            <a:br>
              <a:rPr lang="es-CO" sz="2400" b="1" dirty="0">
                <a:solidFill>
                  <a:srgbClr val="AC0049"/>
                </a:solidFill>
                <a:latin typeface="Aptos ExtraBold" panose="020B0004020202020204" pitchFamily="34" charset="0"/>
              </a:rPr>
            </a:br>
            <a:r>
              <a:rPr lang="es-CO" sz="2400" b="1" dirty="0">
                <a:solidFill>
                  <a:srgbClr val="AC0049"/>
                </a:solidFill>
                <a:latin typeface="Aptos ExtraBold" panose="020B0004020202020204" pitchFamily="34" charset="0"/>
              </a:rPr>
              <a:t>Superior a 20 años</a:t>
            </a:r>
          </a:p>
        </p:txBody>
      </p:sp>
      <p:sp>
        <p:nvSpPr>
          <p:cNvPr id="2" name="CuadroTexto 1">
            <a:extLst>
              <a:ext uri="{FF2B5EF4-FFF2-40B4-BE49-F238E27FC236}">
                <a16:creationId xmlns:a16="http://schemas.microsoft.com/office/drawing/2014/main" id="{5CCF67D7-4368-ECC0-69A4-F4FFD3E3025E}"/>
              </a:ext>
            </a:extLst>
          </p:cNvPr>
          <p:cNvSpPr txBox="1"/>
          <p:nvPr/>
        </p:nvSpPr>
        <p:spPr>
          <a:xfrm>
            <a:off x="231070" y="1618594"/>
            <a:ext cx="2568876" cy="369332"/>
          </a:xfrm>
          <a:prstGeom prst="rect">
            <a:avLst/>
          </a:prstGeom>
          <a:noFill/>
        </p:spPr>
        <p:txBody>
          <a:bodyPr wrap="square" rtlCol="0">
            <a:spAutoFit/>
          </a:bodyPr>
          <a:lstStyle/>
          <a:p>
            <a:r>
              <a:rPr lang="es-MX" b="1" dirty="0">
                <a:solidFill>
                  <a:schemeClr val="accent1"/>
                </a:solidFill>
              </a:rPr>
              <a:t>Total sector financiero</a:t>
            </a:r>
            <a:endParaRPr lang="es-CO" b="1" dirty="0">
              <a:solidFill>
                <a:schemeClr val="accent1"/>
              </a:solidFill>
            </a:endParaRPr>
          </a:p>
        </p:txBody>
      </p:sp>
      <p:pic>
        <p:nvPicPr>
          <p:cNvPr id="6" name="Imagen 5" descr="Interfaz de usuario gráfica, Aplicación&#10;&#10;El contenido generado por IA puede ser incorrecto.">
            <a:extLst>
              <a:ext uri="{FF2B5EF4-FFF2-40B4-BE49-F238E27FC236}">
                <a16:creationId xmlns:a16="http://schemas.microsoft.com/office/drawing/2014/main" id="{1F1C3EE6-468F-860C-E23D-CA476344D777}"/>
              </a:ext>
            </a:extLst>
          </p:cNvPr>
          <p:cNvPicPr>
            <a:picLocks noChangeAspect="1"/>
          </p:cNvPicPr>
          <p:nvPr/>
        </p:nvPicPr>
        <p:blipFill>
          <a:blip r:embed="rId3"/>
          <a:stretch>
            <a:fillRect/>
          </a:stretch>
        </p:blipFill>
        <p:spPr>
          <a:xfrm>
            <a:off x="0" y="2223777"/>
            <a:ext cx="2828324" cy="3202661"/>
          </a:xfrm>
          <a:prstGeom prst="rect">
            <a:avLst/>
          </a:prstGeom>
        </p:spPr>
      </p:pic>
      <p:graphicFrame>
        <p:nvGraphicFramePr>
          <p:cNvPr id="7" name="Gráfico 6">
            <a:extLst>
              <a:ext uri="{FF2B5EF4-FFF2-40B4-BE49-F238E27FC236}">
                <a16:creationId xmlns:a16="http://schemas.microsoft.com/office/drawing/2014/main" id="{B47CC8C7-8DF7-D321-D448-71283CE0C88E}"/>
              </a:ext>
            </a:extLst>
          </p:cNvPr>
          <p:cNvGraphicFramePr>
            <a:graphicFrameLocks/>
          </p:cNvGraphicFramePr>
          <p:nvPr>
            <p:extLst>
              <p:ext uri="{D42A27DB-BD31-4B8C-83A1-F6EECF244321}">
                <p14:modId xmlns:p14="http://schemas.microsoft.com/office/powerpoint/2010/main" val="2194883119"/>
              </p:ext>
            </p:extLst>
          </p:nvPr>
        </p:nvGraphicFramePr>
        <p:xfrm>
          <a:off x="2292598" y="1750342"/>
          <a:ext cx="9899402" cy="36760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95155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4B568F5-C767-AA5F-5571-9B1E9E73B25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582C2F6-0D4A-908E-EE38-00E4AB921206}"/>
              </a:ext>
            </a:extLst>
          </p:cNvPr>
          <p:cNvSpPr>
            <a:spLocks noGrp="1"/>
          </p:cNvSpPr>
          <p:nvPr>
            <p:ph type="title"/>
          </p:nvPr>
        </p:nvSpPr>
        <p:spPr>
          <a:xfrm>
            <a:off x="231070" y="320631"/>
            <a:ext cx="9114097" cy="767505"/>
          </a:xfrm>
        </p:spPr>
        <p:txBody>
          <a:bodyPr anchor="t">
            <a:noAutofit/>
          </a:bodyPr>
          <a:lstStyle/>
          <a:p>
            <a:r>
              <a:rPr lang="es-CO" sz="2400" b="1" dirty="0">
                <a:solidFill>
                  <a:srgbClr val="AC0049"/>
                </a:solidFill>
                <a:latin typeface="Aptos ExtraBold" panose="020B0004020202020204" pitchFamily="34" charset="0"/>
              </a:rPr>
              <a:t>Benchmarking Créditos Vivienda, Vehículo – Compra Cartera</a:t>
            </a:r>
          </a:p>
        </p:txBody>
      </p:sp>
      <p:pic>
        <p:nvPicPr>
          <p:cNvPr id="5" name="Imagen 4" descr="Tabla, Calendario&#10;&#10;El contenido generado por IA puede ser incorrecto.">
            <a:extLst>
              <a:ext uri="{FF2B5EF4-FFF2-40B4-BE49-F238E27FC236}">
                <a16:creationId xmlns:a16="http://schemas.microsoft.com/office/drawing/2014/main" id="{62853206-00EC-A1A1-9931-067D2FCE9BED}"/>
              </a:ext>
            </a:extLst>
          </p:cNvPr>
          <p:cNvPicPr>
            <a:picLocks noChangeAspect="1"/>
          </p:cNvPicPr>
          <p:nvPr/>
        </p:nvPicPr>
        <p:blipFill>
          <a:blip r:embed="rId3"/>
          <a:stretch>
            <a:fillRect/>
          </a:stretch>
        </p:blipFill>
        <p:spPr>
          <a:xfrm>
            <a:off x="275095" y="876266"/>
            <a:ext cx="11742914" cy="5299682"/>
          </a:xfrm>
          <a:prstGeom prst="rect">
            <a:avLst/>
          </a:prstGeom>
        </p:spPr>
      </p:pic>
    </p:spTree>
    <p:extLst>
      <p:ext uri="{BB962C8B-B14F-4D97-AF65-F5344CB8AC3E}">
        <p14:creationId xmlns:p14="http://schemas.microsoft.com/office/powerpoint/2010/main" val="172195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55FC00-FB74-94B5-8401-95F3A71BD43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7A8BEE2D-5A5C-29C3-332A-F60509399E22}"/>
              </a:ext>
            </a:extLst>
          </p:cNvPr>
          <p:cNvSpPr>
            <a:spLocks noGrp="1"/>
          </p:cNvSpPr>
          <p:nvPr>
            <p:ph type="title"/>
          </p:nvPr>
        </p:nvSpPr>
        <p:spPr>
          <a:xfrm>
            <a:off x="838200" y="297284"/>
            <a:ext cx="9114097" cy="767505"/>
          </a:xfrm>
        </p:spPr>
        <p:txBody>
          <a:bodyPr anchor="t">
            <a:noAutofit/>
          </a:bodyPr>
          <a:lstStyle/>
          <a:p>
            <a:r>
              <a:rPr lang="es-CO" sz="3200" b="1" dirty="0">
                <a:solidFill>
                  <a:srgbClr val="AC0049"/>
                </a:solidFill>
                <a:latin typeface="Aptos ExtraBold" panose="020B0004020202020204" pitchFamily="34" charset="0"/>
              </a:rPr>
              <a:t>Saldos total pasivos</a:t>
            </a:r>
          </a:p>
        </p:txBody>
      </p:sp>
      <p:graphicFrame>
        <p:nvGraphicFramePr>
          <p:cNvPr id="2" name="Gráfico 1">
            <a:extLst>
              <a:ext uri="{FF2B5EF4-FFF2-40B4-BE49-F238E27FC236}">
                <a16:creationId xmlns:a16="http://schemas.microsoft.com/office/drawing/2014/main" id="{5CBF1FEE-E5EC-C55B-15F2-01FCA9011E09}"/>
              </a:ext>
            </a:extLst>
          </p:cNvPr>
          <p:cNvGraphicFramePr>
            <a:graphicFrameLocks/>
          </p:cNvGraphicFramePr>
          <p:nvPr>
            <p:extLst>
              <p:ext uri="{D42A27DB-BD31-4B8C-83A1-F6EECF244321}">
                <p14:modId xmlns:p14="http://schemas.microsoft.com/office/powerpoint/2010/main" val="1501452707"/>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39241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31C2ECD-BAF2-3EC8-D203-CA684032E599}"/>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61678C9-A3AA-80F6-67B8-E86199034075}"/>
              </a:ext>
            </a:extLst>
          </p:cNvPr>
          <p:cNvSpPr>
            <a:spLocks noGrp="1"/>
          </p:cNvSpPr>
          <p:nvPr>
            <p:ph type="title"/>
          </p:nvPr>
        </p:nvSpPr>
        <p:spPr>
          <a:xfrm>
            <a:off x="838200" y="297284"/>
            <a:ext cx="9114097" cy="767505"/>
          </a:xfrm>
        </p:spPr>
        <p:txBody>
          <a:bodyPr anchor="t">
            <a:noAutofit/>
          </a:bodyPr>
          <a:lstStyle/>
          <a:p>
            <a:r>
              <a:rPr lang="es-CO" sz="3200" b="1" dirty="0">
                <a:solidFill>
                  <a:srgbClr val="AC0049"/>
                </a:solidFill>
                <a:latin typeface="Aptos ExtraBold" panose="020B0004020202020204" pitchFamily="34" charset="0"/>
              </a:rPr>
              <a:t>TPP captación y Saldos</a:t>
            </a:r>
          </a:p>
        </p:txBody>
      </p:sp>
      <p:graphicFrame>
        <p:nvGraphicFramePr>
          <p:cNvPr id="3" name="Gráfico 2">
            <a:extLst>
              <a:ext uri="{FF2B5EF4-FFF2-40B4-BE49-F238E27FC236}">
                <a16:creationId xmlns:a16="http://schemas.microsoft.com/office/drawing/2014/main" id="{01B40529-FD20-57A4-46BF-1D838DC48B26}"/>
              </a:ext>
            </a:extLst>
          </p:cNvPr>
          <p:cNvGraphicFramePr>
            <a:graphicFrameLocks/>
          </p:cNvGraphicFramePr>
          <p:nvPr>
            <p:extLst>
              <p:ext uri="{D42A27DB-BD31-4B8C-83A1-F6EECF244321}">
                <p14:modId xmlns:p14="http://schemas.microsoft.com/office/powerpoint/2010/main" val="720015928"/>
              </p:ext>
            </p:extLst>
          </p:nvPr>
        </p:nvGraphicFramePr>
        <p:xfrm>
          <a:off x="586854" y="764275"/>
          <a:ext cx="11000095" cy="57453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47807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CA6C13C-2AEE-762A-5674-B909C92973A2}"/>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5085E300-1B17-7129-3242-26BCD7F514EC}"/>
              </a:ext>
            </a:extLst>
          </p:cNvPr>
          <p:cNvSpPr>
            <a:spLocks noGrp="1"/>
          </p:cNvSpPr>
          <p:nvPr>
            <p:ph type="title"/>
          </p:nvPr>
        </p:nvSpPr>
        <p:spPr>
          <a:xfrm>
            <a:off x="838200" y="297284"/>
            <a:ext cx="9114097" cy="767505"/>
          </a:xfrm>
        </p:spPr>
        <p:txBody>
          <a:bodyPr anchor="t">
            <a:noAutofit/>
          </a:bodyPr>
          <a:lstStyle/>
          <a:p>
            <a:r>
              <a:rPr lang="es-CO" sz="3200" b="1" dirty="0">
                <a:solidFill>
                  <a:srgbClr val="AC0049"/>
                </a:solidFill>
                <a:latin typeface="Aptos ExtraBold" panose="020B0004020202020204" pitchFamily="34" charset="0"/>
              </a:rPr>
              <a:t>Saldos cancelados anticipadamente </a:t>
            </a:r>
          </a:p>
        </p:txBody>
      </p:sp>
      <p:graphicFrame>
        <p:nvGraphicFramePr>
          <p:cNvPr id="3" name="Gráfico 2">
            <a:extLst>
              <a:ext uri="{FF2B5EF4-FFF2-40B4-BE49-F238E27FC236}">
                <a16:creationId xmlns:a16="http://schemas.microsoft.com/office/drawing/2014/main" id="{CE93852B-2F31-A04D-6AA7-3D3CF2C57FE1}"/>
              </a:ext>
            </a:extLst>
          </p:cNvPr>
          <p:cNvGraphicFramePr>
            <a:graphicFrameLocks/>
          </p:cNvGraphicFramePr>
          <p:nvPr>
            <p:extLst>
              <p:ext uri="{D42A27DB-BD31-4B8C-83A1-F6EECF244321}">
                <p14:modId xmlns:p14="http://schemas.microsoft.com/office/powerpoint/2010/main" val="2017827234"/>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Gráfico 4">
            <a:extLst>
              <a:ext uri="{FF2B5EF4-FFF2-40B4-BE49-F238E27FC236}">
                <a16:creationId xmlns:a16="http://schemas.microsoft.com/office/drawing/2014/main" id="{6B5A33D2-C748-08BC-70A8-B61F0861D623}"/>
              </a:ext>
            </a:extLst>
          </p:cNvPr>
          <p:cNvGraphicFramePr>
            <a:graphicFrameLocks/>
          </p:cNvGraphicFramePr>
          <p:nvPr>
            <p:extLst>
              <p:ext uri="{D42A27DB-BD31-4B8C-83A1-F6EECF244321}">
                <p14:modId xmlns:p14="http://schemas.microsoft.com/office/powerpoint/2010/main" val="1038169081"/>
              </p:ext>
            </p:extLst>
          </p:nvPr>
        </p:nvGraphicFramePr>
        <p:xfrm>
          <a:off x="-1" y="0"/>
          <a:ext cx="12191999" cy="6858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Gráfico 5">
            <a:extLst>
              <a:ext uri="{FF2B5EF4-FFF2-40B4-BE49-F238E27FC236}">
                <a16:creationId xmlns:a16="http://schemas.microsoft.com/office/drawing/2014/main" id="{82826C4A-AAB2-3C7F-0110-E582FD31F169}"/>
              </a:ext>
            </a:extLst>
          </p:cNvPr>
          <p:cNvGraphicFramePr>
            <a:graphicFrameLocks/>
          </p:cNvGraphicFramePr>
          <p:nvPr>
            <p:extLst>
              <p:ext uri="{D42A27DB-BD31-4B8C-83A1-F6EECF244321}">
                <p14:modId xmlns:p14="http://schemas.microsoft.com/office/powerpoint/2010/main" val="3713566877"/>
              </p:ext>
            </p:extLst>
          </p:nvPr>
        </p:nvGraphicFramePr>
        <p:xfrm>
          <a:off x="0" y="0"/>
          <a:ext cx="12191998" cy="6858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Gráfico 6">
            <a:extLst>
              <a:ext uri="{FF2B5EF4-FFF2-40B4-BE49-F238E27FC236}">
                <a16:creationId xmlns:a16="http://schemas.microsoft.com/office/drawing/2014/main" id="{FC67FC34-517B-40AF-B49A-4901E7A91CCE}"/>
              </a:ext>
            </a:extLst>
          </p:cNvPr>
          <p:cNvGraphicFramePr>
            <a:graphicFrameLocks/>
          </p:cNvGraphicFramePr>
          <p:nvPr>
            <p:extLst>
              <p:ext uri="{D42A27DB-BD31-4B8C-83A1-F6EECF244321}">
                <p14:modId xmlns:p14="http://schemas.microsoft.com/office/powerpoint/2010/main" val="2880047106"/>
              </p:ext>
            </p:extLst>
          </p:nvPr>
        </p:nvGraphicFramePr>
        <p:xfrm>
          <a:off x="-3" y="-51179"/>
          <a:ext cx="12191999" cy="6858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136059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4A1527-3920-A3EE-CAAC-8B72EBACD5F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533095F-9BDF-CB01-2D05-E344E11E579A}"/>
              </a:ext>
            </a:extLst>
          </p:cNvPr>
          <p:cNvSpPr>
            <a:spLocks noGrp="1"/>
          </p:cNvSpPr>
          <p:nvPr>
            <p:ph type="title"/>
          </p:nvPr>
        </p:nvSpPr>
        <p:spPr>
          <a:xfrm>
            <a:off x="333375" y="194958"/>
            <a:ext cx="9114097" cy="404304"/>
          </a:xfrm>
        </p:spPr>
        <p:txBody>
          <a:bodyPr anchor="t">
            <a:noAutofit/>
          </a:bodyPr>
          <a:lstStyle/>
          <a:p>
            <a:r>
              <a:rPr lang="es-CO" sz="2800" b="1" dirty="0">
                <a:solidFill>
                  <a:srgbClr val="AC0049"/>
                </a:solidFill>
                <a:latin typeface="Aptos ExtraBold" panose="020B0004020202020204" pitchFamily="34" charset="0"/>
              </a:rPr>
              <a:t>Benchmarking CDATs</a:t>
            </a:r>
            <a:br>
              <a:rPr lang="es-CO" sz="3200" b="1" dirty="0">
                <a:solidFill>
                  <a:srgbClr val="AC0049"/>
                </a:solidFill>
                <a:latin typeface="Aptos ExtraBold" panose="020B0004020202020204" pitchFamily="34" charset="0"/>
              </a:rPr>
            </a:br>
            <a:endParaRPr lang="es-CO" sz="3200" b="1" dirty="0">
              <a:solidFill>
                <a:srgbClr val="AC0049"/>
              </a:solidFill>
              <a:latin typeface="Aptos ExtraBold" panose="020B0004020202020204" pitchFamily="34" charset="0"/>
            </a:endParaRPr>
          </a:p>
        </p:txBody>
      </p:sp>
      <p:sp>
        <p:nvSpPr>
          <p:cNvPr id="8" name="CuadroTexto 7">
            <a:extLst>
              <a:ext uri="{FF2B5EF4-FFF2-40B4-BE49-F238E27FC236}">
                <a16:creationId xmlns:a16="http://schemas.microsoft.com/office/drawing/2014/main" id="{F41D94C0-33CC-35AA-A608-64D34F00AF9A}"/>
              </a:ext>
            </a:extLst>
          </p:cNvPr>
          <p:cNvSpPr txBox="1"/>
          <p:nvPr/>
        </p:nvSpPr>
        <p:spPr>
          <a:xfrm>
            <a:off x="10605633" y="5337700"/>
            <a:ext cx="1499880" cy="1200329"/>
          </a:xfrm>
          <a:prstGeom prst="rect">
            <a:avLst/>
          </a:prstGeom>
          <a:noFill/>
        </p:spPr>
        <p:txBody>
          <a:bodyPr wrap="square" rtlCol="0">
            <a:spAutoFit/>
          </a:bodyPr>
          <a:lstStyle/>
          <a:p>
            <a:r>
              <a:rPr lang="es-ES" sz="800" i="1" u="none" strike="noStrike" dirty="0">
                <a:solidFill>
                  <a:srgbClr val="000000"/>
                </a:solidFill>
                <a:effectLst/>
                <a:latin typeface="Arial" panose="020B0604020202020204" pitchFamily="34" charset="0"/>
              </a:rPr>
              <a:t>Tasas de cartelera </a:t>
            </a:r>
            <a:r>
              <a:rPr lang="es-CO" sz="800" i="1" u="none" strike="noStrike" dirty="0">
                <a:solidFill>
                  <a:srgbClr val="000000"/>
                </a:solidFill>
                <a:effectLst/>
                <a:latin typeface="Arial" panose="020B0604020202020204" pitchFamily="34" charset="0"/>
              </a:rPr>
              <a:t>al 16</a:t>
            </a:r>
            <a:r>
              <a:rPr lang="es-CO" sz="800" i="1" dirty="0">
                <a:solidFill>
                  <a:srgbClr val="000000"/>
                </a:solidFill>
                <a:latin typeface="Arial" panose="020B0604020202020204" pitchFamily="34" charset="0"/>
              </a:rPr>
              <a:t>/12/2025</a:t>
            </a:r>
            <a:r>
              <a:rPr lang="es-CO" sz="800" dirty="0"/>
              <a:t> </a:t>
            </a:r>
            <a:endParaRPr lang="es-CO" sz="800" i="1" u="none" strike="noStrike" dirty="0">
              <a:solidFill>
                <a:srgbClr val="000000"/>
              </a:solidFill>
              <a:effectLst/>
              <a:latin typeface="Arial" panose="020B0604020202020204" pitchFamily="34" charset="0"/>
            </a:endParaRPr>
          </a:p>
          <a:p>
            <a:r>
              <a:rPr lang="es-CO" sz="800" i="1" u="none" strike="noStrike" dirty="0">
                <a:solidFill>
                  <a:srgbClr val="000000"/>
                </a:solidFill>
                <a:effectLst/>
                <a:latin typeface="Arial" panose="020B0604020202020204" pitchFamily="34" charset="0"/>
              </a:rPr>
              <a:t>Tasas efectivas anuales</a:t>
            </a:r>
          </a:p>
          <a:p>
            <a:r>
              <a:rPr lang="es-CO" sz="800" i="1" dirty="0">
                <a:solidFill>
                  <a:srgbClr val="000000"/>
                </a:solidFill>
                <a:latin typeface="Arial" panose="020B0604020202020204" pitchFamily="34" charset="0"/>
              </a:rPr>
              <a:t>Montos inferiores a 50.000.000</a:t>
            </a:r>
            <a:r>
              <a:rPr lang="es-CO" sz="800" dirty="0"/>
              <a:t> </a:t>
            </a:r>
          </a:p>
          <a:p>
            <a:endParaRPr lang="es-CO" sz="800" dirty="0"/>
          </a:p>
          <a:p>
            <a:r>
              <a:rPr lang="es-CO" sz="800" b="1" i="1" dirty="0">
                <a:solidFill>
                  <a:srgbClr val="000000"/>
                </a:solidFill>
                <a:latin typeface="Arial" panose="020B0604020202020204" pitchFamily="34" charset="0"/>
              </a:rPr>
              <a:t>*Los espacios en blanco es porque el banco está cerrado en dicho plazo</a:t>
            </a:r>
            <a:r>
              <a:rPr lang="es-CO" sz="800" i="1" dirty="0">
                <a:solidFill>
                  <a:srgbClr val="000000"/>
                </a:solidFill>
                <a:latin typeface="Arial" panose="020B0604020202020204" pitchFamily="34" charset="0"/>
              </a:rPr>
              <a:t>. </a:t>
            </a:r>
          </a:p>
        </p:txBody>
      </p:sp>
      <p:graphicFrame>
        <p:nvGraphicFramePr>
          <p:cNvPr id="3" name="Objeto 2">
            <a:extLst>
              <a:ext uri="{FF2B5EF4-FFF2-40B4-BE49-F238E27FC236}">
                <a16:creationId xmlns:a16="http://schemas.microsoft.com/office/drawing/2014/main" id="{63AB7FF3-CB86-499A-A489-8948C660D09D}"/>
              </a:ext>
            </a:extLst>
          </p:cNvPr>
          <p:cNvGraphicFramePr>
            <a:graphicFrameLocks noChangeAspect="1"/>
          </p:cNvGraphicFramePr>
          <p:nvPr>
            <p:extLst>
              <p:ext uri="{D42A27DB-BD31-4B8C-83A1-F6EECF244321}">
                <p14:modId xmlns:p14="http://schemas.microsoft.com/office/powerpoint/2010/main" val="3663657894"/>
              </p:ext>
            </p:extLst>
          </p:nvPr>
        </p:nvGraphicFramePr>
        <p:xfrm>
          <a:off x="86487" y="599262"/>
          <a:ext cx="10519146" cy="6258738"/>
        </p:xfrm>
        <a:graphic>
          <a:graphicData uri="http://schemas.openxmlformats.org/presentationml/2006/ole">
            <mc:AlternateContent xmlns:mc="http://schemas.openxmlformats.org/markup-compatibility/2006">
              <mc:Choice xmlns:v="urn:schemas-microsoft-com:vml" Requires="v">
                <p:oleObj name="Worksheet" r:id="rId3" imgW="10229964" imgH="6629347" progId="Excel.Sheet.12">
                  <p:embed/>
                </p:oleObj>
              </mc:Choice>
              <mc:Fallback>
                <p:oleObj name="Worksheet" r:id="rId3" imgW="10229964" imgH="6629347" progId="Excel.Sheet.12">
                  <p:embed/>
                  <p:pic>
                    <p:nvPicPr>
                      <p:cNvPr id="0" name=""/>
                      <p:cNvPicPr/>
                      <p:nvPr/>
                    </p:nvPicPr>
                    <p:blipFill>
                      <a:blip r:embed="rId4"/>
                      <a:stretch>
                        <a:fillRect/>
                      </a:stretch>
                    </p:blipFill>
                    <p:spPr>
                      <a:xfrm>
                        <a:off x="86487" y="599262"/>
                        <a:ext cx="10519146" cy="6258738"/>
                      </a:xfrm>
                      <a:prstGeom prst="rect">
                        <a:avLst/>
                      </a:prstGeom>
                    </p:spPr>
                  </p:pic>
                </p:oleObj>
              </mc:Fallback>
            </mc:AlternateContent>
          </a:graphicData>
        </a:graphic>
      </p:graphicFrame>
    </p:spTree>
    <p:extLst>
      <p:ext uri="{BB962C8B-B14F-4D97-AF65-F5344CB8AC3E}">
        <p14:creationId xmlns:p14="http://schemas.microsoft.com/office/powerpoint/2010/main" val="3860500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85B93D0-1ADF-8E86-84D4-D4A6F1F5992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CA3ABD4C-EB39-DD7E-8C55-E98C90F47365}"/>
              </a:ext>
            </a:extLst>
          </p:cNvPr>
          <p:cNvSpPr>
            <a:spLocks noGrp="1"/>
          </p:cNvSpPr>
          <p:nvPr>
            <p:ph type="title"/>
          </p:nvPr>
        </p:nvSpPr>
        <p:spPr>
          <a:xfrm>
            <a:off x="1456654" y="499027"/>
            <a:ext cx="9114097" cy="404304"/>
          </a:xfrm>
        </p:spPr>
        <p:txBody>
          <a:bodyPr anchor="t">
            <a:noAutofit/>
          </a:bodyPr>
          <a:lstStyle/>
          <a:p>
            <a:pPr algn="ctr"/>
            <a:r>
              <a:rPr lang="es-CO" sz="2800" b="1" dirty="0">
                <a:solidFill>
                  <a:srgbClr val="AC0049"/>
                </a:solidFill>
                <a:latin typeface="Aptos ExtraBold" panose="020B0004020202020204" pitchFamily="34" charset="0"/>
              </a:rPr>
              <a:t>Propuesta Cambio de Tasas</a:t>
            </a:r>
            <a:br>
              <a:rPr lang="es-CO" sz="2800" b="1" dirty="0">
                <a:solidFill>
                  <a:srgbClr val="AC0049"/>
                </a:solidFill>
                <a:latin typeface="Aptos ExtraBold" panose="020B0004020202020204" pitchFamily="34" charset="0"/>
              </a:rPr>
            </a:br>
            <a:endParaRPr lang="es-CO" sz="3200" b="1" dirty="0">
              <a:solidFill>
                <a:srgbClr val="AC0049"/>
              </a:solidFill>
              <a:latin typeface="Aptos ExtraBold" panose="020B0004020202020204" pitchFamily="34" charset="0"/>
            </a:endParaRPr>
          </a:p>
        </p:txBody>
      </p:sp>
      <p:sp>
        <p:nvSpPr>
          <p:cNvPr id="3" name="CuadroTexto 2">
            <a:extLst>
              <a:ext uri="{FF2B5EF4-FFF2-40B4-BE49-F238E27FC236}">
                <a16:creationId xmlns:a16="http://schemas.microsoft.com/office/drawing/2014/main" id="{D4E8B43C-D588-CB67-3E61-AC20D0467056}"/>
              </a:ext>
            </a:extLst>
          </p:cNvPr>
          <p:cNvSpPr txBox="1"/>
          <p:nvPr/>
        </p:nvSpPr>
        <p:spPr>
          <a:xfrm>
            <a:off x="475488" y="1490472"/>
            <a:ext cx="4480560" cy="369332"/>
          </a:xfrm>
          <a:prstGeom prst="rect">
            <a:avLst/>
          </a:prstGeom>
          <a:noFill/>
        </p:spPr>
        <p:txBody>
          <a:bodyPr wrap="square" rtlCol="0">
            <a:spAutoFit/>
          </a:bodyPr>
          <a:lstStyle/>
          <a:p>
            <a:r>
              <a:rPr lang="es-MX" b="1" dirty="0"/>
              <a:t>Aumentar la tasa mínima de consumo</a:t>
            </a:r>
            <a:endParaRPr lang="es-CO" b="1" dirty="0"/>
          </a:p>
        </p:txBody>
      </p:sp>
      <p:sp>
        <p:nvSpPr>
          <p:cNvPr id="9" name="CuadroTexto 8">
            <a:extLst>
              <a:ext uri="{FF2B5EF4-FFF2-40B4-BE49-F238E27FC236}">
                <a16:creationId xmlns:a16="http://schemas.microsoft.com/office/drawing/2014/main" id="{C6A11DF1-61AA-5F7C-95BC-EA72642672C8}"/>
              </a:ext>
            </a:extLst>
          </p:cNvPr>
          <p:cNvSpPr txBox="1"/>
          <p:nvPr/>
        </p:nvSpPr>
        <p:spPr>
          <a:xfrm>
            <a:off x="6218702" y="3161551"/>
            <a:ext cx="3404616" cy="369332"/>
          </a:xfrm>
          <a:prstGeom prst="rect">
            <a:avLst/>
          </a:prstGeom>
          <a:noFill/>
        </p:spPr>
        <p:txBody>
          <a:bodyPr wrap="square" rtlCol="0">
            <a:spAutoFit/>
          </a:bodyPr>
          <a:lstStyle/>
          <a:p>
            <a:r>
              <a:rPr lang="es-MX" b="1" dirty="0"/>
              <a:t>Aumentar la tasa de vivienda</a:t>
            </a:r>
            <a:endParaRPr lang="es-CO" b="1" dirty="0"/>
          </a:p>
        </p:txBody>
      </p:sp>
      <p:sp>
        <p:nvSpPr>
          <p:cNvPr id="14" name="CuadroTexto 13">
            <a:extLst>
              <a:ext uri="{FF2B5EF4-FFF2-40B4-BE49-F238E27FC236}">
                <a16:creationId xmlns:a16="http://schemas.microsoft.com/office/drawing/2014/main" id="{016DF749-A07A-F2AE-3462-7E08031638FA}"/>
              </a:ext>
            </a:extLst>
          </p:cNvPr>
          <p:cNvSpPr txBox="1"/>
          <p:nvPr/>
        </p:nvSpPr>
        <p:spPr>
          <a:xfrm>
            <a:off x="6218702" y="1483691"/>
            <a:ext cx="4023360" cy="369332"/>
          </a:xfrm>
          <a:prstGeom prst="rect">
            <a:avLst/>
          </a:prstGeom>
          <a:noFill/>
        </p:spPr>
        <p:txBody>
          <a:bodyPr wrap="square" rtlCol="0">
            <a:spAutoFit/>
          </a:bodyPr>
          <a:lstStyle/>
          <a:p>
            <a:r>
              <a:rPr lang="es-MX" b="1" dirty="0"/>
              <a:t>Cambio de tasas línea de vehículo</a:t>
            </a:r>
            <a:endParaRPr lang="es-CO" b="1" dirty="0"/>
          </a:p>
        </p:txBody>
      </p:sp>
      <p:sp>
        <p:nvSpPr>
          <p:cNvPr id="16" name="CuadroTexto 15">
            <a:extLst>
              <a:ext uri="{FF2B5EF4-FFF2-40B4-BE49-F238E27FC236}">
                <a16:creationId xmlns:a16="http://schemas.microsoft.com/office/drawing/2014/main" id="{BC8A6A5C-FFD5-2003-5FC8-AFE6D8790E21}"/>
              </a:ext>
            </a:extLst>
          </p:cNvPr>
          <p:cNvSpPr txBox="1"/>
          <p:nvPr/>
        </p:nvSpPr>
        <p:spPr>
          <a:xfrm>
            <a:off x="351302" y="4183086"/>
            <a:ext cx="4480560" cy="369332"/>
          </a:xfrm>
          <a:prstGeom prst="rect">
            <a:avLst/>
          </a:prstGeom>
          <a:noFill/>
        </p:spPr>
        <p:txBody>
          <a:bodyPr wrap="square" rtlCol="0">
            <a:spAutoFit/>
          </a:bodyPr>
          <a:lstStyle/>
          <a:p>
            <a:r>
              <a:rPr lang="es-MX" b="1" dirty="0"/>
              <a:t>Cambio de tasas compra de cartera</a:t>
            </a:r>
            <a:endParaRPr lang="es-CO" b="1" dirty="0"/>
          </a:p>
        </p:txBody>
      </p:sp>
      <p:graphicFrame>
        <p:nvGraphicFramePr>
          <p:cNvPr id="18" name="Tabla 17">
            <a:extLst>
              <a:ext uri="{FF2B5EF4-FFF2-40B4-BE49-F238E27FC236}">
                <a16:creationId xmlns:a16="http://schemas.microsoft.com/office/drawing/2014/main" id="{7F298016-A09F-1C85-23A5-3F5B557F0746}"/>
              </a:ext>
            </a:extLst>
          </p:cNvPr>
          <p:cNvGraphicFramePr>
            <a:graphicFrameLocks noGrp="1"/>
          </p:cNvGraphicFramePr>
          <p:nvPr>
            <p:extLst>
              <p:ext uri="{D42A27DB-BD31-4B8C-83A1-F6EECF244321}">
                <p14:modId xmlns:p14="http://schemas.microsoft.com/office/powerpoint/2010/main" val="203141674"/>
              </p:ext>
            </p:extLst>
          </p:nvPr>
        </p:nvGraphicFramePr>
        <p:xfrm>
          <a:off x="483382" y="2022978"/>
          <a:ext cx="4216400" cy="1803400"/>
        </p:xfrm>
        <a:graphic>
          <a:graphicData uri="http://schemas.openxmlformats.org/drawingml/2006/table">
            <a:tbl>
              <a:tblPr/>
              <a:tblGrid>
                <a:gridCol w="1181100">
                  <a:extLst>
                    <a:ext uri="{9D8B030D-6E8A-4147-A177-3AD203B41FA5}">
                      <a16:colId xmlns:a16="http://schemas.microsoft.com/office/drawing/2014/main" val="1237784970"/>
                    </a:ext>
                  </a:extLst>
                </a:gridCol>
                <a:gridCol w="1028700">
                  <a:extLst>
                    <a:ext uri="{9D8B030D-6E8A-4147-A177-3AD203B41FA5}">
                      <a16:colId xmlns:a16="http://schemas.microsoft.com/office/drawing/2014/main" val="31898270"/>
                    </a:ext>
                  </a:extLst>
                </a:gridCol>
                <a:gridCol w="1117600">
                  <a:extLst>
                    <a:ext uri="{9D8B030D-6E8A-4147-A177-3AD203B41FA5}">
                      <a16:colId xmlns:a16="http://schemas.microsoft.com/office/drawing/2014/main" val="2191416332"/>
                    </a:ext>
                  </a:extLst>
                </a:gridCol>
                <a:gridCol w="889000">
                  <a:extLst>
                    <a:ext uri="{9D8B030D-6E8A-4147-A177-3AD203B41FA5}">
                      <a16:colId xmlns:a16="http://schemas.microsoft.com/office/drawing/2014/main" val="4280173782"/>
                    </a:ext>
                  </a:extLst>
                </a:gridCol>
              </a:tblGrid>
              <a:tr h="488950">
                <a:tc>
                  <a:txBody>
                    <a:bodyPr/>
                    <a:lstStyle/>
                    <a:p>
                      <a:pPr algn="ctr" fontAlgn="ctr">
                        <a:buNone/>
                      </a:pPr>
                      <a:r>
                        <a:rPr lang="es-CO" sz="1100" b="1" i="0" u="none" strike="noStrike">
                          <a:solidFill>
                            <a:srgbClr val="FFFFFF"/>
                          </a:solidFill>
                          <a:effectLst/>
                          <a:latin typeface="Calibri" panose="020F0502020204030204" pitchFamily="34" charset="0"/>
                        </a:rPr>
                        <a:t>Modalidad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100" b="1" i="0" u="none" strike="noStrike">
                          <a:solidFill>
                            <a:srgbClr val="FFFFFF"/>
                          </a:solidFill>
                          <a:effectLst/>
                          <a:latin typeface="Calibri" panose="020F0502020204030204" pitchFamily="34" charset="0"/>
                        </a:rPr>
                        <a:t>Tasa de interés mínima E.A.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100" b="1" i="0" u="none" strike="noStrike">
                          <a:solidFill>
                            <a:srgbClr val="FFFFFF"/>
                          </a:solidFill>
                          <a:effectLst/>
                          <a:latin typeface="Calibri" panose="020F0502020204030204" pitchFamily="34" charset="0"/>
                        </a:rPr>
                        <a:t>Tasa interés mínima N.A.M.V.</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100" b="1" i="0" u="none" strike="noStrike">
                          <a:solidFill>
                            <a:srgbClr val="FFFFFF"/>
                          </a:solidFill>
                          <a:effectLst/>
                          <a:latin typeface="Calibri" panose="020F0502020204030204" pitchFamily="34" charset="0"/>
                        </a:rPr>
                        <a:t>MV</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856168317"/>
                  </a:ext>
                </a:extLst>
              </a:tr>
              <a:tr h="190500">
                <a:tc>
                  <a:txBody>
                    <a:bodyPr/>
                    <a:lstStyle/>
                    <a:p>
                      <a:pPr algn="ctr" fontAlgn="ctr">
                        <a:buNone/>
                      </a:pPr>
                      <a:r>
                        <a:rPr lang="es-CO" sz="1100" b="0" i="0" u="none" strike="noStrike">
                          <a:solidFill>
                            <a:srgbClr val="000000"/>
                          </a:solidFill>
                          <a:effectLst/>
                          <a:latin typeface="Calibri" panose="020F0502020204030204" pitchFamily="34" charset="0"/>
                        </a:rPr>
                        <a:t>SOAT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23,000%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20,8810%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6987346"/>
                  </a:ext>
                </a:extLst>
              </a:tr>
              <a:tr h="190500">
                <a:tc>
                  <a:txBody>
                    <a:bodyPr/>
                    <a:lstStyle/>
                    <a:p>
                      <a:pPr algn="ctr" fontAlgn="ctr">
                        <a:buNone/>
                      </a:pPr>
                      <a:r>
                        <a:rPr lang="es-CO" sz="1100" b="0" i="0" u="none" strike="noStrike">
                          <a:solidFill>
                            <a:srgbClr val="000000"/>
                          </a:solidFill>
                          <a:effectLst/>
                          <a:latin typeface="Calibri" panose="020F0502020204030204" pitchFamily="34" charset="0"/>
                        </a:rPr>
                        <a:t>Libre Inversión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23,000%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20,8810%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9919625"/>
                  </a:ext>
                </a:extLst>
              </a:tr>
              <a:tr h="190500">
                <a:tc>
                  <a:txBody>
                    <a:bodyPr/>
                    <a:lstStyle/>
                    <a:p>
                      <a:pPr algn="ctr" fontAlgn="ctr">
                        <a:buNone/>
                      </a:pPr>
                      <a:r>
                        <a:rPr lang="es-CO" sz="1100" b="0" i="0" u="none" strike="noStrike">
                          <a:solidFill>
                            <a:srgbClr val="000000"/>
                          </a:solidFill>
                          <a:effectLst/>
                          <a:latin typeface="Calibri" panose="020F0502020204030204" pitchFamily="34" charset="0"/>
                        </a:rPr>
                        <a:t>Viajes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23,000%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20,8810%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8582646"/>
                  </a:ext>
                </a:extLst>
              </a:tr>
              <a:tr h="552450">
                <a:tc>
                  <a:txBody>
                    <a:bodyPr/>
                    <a:lstStyle/>
                    <a:p>
                      <a:pPr algn="ctr" fontAlgn="ctr">
                        <a:buNone/>
                      </a:pPr>
                      <a:r>
                        <a:rPr lang="es-CO" sz="1100" b="0" i="0" u="none" strike="noStrike">
                          <a:solidFill>
                            <a:srgbClr val="000000"/>
                          </a:solidFill>
                          <a:effectLst/>
                          <a:latin typeface="Calibri" panose="020F0502020204030204" pitchFamily="34" charset="0"/>
                        </a:rPr>
                        <a:t>Educación, Calamidad, Salud y Emprendimiento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12,000%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11,3866%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0,95%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3880510"/>
                  </a:ext>
                </a:extLst>
              </a:tr>
              <a:tr h="190500">
                <a:tc>
                  <a:txBody>
                    <a:bodyPr/>
                    <a:lstStyle/>
                    <a:p>
                      <a:pPr algn="ctr" fontAlgn="ctr">
                        <a:buNone/>
                      </a:pPr>
                      <a:r>
                        <a:rPr lang="es-CO" sz="1100" b="0" i="0" u="none" strike="noStrike">
                          <a:solidFill>
                            <a:srgbClr val="000000"/>
                          </a:solidFill>
                          <a:effectLst/>
                          <a:latin typeface="Calibri" panose="020F0502020204030204" pitchFamily="34" charset="0"/>
                        </a:rPr>
                        <a:t>Centro Vacacionales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a:solidFill>
                            <a:srgbClr val="000000"/>
                          </a:solidFill>
                          <a:effectLst/>
                          <a:latin typeface="Calibri" panose="020F0502020204030204" pitchFamily="34" charset="0"/>
                        </a:rPr>
                        <a:t>14,0579%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100" b="0" i="0" u="none" strike="noStrike" dirty="0">
                          <a:solidFill>
                            <a:srgbClr val="000000"/>
                          </a:solidFill>
                          <a:effectLst/>
                          <a:latin typeface="Calibri" panose="020F0502020204030204" pitchFamily="34" charset="0"/>
                        </a:rPr>
                        <a:t>1,17%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7713433"/>
                  </a:ext>
                </a:extLst>
              </a:tr>
            </a:tbl>
          </a:graphicData>
        </a:graphic>
      </p:graphicFrame>
      <p:graphicFrame>
        <p:nvGraphicFramePr>
          <p:cNvPr id="20" name="Tabla 19">
            <a:extLst>
              <a:ext uri="{FF2B5EF4-FFF2-40B4-BE49-F238E27FC236}">
                <a16:creationId xmlns:a16="http://schemas.microsoft.com/office/drawing/2014/main" id="{F4266B2A-3D42-07B1-95D8-E0EF13DF418B}"/>
              </a:ext>
            </a:extLst>
          </p:cNvPr>
          <p:cNvGraphicFramePr>
            <a:graphicFrameLocks noGrp="1"/>
          </p:cNvGraphicFramePr>
          <p:nvPr>
            <p:extLst>
              <p:ext uri="{D42A27DB-BD31-4B8C-83A1-F6EECF244321}">
                <p14:modId xmlns:p14="http://schemas.microsoft.com/office/powerpoint/2010/main" val="3289942639"/>
              </p:ext>
            </p:extLst>
          </p:nvPr>
        </p:nvGraphicFramePr>
        <p:xfrm>
          <a:off x="6218702" y="3737592"/>
          <a:ext cx="4816309" cy="884924"/>
        </p:xfrm>
        <a:graphic>
          <a:graphicData uri="http://schemas.openxmlformats.org/drawingml/2006/table">
            <a:tbl>
              <a:tblPr/>
              <a:tblGrid>
                <a:gridCol w="1349147">
                  <a:extLst>
                    <a:ext uri="{9D8B030D-6E8A-4147-A177-3AD203B41FA5}">
                      <a16:colId xmlns:a16="http://schemas.microsoft.com/office/drawing/2014/main" val="2708926025"/>
                    </a:ext>
                  </a:extLst>
                </a:gridCol>
                <a:gridCol w="1175063">
                  <a:extLst>
                    <a:ext uri="{9D8B030D-6E8A-4147-A177-3AD203B41FA5}">
                      <a16:colId xmlns:a16="http://schemas.microsoft.com/office/drawing/2014/main" val="1691004297"/>
                    </a:ext>
                  </a:extLst>
                </a:gridCol>
                <a:gridCol w="1276612">
                  <a:extLst>
                    <a:ext uri="{9D8B030D-6E8A-4147-A177-3AD203B41FA5}">
                      <a16:colId xmlns:a16="http://schemas.microsoft.com/office/drawing/2014/main" val="2110736744"/>
                    </a:ext>
                  </a:extLst>
                </a:gridCol>
                <a:gridCol w="1015487">
                  <a:extLst>
                    <a:ext uri="{9D8B030D-6E8A-4147-A177-3AD203B41FA5}">
                      <a16:colId xmlns:a16="http://schemas.microsoft.com/office/drawing/2014/main" val="3117264675"/>
                    </a:ext>
                  </a:extLst>
                </a:gridCol>
              </a:tblGrid>
              <a:tr h="449716">
                <a:tc>
                  <a:txBody>
                    <a:bodyPr/>
                    <a:lstStyle/>
                    <a:p>
                      <a:pPr algn="ctr" fontAlgn="ctr">
                        <a:buNone/>
                      </a:pPr>
                      <a:r>
                        <a:rPr lang="es-CO" sz="1300" b="1" i="0" u="none" strike="noStrike">
                          <a:solidFill>
                            <a:srgbClr val="FFFFFF"/>
                          </a:solidFill>
                          <a:effectLst/>
                          <a:latin typeface="Calibri" panose="020F0502020204030204" pitchFamily="34" charset="0"/>
                        </a:rPr>
                        <a:t>Modalidad</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Tasa de interés mínima E.A.</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Tasa interés mínima N.A.M.V.</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MV</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2114551828"/>
                  </a:ext>
                </a:extLst>
              </a:tr>
              <a:tr h="217604">
                <a:tc>
                  <a:txBody>
                    <a:bodyPr/>
                    <a:lstStyle/>
                    <a:p>
                      <a:pPr algn="l" fontAlgn="b">
                        <a:buNone/>
                      </a:pPr>
                      <a:r>
                        <a:rPr lang="es-CO" sz="1300" b="0" i="0" u="none" strike="noStrike">
                          <a:solidFill>
                            <a:srgbClr val="000000"/>
                          </a:solidFill>
                          <a:effectLst/>
                          <a:latin typeface="Calibri" panose="020F0502020204030204" pitchFamily="34" charset="0"/>
                        </a:rPr>
                        <a:t>Vivienda VIS</a:t>
                      </a:r>
                    </a:p>
                  </a:txBody>
                  <a:tcPr marL="7253" marR="7253" marT="72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300" b="0" i="0" u="none" strike="noStrike">
                          <a:solidFill>
                            <a:srgbClr val="000000"/>
                          </a:solidFill>
                          <a:effectLst/>
                          <a:latin typeface="Calibri" panose="020F0502020204030204" pitchFamily="34" charset="0"/>
                        </a:rPr>
                        <a:t>12,40%</a:t>
                      </a:r>
                    </a:p>
                  </a:txBody>
                  <a:tcPr marL="7253" marR="7253" marT="72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11,7465%</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0,98%</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3319759"/>
                  </a:ext>
                </a:extLst>
              </a:tr>
              <a:tr h="217604">
                <a:tc>
                  <a:txBody>
                    <a:bodyPr/>
                    <a:lstStyle/>
                    <a:p>
                      <a:pPr algn="l" fontAlgn="b">
                        <a:buNone/>
                      </a:pPr>
                      <a:r>
                        <a:rPr lang="es-CO" sz="1300" b="0" i="0" u="none" strike="noStrike">
                          <a:solidFill>
                            <a:srgbClr val="000000"/>
                          </a:solidFill>
                          <a:effectLst/>
                          <a:latin typeface="Calibri" panose="020F0502020204030204" pitchFamily="34" charset="0"/>
                        </a:rPr>
                        <a:t>Vivienda No Vis</a:t>
                      </a:r>
                    </a:p>
                  </a:txBody>
                  <a:tcPr marL="7253" marR="7253" marT="72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300" b="0" i="0" u="none" strike="noStrike">
                          <a:solidFill>
                            <a:srgbClr val="000000"/>
                          </a:solidFill>
                          <a:effectLst/>
                          <a:latin typeface="Calibri" panose="020F0502020204030204" pitchFamily="34" charset="0"/>
                        </a:rPr>
                        <a:t>12,60%</a:t>
                      </a:r>
                    </a:p>
                  </a:txBody>
                  <a:tcPr marL="7253" marR="7253" marT="72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11,9260%</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dirty="0">
                          <a:solidFill>
                            <a:srgbClr val="000000"/>
                          </a:solidFill>
                          <a:effectLst/>
                          <a:latin typeface="Calibri" panose="020F0502020204030204" pitchFamily="34" charset="0"/>
                        </a:rPr>
                        <a:t>0,99%</a:t>
                      </a:r>
                    </a:p>
                  </a:txBody>
                  <a:tcPr marL="7253" marR="7253" marT="72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576634"/>
                  </a:ext>
                </a:extLst>
              </a:tr>
            </a:tbl>
          </a:graphicData>
        </a:graphic>
      </p:graphicFrame>
      <p:graphicFrame>
        <p:nvGraphicFramePr>
          <p:cNvPr id="21" name="Tabla 20">
            <a:extLst>
              <a:ext uri="{FF2B5EF4-FFF2-40B4-BE49-F238E27FC236}">
                <a16:creationId xmlns:a16="http://schemas.microsoft.com/office/drawing/2014/main" id="{5EB7A87F-835C-4359-3393-1551069EB362}"/>
              </a:ext>
            </a:extLst>
          </p:cNvPr>
          <p:cNvGraphicFramePr>
            <a:graphicFrameLocks noGrp="1"/>
          </p:cNvGraphicFramePr>
          <p:nvPr>
            <p:extLst>
              <p:ext uri="{D42A27DB-BD31-4B8C-83A1-F6EECF244321}">
                <p14:modId xmlns:p14="http://schemas.microsoft.com/office/powerpoint/2010/main" val="2431117000"/>
              </p:ext>
            </p:extLst>
          </p:nvPr>
        </p:nvGraphicFramePr>
        <p:xfrm>
          <a:off x="6218702" y="2059732"/>
          <a:ext cx="4724869" cy="647535"/>
        </p:xfrm>
        <a:graphic>
          <a:graphicData uri="http://schemas.openxmlformats.org/drawingml/2006/table">
            <a:tbl>
              <a:tblPr/>
              <a:tblGrid>
                <a:gridCol w="1323533">
                  <a:extLst>
                    <a:ext uri="{9D8B030D-6E8A-4147-A177-3AD203B41FA5}">
                      <a16:colId xmlns:a16="http://schemas.microsoft.com/office/drawing/2014/main" val="2777423693"/>
                    </a:ext>
                  </a:extLst>
                </a:gridCol>
                <a:gridCol w="1152754">
                  <a:extLst>
                    <a:ext uri="{9D8B030D-6E8A-4147-A177-3AD203B41FA5}">
                      <a16:colId xmlns:a16="http://schemas.microsoft.com/office/drawing/2014/main" val="3343572235"/>
                    </a:ext>
                  </a:extLst>
                </a:gridCol>
                <a:gridCol w="1252375">
                  <a:extLst>
                    <a:ext uri="{9D8B030D-6E8A-4147-A177-3AD203B41FA5}">
                      <a16:colId xmlns:a16="http://schemas.microsoft.com/office/drawing/2014/main" val="301261060"/>
                    </a:ext>
                  </a:extLst>
                </a:gridCol>
                <a:gridCol w="996207">
                  <a:extLst>
                    <a:ext uri="{9D8B030D-6E8A-4147-A177-3AD203B41FA5}">
                      <a16:colId xmlns:a16="http://schemas.microsoft.com/office/drawing/2014/main" val="4201376295"/>
                    </a:ext>
                  </a:extLst>
                </a:gridCol>
              </a:tblGrid>
              <a:tr h="213473">
                <a:tc>
                  <a:txBody>
                    <a:bodyPr/>
                    <a:lstStyle/>
                    <a:p>
                      <a:pPr algn="ctr" fontAlgn="ctr">
                        <a:buNone/>
                      </a:pPr>
                      <a:r>
                        <a:rPr lang="es-CO" sz="1300" b="1" i="0" u="none" strike="noStrike">
                          <a:solidFill>
                            <a:srgbClr val="FFFFFF"/>
                          </a:solidFill>
                          <a:effectLst/>
                          <a:latin typeface="Calibri" panose="020F0502020204030204" pitchFamily="34" charset="0"/>
                        </a:rPr>
                        <a:t>Vehículo</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 E.A.</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 N.A.M.V.</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300" b="1" i="0" u="none" strike="noStrike">
                          <a:solidFill>
                            <a:srgbClr val="FFFFFF"/>
                          </a:solidFill>
                          <a:effectLst/>
                          <a:latin typeface="Calibri" panose="020F0502020204030204" pitchFamily="34" charset="0"/>
                        </a:rPr>
                        <a:t>MV</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4030956343"/>
                  </a:ext>
                </a:extLst>
              </a:tr>
              <a:tr h="220589">
                <a:tc>
                  <a:txBody>
                    <a:bodyPr/>
                    <a:lstStyle/>
                    <a:p>
                      <a:pPr algn="ctr" fontAlgn="ctr">
                        <a:buNone/>
                      </a:pPr>
                      <a:r>
                        <a:rPr lang="es-CO" sz="1300" b="0" i="0" u="none" strike="noStrike">
                          <a:solidFill>
                            <a:srgbClr val="000000"/>
                          </a:solidFill>
                          <a:effectLst/>
                          <a:latin typeface="Calibri" panose="020F0502020204030204" pitchFamily="34" charset="0"/>
                        </a:rPr>
                        <a:t>Tasa Minima </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15%</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14,0579%</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1,17%</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95172"/>
                  </a:ext>
                </a:extLst>
              </a:tr>
              <a:tr h="213473">
                <a:tc>
                  <a:txBody>
                    <a:bodyPr/>
                    <a:lstStyle/>
                    <a:p>
                      <a:pPr algn="ctr" fontAlgn="ctr">
                        <a:buNone/>
                      </a:pPr>
                      <a:r>
                        <a:rPr lang="es-CO" sz="1300" b="0" i="0" u="none" strike="noStrike">
                          <a:solidFill>
                            <a:srgbClr val="000000"/>
                          </a:solidFill>
                          <a:effectLst/>
                          <a:latin typeface="Calibri" panose="020F0502020204030204" pitchFamily="34" charset="0"/>
                        </a:rPr>
                        <a:t>Tasa Maxima</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17%</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a:solidFill>
                            <a:srgbClr val="000000"/>
                          </a:solidFill>
                          <a:effectLst/>
                          <a:latin typeface="Calibri" panose="020F0502020204030204" pitchFamily="34" charset="0"/>
                        </a:rPr>
                        <a:t>15,8035%</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300" b="0" i="0" u="none" strike="noStrike" dirty="0">
                          <a:solidFill>
                            <a:srgbClr val="000000"/>
                          </a:solidFill>
                          <a:effectLst/>
                          <a:latin typeface="Calibri" panose="020F0502020204030204" pitchFamily="34" charset="0"/>
                        </a:rPr>
                        <a:t>1,32%</a:t>
                      </a:r>
                    </a:p>
                  </a:txBody>
                  <a:tcPr marL="7116" marR="7116" marT="71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2898414"/>
                  </a:ext>
                </a:extLst>
              </a:tr>
            </a:tbl>
          </a:graphicData>
        </a:graphic>
      </p:graphicFrame>
      <p:graphicFrame>
        <p:nvGraphicFramePr>
          <p:cNvPr id="22" name="Tabla 21">
            <a:extLst>
              <a:ext uri="{FF2B5EF4-FFF2-40B4-BE49-F238E27FC236}">
                <a16:creationId xmlns:a16="http://schemas.microsoft.com/office/drawing/2014/main" id="{237E6DFB-F79C-1F2F-8A1D-BB5C45E10B8D}"/>
              </a:ext>
            </a:extLst>
          </p:cNvPr>
          <p:cNvGraphicFramePr>
            <a:graphicFrameLocks noGrp="1"/>
          </p:cNvGraphicFramePr>
          <p:nvPr>
            <p:extLst>
              <p:ext uri="{D42A27DB-BD31-4B8C-83A1-F6EECF244321}">
                <p14:modId xmlns:p14="http://schemas.microsoft.com/office/powerpoint/2010/main" val="2307395032"/>
              </p:ext>
            </p:extLst>
          </p:nvPr>
        </p:nvGraphicFramePr>
        <p:xfrm>
          <a:off x="351302" y="4779196"/>
          <a:ext cx="4464773" cy="605166"/>
        </p:xfrm>
        <a:graphic>
          <a:graphicData uri="http://schemas.openxmlformats.org/drawingml/2006/table">
            <a:tbl>
              <a:tblPr/>
              <a:tblGrid>
                <a:gridCol w="1250674">
                  <a:extLst>
                    <a:ext uri="{9D8B030D-6E8A-4147-A177-3AD203B41FA5}">
                      <a16:colId xmlns:a16="http://schemas.microsoft.com/office/drawing/2014/main" val="2342465314"/>
                    </a:ext>
                  </a:extLst>
                </a:gridCol>
                <a:gridCol w="1089297">
                  <a:extLst>
                    <a:ext uri="{9D8B030D-6E8A-4147-A177-3AD203B41FA5}">
                      <a16:colId xmlns:a16="http://schemas.microsoft.com/office/drawing/2014/main" val="896706399"/>
                    </a:ext>
                  </a:extLst>
                </a:gridCol>
                <a:gridCol w="1183434">
                  <a:extLst>
                    <a:ext uri="{9D8B030D-6E8A-4147-A177-3AD203B41FA5}">
                      <a16:colId xmlns:a16="http://schemas.microsoft.com/office/drawing/2014/main" val="2340284836"/>
                    </a:ext>
                  </a:extLst>
                </a:gridCol>
                <a:gridCol w="941368">
                  <a:extLst>
                    <a:ext uri="{9D8B030D-6E8A-4147-A177-3AD203B41FA5}">
                      <a16:colId xmlns:a16="http://schemas.microsoft.com/office/drawing/2014/main" val="3080323149"/>
                    </a:ext>
                  </a:extLst>
                </a:gridCol>
              </a:tblGrid>
              <a:tr h="201722">
                <a:tc>
                  <a:txBody>
                    <a:bodyPr/>
                    <a:lstStyle/>
                    <a:p>
                      <a:pPr algn="ctr" fontAlgn="ctr">
                        <a:buNone/>
                      </a:pPr>
                      <a:r>
                        <a:rPr lang="es-CO" sz="1200" b="1" i="0" u="none" strike="noStrike">
                          <a:solidFill>
                            <a:srgbClr val="FFFFFF"/>
                          </a:solidFill>
                          <a:effectLst/>
                          <a:latin typeface="Calibri" panose="020F0502020204030204" pitchFamily="34" charset="0"/>
                        </a:rPr>
                        <a:t>Compra de cartera</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200" b="1" i="0" u="none" strike="noStrike">
                          <a:solidFill>
                            <a:srgbClr val="FFFFFF"/>
                          </a:solidFill>
                          <a:effectLst/>
                          <a:latin typeface="Calibri" panose="020F0502020204030204" pitchFamily="34" charset="0"/>
                        </a:rPr>
                        <a:t> E.A.</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200" b="1" i="0" u="none" strike="noStrike">
                          <a:solidFill>
                            <a:srgbClr val="FFFFFF"/>
                          </a:solidFill>
                          <a:effectLst/>
                          <a:latin typeface="Calibri" panose="020F0502020204030204" pitchFamily="34" charset="0"/>
                        </a:rPr>
                        <a:t> N.A.M.V.</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ctr">
                        <a:buNone/>
                      </a:pPr>
                      <a:r>
                        <a:rPr lang="es-CO" sz="1200" b="1" i="0" u="none" strike="noStrike">
                          <a:solidFill>
                            <a:srgbClr val="FFFFFF"/>
                          </a:solidFill>
                          <a:effectLst/>
                          <a:latin typeface="Calibri" panose="020F0502020204030204" pitchFamily="34" charset="0"/>
                        </a:rPr>
                        <a:t>MV</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1365300142"/>
                  </a:ext>
                </a:extLst>
              </a:tr>
              <a:tr h="201722">
                <a:tc>
                  <a:txBody>
                    <a:bodyPr/>
                    <a:lstStyle/>
                    <a:p>
                      <a:pPr algn="ctr" fontAlgn="ctr">
                        <a:buNone/>
                      </a:pPr>
                      <a:r>
                        <a:rPr lang="es-CO" sz="1200" b="0" i="0" u="none" strike="noStrike">
                          <a:solidFill>
                            <a:srgbClr val="000000"/>
                          </a:solidFill>
                          <a:effectLst/>
                          <a:latin typeface="Calibri" panose="020F0502020204030204" pitchFamily="34" charset="0"/>
                        </a:rPr>
                        <a:t>Tasa Minima </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a:solidFill>
                            <a:srgbClr val="000000"/>
                          </a:solidFill>
                          <a:effectLst/>
                          <a:latin typeface="Calibri" panose="020F0502020204030204" pitchFamily="34" charset="0"/>
                        </a:rPr>
                        <a:t>16,10%</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a:solidFill>
                            <a:srgbClr val="000000"/>
                          </a:solidFill>
                          <a:effectLst/>
                          <a:latin typeface="Calibri" panose="020F0502020204030204" pitchFamily="34" charset="0"/>
                        </a:rPr>
                        <a:t>15,0214%</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a:solidFill>
                            <a:srgbClr val="000000"/>
                          </a:solidFill>
                          <a:effectLst/>
                          <a:latin typeface="Calibri" panose="020F0502020204030204" pitchFamily="34" charset="0"/>
                        </a:rPr>
                        <a:t>1,25%</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677459"/>
                  </a:ext>
                </a:extLst>
              </a:tr>
              <a:tr h="201722">
                <a:tc>
                  <a:txBody>
                    <a:bodyPr/>
                    <a:lstStyle/>
                    <a:p>
                      <a:pPr algn="ctr" fontAlgn="ctr">
                        <a:buNone/>
                      </a:pPr>
                      <a:r>
                        <a:rPr lang="es-CO" sz="1200" b="0" i="0" u="none" strike="noStrike">
                          <a:solidFill>
                            <a:srgbClr val="000000"/>
                          </a:solidFill>
                          <a:effectLst/>
                          <a:latin typeface="Calibri" panose="020F0502020204030204" pitchFamily="34" charset="0"/>
                        </a:rPr>
                        <a:t>Tasa Maxima</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a:solidFill>
                            <a:srgbClr val="000000"/>
                          </a:solidFill>
                          <a:effectLst/>
                          <a:latin typeface="Calibri" panose="020F0502020204030204" pitchFamily="34" charset="0"/>
                        </a:rPr>
                        <a:t>20,00%</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a:solidFill>
                            <a:srgbClr val="000000"/>
                          </a:solidFill>
                          <a:effectLst/>
                          <a:latin typeface="Calibri" panose="020F0502020204030204" pitchFamily="34" charset="0"/>
                        </a:rPr>
                        <a:t>18,3714%</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O" sz="1200" b="0" i="0" u="none" strike="noStrike" dirty="0">
                          <a:solidFill>
                            <a:srgbClr val="000000"/>
                          </a:solidFill>
                          <a:effectLst/>
                          <a:latin typeface="Calibri" panose="020F0502020204030204" pitchFamily="34" charset="0"/>
                        </a:rPr>
                        <a:t>1,53%</a:t>
                      </a:r>
                    </a:p>
                  </a:txBody>
                  <a:tcPr marL="6724" marR="6724" marT="6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475043"/>
                  </a:ext>
                </a:extLst>
              </a:tr>
            </a:tbl>
          </a:graphicData>
        </a:graphic>
      </p:graphicFrame>
      <p:graphicFrame>
        <p:nvGraphicFramePr>
          <p:cNvPr id="23" name="Tabla 22">
            <a:extLst>
              <a:ext uri="{FF2B5EF4-FFF2-40B4-BE49-F238E27FC236}">
                <a16:creationId xmlns:a16="http://schemas.microsoft.com/office/drawing/2014/main" id="{EB95356D-43B1-9FD0-6854-E594D8825F46}"/>
              </a:ext>
            </a:extLst>
          </p:cNvPr>
          <p:cNvGraphicFramePr>
            <a:graphicFrameLocks noGrp="1"/>
          </p:cNvGraphicFramePr>
          <p:nvPr>
            <p:extLst>
              <p:ext uri="{D42A27DB-BD31-4B8C-83A1-F6EECF244321}">
                <p14:modId xmlns:p14="http://schemas.microsoft.com/office/powerpoint/2010/main" val="683701437"/>
              </p:ext>
            </p:extLst>
          </p:nvPr>
        </p:nvGraphicFramePr>
        <p:xfrm>
          <a:off x="6218702" y="5384362"/>
          <a:ext cx="3827740" cy="1118015"/>
        </p:xfrm>
        <a:graphic>
          <a:graphicData uri="http://schemas.openxmlformats.org/drawingml/2006/table">
            <a:tbl>
              <a:tblPr/>
              <a:tblGrid>
                <a:gridCol w="1093640">
                  <a:extLst>
                    <a:ext uri="{9D8B030D-6E8A-4147-A177-3AD203B41FA5}">
                      <a16:colId xmlns:a16="http://schemas.microsoft.com/office/drawing/2014/main" val="2810636130"/>
                    </a:ext>
                  </a:extLst>
                </a:gridCol>
                <a:gridCol w="1007300">
                  <a:extLst>
                    <a:ext uri="{9D8B030D-6E8A-4147-A177-3AD203B41FA5}">
                      <a16:colId xmlns:a16="http://schemas.microsoft.com/office/drawing/2014/main" val="3659905113"/>
                    </a:ext>
                  </a:extLst>
                </a:gridCol>
                <a:gridCol w="1100812">
                  <a:extLst>
                    <a:ext uri="{9D8B030D-6E8A-4147-A177-3AD203B41FA5}">
                      <a16:colId xmlns:a16="http://schemas.microsoft.com/office/drawing/2014/main" val="3352620647"/>
                    </a:ext>
                  </a:extLst>
                </a:gridCol>
                <a:gridCol w="625988">
                  <a:extLst>
                    <a:ext uri="{9D8B030D-6E8A-4147-A177-3AD203B41FA5}">
                      <a16:colId xmlns:a16="http://schemas.microsoft.com/office/drawing/2014/main" val="1434411211"/>
                    </a:ext>
                  </a:extLst>
                </a:gridCol>
              </a:tblGrid>
              <a:tr h="231679">
                <a:tc>
                  <a:txBody>
                    <a:bodyPr/>
                    <a:lstStyle/>
                    <a:p>
                      <a:pPr algn="ctr" rtl="0" fontAlgn="b">
                        <a:buNone/>
                      </a:pPr>
                      <a:r>
                        <a:rPr lang="es-CO" sz="1500" b="1" i="0" u="none" strike="noStrike">
                          <a:solidFill>
                            <a:srgbClr val="FFFFFF"/>
                          </a:solidFill>
                          <a:effectLst/>
                          <a:latin typeface="Calibri" panose="020F0502020204030204" pitchFamily="34" charset="0"/>
                        </a:rPr>
                        <a:t>Años</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rtl="0" fontAlgn="b">
                        <a:buNone/>
                      </a:pPr>
                      <a:r>
                        <a:rPr lang="es-CO" sz="1500" b="1" i="0" u="none" strike="noStrike">
                          <a:solidFill>
                            <a:srgbClr val="FFFFFF"/>
                          </a:solidFill>
                          <a:effectLst/>
                          <a:latin typeface="Calibri" panose="020F0502020204030204" pitchFamily="34" charset="0"/>
                        </a:rPr>
                        <a:t>Tasa EA</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rtl="0" fontAlgn="b">
                        <a:buNone/>
                      </a:pPr>
                      <a:r>
                        <a:rPr lang="es-CO" sz="1500" b="1" i="0" u="none" strike="noStrike">
                          <a:solidFill>
                            <a:srgbClr val="FFFFFF"/>
                          </a:solidFill>
                          <a:effectLst/>
                          <a:latin typeface="Calibri" panose="020F0502020204030204" pitchFamily="34" charset="0"/>
                        </a:rPr>
                        <a:t>Tasa NAMV</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rtl="0" fontAlgn="b">
                        <a:buNone/>
                      </a:pPr>
                      <a:r>
                        <a:rPr lang="es-CO" sz="1500" b="1" i="0" u="none" strike="noStrike" dirty="0">
                          <a:solidFill>
                            <a:srgbClr val="FFFFFF"/>
                          </a:solidFill>
                          <a:effectLst/>
                          <a:latin typeface="Calibri" panose="020F0502020204030204" pitchFamily="34" charset="0"/>
                        </a:rPr>
                        <a:t>MV</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1589811048"/>
                  </a:ext>
                </a:extLst>
              </a:tr>
              <a:tr h="215850">
                <a:tc>
                  <a:txBody>
                    <a:bodyPr/>
                    <a:lstStyle/>
                    <a:p>
                      <a:pPr algn="ctr" rtl="0" fontAlgn="b">
                        <a:buNone/>
                      </a:pPr>
                      <a:r>
                        <a:rPr lang="es-CO" sz="1400" b="0" i="0" u="none" strike="noStrike">
                          <a:solidFill>
                            <a:srgbClr val="000000"/>
                          </a:solidFill>
                          <a:effectLst/>
                          <a:latin typeface="Calibri" panose="020F0502020204030204" pitchFamily="34" charset="0"/>
                        </a:rPr>
                        <a:t>0-5</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16,00%</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14,93%</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1,24%</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7845149"/>
                  </a:ext>
                </a:extLst>
              </a:tr>
              <a:tr h="215850">
                <a:tc>
                  <a:txBody>
                    <a:bodyPr/>
                    <a:lstStyle/>
                    <a:p>
                      <a:pPr algn="ctr" rtl="0" fontAlgn="b">
                        <a:buNone/>
                      </a:pPr>
                      <a:r>
                        <a:rPr lang="es-CO" sz="1400" b="0" i="0" u="none" strike="noStrike">
                          <a:solidFill>
                            <a:srgbClr val="000000"/>
                          </a:solidFill>
                          <a:effectLst/>
                          <a:latin typeface="Calibri" panose="020F0502020204030204" pitchFamily="34" charset="0"/>
                        </a:rPr>
                        <a:t>&gt;5-10</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16,67%</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15,51%</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1,29%</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7382909"/>
                  </a:ext>
                </a:extLst>
              </a:tr>
              <a:tr h="215850">
                <a:tc>
                  <a:txBody>
                    <a:bodyPr/>
                    <a:lstStyle/>
                    <a:p>
                      <a:pPr algn="ctr" rtl="0" fontAlgn="b">
                        <a:buNone/>
                      </a:pPr>
                      <a:r>
                        <a:rPr lang="es-CO" sz="1400" b="0" i="0" u="none" strike="noStrike">
                          <a:solidFill>
                            <a:srgbClr val="000000"/>
                          </a:solidFill>
                          <a:effectLst/>
                          <a:latin typeface="Calibri" panose="020F0502020204030204" pitchFamily="34" charset="0"/>
                        </a:rPr>
                        <a:t>&gt;10-15</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17,33%</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16,09%</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1,34%</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0495111"/>
                  </a:ext>
                </a:extLst>
              </a:tr>
              <a:tr h="215850">
                <a:tc>
                  <a:txBody>
                    <a:bodyPr/>
                    <a:lstStyle/>
                    <a:p>
                      <a:pPr algn="ctr" rtl="0" fontAlgn="b">
                        <a:buNone/>
                      </a:pPr>
                      <a:r>
                        <a:rPr lang="es-CO" sz="1400" b="0" i="0" u="none" strike="noStrike">
                          <a:solidFill>
                            <a:srgbClr val="000000"/>
                          </a:solidFill>
                          <a:effectLst/>
                          <a:latin typeface="Calibri" panose="020F0502020204030204" pitchFamily="34" charset="0"/>
                        </a:rPr>
                        <a:t>&gt;15-20</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18,00%</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a:solidFill>
                            <a:srgbClr val="000000"/>
                          </a:solidFill>
                          <a:effectLst/>
                          <a:latin typeface="Calibri" panose="020F0502020204030204" pitchFamily="34" charset="0"/>
                        </a:rPr>
                        <a:t>16,67%</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400" b="0" i="0" u="none" strike="noStrike" dirty="0">
                          <a:solidFill>
                            <a:srgbClr val="000000"/>
                          </a:solidFill>
                          <a:effectLst/>
                          <a:latin typeface="Calibri" panose="020F0502020204030204" pitchFamily="34" charset="0"/>
                        </a:rPr>
                        <a:t>1,39%</a:t>
                      </a:r>
                    </a:p>
                  </a:txBody>
                  <a:tcPr marL="7195" marR="7195" marT="71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3513818"/>
                  </a:ext>
                </a:extLst>
              </a:tr>
            </a:tbl>
          </a:graphicData>
        </a:graphic>
      </p:graphicFrame>
      <p:sp>
        <p:nvSpPr>
          <p:cNvPr id="24" name="CuadroTexto 23">
            <a:extLst>
              <a:ext uri="{FF2B5EF4-FFF2-40B4-BE49-F238E27FC236}">
                <a16:creationId xmlns:a16="http://schemas.microsoft.com/office/drawing/2014/main" id="{DA1391A9-A916-2335-905B-DAE2FD4D39EC}"/>
              </a:ext>
            </a:extLst>
          </p:cNvPr>
          <p:cNvSpPr txBox="1"/>
          <p:nvPr/>
        </p:nvSpPr>
        <p:spPr>
          <a:xfrm>
            <a:off x="6095999" y="4862189"/>
            <a:ext cx="4816309" cy="369332"/>
          </a:xfrm>
          <a:prstGeom prst="rect">
            <a:avLst/>
          </a:prstGeom>
          <a:noFill/>
        </p:spPr>
        <p:txBody>
          <a:bodyPr wrap="square" rtlCol="0">
            <a:spAutoFit/>
          </a:bodyPr>
          <a:lstStyle/>
          <a:p>
            <a:r>
              <a:rPr lang="es-MX" b="1" dirty="0"/>
              <a:t>Aumentar la tasa de Hipotecario Otro Usos</a:t>
            </a:r>
            <a:endParaRPr lang="es-CO" b="1" dirty="0"/>
          </a:p>
        </p:txBody>
      </p:sp>
    </p:spTree>
    <p:extLst>
      <p:ext uri="{BB962C8B-B14F-4D97-AF65-F5344CB8AC3E}">
        <p14:creationId xmlns:p14="http://schemas.microsoft.com/office/powerpoint/2010/main" val="1130819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65C0FF8-DD25-69C5-8AFF-814C96E826B3}"/>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FD22F11-9A30-78F4-24B6-D1033A49A98F}"/>
              </a:ext>
            </a:extLst>
          </p:cNvPr>
          <p:cNvSpPr>
            <a:spLocks noGrp="1"/>
          </p:cNvSpPr>
          <p:nvPr>
            <p:ph type="title"/>
          </p:nvPr>
        </p:nvSpPr>
        <p:spPr>
          <a:xfrm>
            <a:off x="824282" y="450386"/>
            <a:ext cx="8045397" cy="773412"/>
          </a:xfrm>
        </p:spPr>
        <p:txBody>
          <a:bodyPr anchor="t">
            <a:noAutofit/>
          </a:bodyPr>
          <a:lstStyle/>
          <a:p>
            <a:r>
              <a:rPr lang="es-ES" b="1" dirty="0">
                <a:solidFill>
                  <a:srgbClr val="AC0049"/>
                </a:solidFill>
                <a:latin typeface="Aptos ExtraBold" panose="020B0004020202020204" pitchFamily="34" charset="0"/>
              </a:rPr>
              <a:t>Propuesta cambio FSG</a:t>
            </a:r>
            <a:br>
              <a:rPr lang="es-ES" sz="4800" b="1" dirty="0">
                <a:solidFill>
                  <a:srgbClr val="AC0049"/>
                </a:solidFill>
                <a:latin typeface="Aptos ExtraBold" panose="020B0004020202020204" pitchFamily="34" charset="0"/>
              </a:rPr>
            </a:br>
            <a:endParaRPr lang="es-ES" sz="4800" b="1" dirty="0">
              <a:solidFill>
                <a:srgbClr val="AC0049"/>
              </a:solidFill>
              <a:latin typeface="Aptos ExtraBold" panose="020B0004020202020204" pitchFamily="34" charset="0"/>
            </a:endParaRPr>
          </a:p>
        </p:txBody>
      </p:sp>
      <p:sp>
        <p:nvSpPr>
          <p:cNvPr id="10" name="Marcador de contenido 2">
            <a:extLst>
              <a:ext uri="{FF2B5EF4-FFF2-40B4-BE49-F238E27FC236}">
                <a16:creationId xmlns:a16="http://schemas.microsoft.com/office/drawing/2014/main" id="{7FFE50F6-4F00-D77A-5936-D02183DC6046}"/>
              </a:ext>
            </a:extLst>
          </p:cNvPr>
          <p:cNvSpPr>
            <a:spLocks noGrp="1"/>
          </p:cNvSpPr>
          <p:nvPr>
            <p:ph idx="1"/>
          </p:nvPr>
        </p:nvSpPr>
        <p:spPr>
          <a:xfrm>
            <a:off x="691126" y="1386316"/>
            <a:ext cx="10366825" cy="638525"/>
          </a:xfrm>
        </p:spPr>
        <p:txBody>
          <a:bodyPr>
            <a:normAutofit lnSpcReduction="10000"/>
          </a:bodyPr>
          <a:lstStyle/>
          <a:p>
            <a:pPr marL="0" indent="0" algn="just">
              <a:buNone/>
            </a:pPr>
            <a:r>
              <a:rPr lang="es-ES" sz="2000" dirty="0">
                <a:latin typeface="Aptos" panose="020B0004020202020204" pitchFamily="34" charset="0"/>
              </a:rPr>
              <a:t>Se propone continuar cobrando el FSG según </a:t>
            </a:r>
            <a:r>
              <a:rPr lang="es-ES" sz="2000" b="1" dirty="0">
                <a:latin typeface="Aptos" panose="020B0004020202020204" pitchFamily="34" charset="0"/>
              </a:rPr>
              <a:t>rango salarial</a:t>
            </a:r>
            <a:r>
              <a:rPr lang="es-ES" sz="2000" dirty="0">
                <a:latin typeface="Aptos" panose="020B0004020202020204" pitchFamily="34" charset="0"/>
              </a:rPr>
              <a:t>, pero </a:t>
            </a:r>
            <a:r>
              <a:rPr lang="es-ES" sz="2000" u="sng" dirty="0">
                <a:latin typeface="Aptos" panose="020B0004020202020204" pitchFamily="34" charset="0"/>
              </a:rPr>
              <a:t>cambiar las tarifas</a:t>
            </a:r>
            <a:r>
              <a:rPr lang="es-ES" sz="2000" dirty="0">
                <a:latin typeface="Aptos" panose="020B0004020202020204" pitchFamily="34" charset="0"/>
              </a:rPr>
              <a:t> con el fin de ser más competitivos en los rangos de mayor rango salarial. </a:t>
            </a:r>
          </a:p>
          <a:p>
            <a:pPr marL="0" indent="0" algn="just">
              <a:buNone/>
            </a:pPr>
            <a:endParaRPr lang="es-ES" sz="2400" dirty="0">
              <a:latin typeface="Aptos" panose="020B0004020202020204" pitchFamily="34" charset="0"/>
            </a:endParaRPr>
          </a:p>
        </p:txBody>
      </p:sp>
      <p:sp>
        <p:nvSpPr>
          <p:cNvPr id="13" name="CuadroTexto 12">
            <a:extLst>
              <a:ext uri="{FF2B5EF4-FFF2-40B4-BE49-F238E27FC236}">
                <a16:creationId xmlns:a16="http://schemas.microsoft.com/office/drawing/2014/main" id="{E9F1FFF0-6ECE-A3D6-1A36-8FB0440A5FC2}"/>
              </a:ext>
            </a:extLst>
          </p:cNvPr>
          <p:cNvSpPr txBox="1"/>
          <p:nvPr/>
        </p:nvSpPr>
        <p:spPr>
          <a:xfrm>
            <a:off x="1730783" y="2429981"/>
            <a:ext cx="21278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AC0049"/>
                </a:solidFill>
                <a:effectLst/>
                <a:uLnTx/>
                <a:uFillTx/>
                <a:latin typeface="Aptos ExtraBold" panose="020B0004020202020204" pitchFamily="34" charset="0"/>
                <a:ea typeface="+mn-ea"/>
                <a:cs typeface="+mn-cs"/>
              </a:rPr>
              <a:t>HOY</a:t>
            </a:r>
            <a:r>
              <a:rPr kumimoji="0" lang="es-MX" sz="1400" b="1" i="0" u="none" strike="noStrike" kern="1200" cap="none" spc="0" normalizeH="0" baseline="0" noProof="0" dirty="0">
                <a:ln>
                  <a:noFill/>
                </a:ln>
                <a:solidFill>
                  <a:srgbClr val="AC0049"/>
                </a:solidFill>
                <a:effectLst/>
                <a:uLnTx/>
                <a:uFillTx/>
                <a:latin typeface="Aptos ExtraBold" panose="020B0004020202020204" pitchFamily="34" charset="0"/>
                <a:ea typeface="+mn-ea"/>
                <a:cs typeface="+mn-cs"/>
              </a:rPr>
              <a:t> </a:t>
            </a:r>
            <a:endParaRPr kumimoji="0" lang="es-CO" sz="1400" b="1" i="0" u="none" strike="noStrike" kern="1200" cap="none" spc="0" normalizeH="0" baseline="0" noProof="0" dirty="0">
              <a:ln>
                <a:noFill/>
              </a:ln>
              <a:solidFill>
                <a:srgbClr val="AC0049"/>
              </a:solidFill>
              <a:effectLst/>
              <a:uLnTx/>
              <a:uFillTx/>
              <a:latin typeface="Aptos ExtraBold" panose="020B0004020202020204" pitchFamily="34" charset="0"/>
              <a:ea typeface="+mn-ea"/>
              <a:cs typeface="+mn-cs"/>
            </a:endParaRPr>
          </a:p>
        </p:txBody>
      </p:sp>
      <p:sp>
        <p:nvSpPr>
          <p:cNvPr id="14" name="CuadroTexto 13">
            <a:extLst>
              <a:ext uri="{FF2B5EF4-FFF2-40B4-BE49-F238E27FC236}">
                <a16:creationId xmlns:a16="http://schemas.microsoft.com/office/drawing/2014/main" id="{460C7593-825D-98F5-ADE5-F991EF7D4E05}"/>
              </a:ext>
            </a:extLst>
          </p:cNvPr>
          <p:cNvSpPr txBox="1"/>
          <p:nvPr/>
        </p:nvSpPr>
        <p:spPr>
          <a:xfrm>
            <a:off x="7784793" y="2334420"/>
            <a:ext cx="21278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AC0049"/>
                </a:solidFill>
                <a:effectLst/>
                <a:uLnTx/>
                <a:uFillTx/>
                <a:latin typeface="Aptos ExtraBold" panose="020B0004020202020204" pitchFamily="34" charset="0"/>
                <a:ea typeface="+mn-ea"/>
                <a:cs typeface="+mn-cs"/>
              </a:rPr>
              <a:t>PROPUESTA</a:t>
            </a:r>
            <a:endParaRPr kumimoji="0" lang="es-CO" sz="1400" b="1" i="0" u="none" strike="noStrike" kern="1200" cap="none" spc="0" normalizeH="0" baseline="0" noProof="0" dirty="0">
              <a:ln>
                <a:noFill/>
              </a:ln>
              <a:solidFill>
                <a:srgbClr val="AC0049"/>
              </a:solidFill>
              <a:effectLst/>
              <a:uLnTx/>
              <a:uFillTx/>
              <a:latin typeface="Aptos ExtraBold" panose="020B0004020202020204" pitchFamily="34" charset="0"/>
              <a:ea typeface="+mn-ea"/>
              <a:cs typeface="+mn-cs"/>
            </a:endParaRPr>
          </a:p>
        </p:txBody>
      </p:sp>
      <p:graphicFrame>
        <p:nvGraphicFramePr>
          <p:cNvPr id="16" name="Tabla 15">
            <a:extLst>
              <a:ext uri="{FF2B5EF4-FFF2-40B4-BE49-F238E27FC236}">
                <a16:creationId xmlns:a16="http://schemas.microsoft.com/office/drawing/2014/main" id="{243BDB37-5680-6834-374E-49E0AD07D58E}"/>
              </a:ext>
            </a:extLst>
          </p:cNvPr>
          <p:cNvGraphicFramePr>
            <a:graphicFrameLocks noGrp="1"/>
          </p:cNvGraphicFramePr>
          <p:nvPr>
            <p:extLst>
              <p:ext uri="{D42A27DB-BD31-4B8C-83A1-F6EECF244321}">
                <p14:modId xmlns:p14="http://schemas.microsoft.com/office/powerpoint/2010/main" val="2954149411"/>
              </p:ext>
            </p:extLst>
          </p:nvPr>
        </p:nvGraphicFramePr>
        <p:xfrm>
          <a:off x="824283" y="2960771"/>
          <a:ext cx="3940865" cy="1530350"/>
        </p:xfrm>
        <a:graphic>
          <a:graphicData uri="http://schemas.openxmlformats.org/drawingml/2006/table">
            <a:tbl>
              <a:tblPr/>
              <a:tblGrid>
                <a:gridCol w="1701800">
                  <a:extLst>
                    <a:ext uri="{9D8B030D-6E8A-4147-A177-3AD203B41FA5}">
                      <a16:colId xmlns:a16="http://schemas.microsoft.com/office/drawing/2014/main" val="3423425632"/>
                    </a:ext>
                  </a:extLst>
                </a:gridCol>
                <a:gridCol w="1155700">
                  <a:extLst>
                    <a:ext uri="{9D8B030D-6E8A-4147-A177-3AD203B41FA5}">
                      <a16:colId xmlns:a16="http://schemas.microsoft.com/office/drawing/2014/main" val="3242764740"/>
                    </a:ext>
                  </a:extLst>
                </a:gridCol>
                <a:gridCol w="1083365">
                  <a:extLst>
                    <a:ext uri="{9D8B030D-6E8A-4147-A177-3AD203B41FA5}">
                      <a16:colId xmlns:a16="http://schemas.microsoft.com/office/drawing/2014/main" val="2278390364"/>
                    </a:ext>
                  </a:extLst>
                </a:gridCol>
              </a:tblGrid>
              <a:tr h="190500">
                <a:tc>
                  <a:txBody>
                    <a:bodyPr/>
                    <a:lstStyle/>
                    <a:p>
                      <a:pPr algn="ctr" fontAlgn="b">
                        <a:buNone/>
                      </a:pPr>
                      <a:r>
                        <a:rPr lang="es-CO" sz="1100" b="1" i="0" u="none" strike="noStrike">
                          <a:solidFill>
                            <a:srgbClr val="FFFFFF"/>
                          </a:solidFill>
                          <a:effectLst/>
                          <a:latin typeface="Calibri" panose="020F0502020204030204" pitchFamily="34" charset="0"/>
                        </a:rPr>
                        <a:t>Rango salarial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b">
                        <a:buNone/>
                      </a:pPr>
                      <a:r>
                        <a:rPr lang="es-CO" sz="1100" b="1" i="0" u="none" strike="noStrike" dirty="0">
                          <a:solidFill>
                            <a:srgbClr val="FFFFFF"/>
                          </a:solidFill>
                          <a:effectLst/>
                          <a:latin typeface="Calibri" panose="020F0502020204030204" pitchFamily="34" charset="0"/>
                        </a:rPr>
                        <a:t>Tasa FSG NAMV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b">
                        <a:buNone/>
                      </a:pPr>
                      <a:r>
                        <a:rPr lang="es-CO" sz="1100" b="1" i="0" u="none" strike="noStrike">
                          <a:solidFill>
                            <a:srgbClr val="FFFFFF"/>
                          </a:solidFill>
                          <a:effectLst/>
                          <a:latin typeface="Calibri" panose="020F0502020204030204" pitchFamily="34" charset="0"/>
                        </a:rPr>
                        <a:t>Tasa Mensual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1978947629"/>
                  </a:ext>
                </a:extLst>
              </a:tr>
              <a:tr h="196850">
                <a:tc>
                  <a:txBody>
                    <a:bodyPr/>
                    <a:lstStyle/>
                    <a:p>
                      <a:pPr algn="ctr" fontAlgn="b">
                        <a:buNone/>
                      </a:pPr>
                      <a:r>
                        <a:rPr lang="es-CO" sz="1100" b="0" i="0" u="none" strike="noStrike">
                          <a:solidFill>
                            <a:srgbClr val="000000"/>
                          </a:solidFill>
                          <a:effectLst/>
                          <a:latin typeface="Calibri" panose="020F0502020204030204" pitchFamily="34" charset="0"/>
                        </a:rPr>
                        <a:t>0-1_SMMLV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6,78%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5314446"/>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1-1.1_SMMLV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6,78%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7045808"/>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1.1-1.5_SMMLV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6,48%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6320691"/>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1.5-4_SMMLV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5,21%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5002765"/>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4-8_SMMLV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1363730"/>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8-12_SMMLV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2452924"/>
                  </a:ext>
                </a:extLst>
              </a:tr>
              <a:tr h="190500">
                <a:tc>
                  <a:txBody>
                    <a:bodyPr/>
                    <a:lstStyle/>
                    <a:p>
                      <a:pPr algn="ctr" fontAlgn="b">
                        <a:buNone/>
                      </a:pPr>
                      <a:r>
                        <a:rPr lang="es-CO" sz="1100" b="0" i="0" u="none" strike="noStrike">
                          <a:solidFill>
                            <a:srgbClr val="000000"/>
                          </a:solidFill>
                          <a:effectLst/>
                          <a:latin typeface="Calibri" panose="020F0502020204030204" pitchFamily="34" charset="0"/>
                        </a:rPr>
                        <a:t>Mayor o igual a12_SMMLV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dirty="0">
                          <a:solidFill>
                            <a:srgbClr val="000000"/>
                          </a:solidFill>
                          <a:effectLst/>
                          <a:latin typeface="Calibri" panose="020F0502020204030204" pitchFamily="34" charset="0"/>
                        </a:rPr>
                        <a:t>1,94%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dirty="0">
                          <a:solidFill>
                            <a:srgbClr val="000000"/>
                          </a:solidFill>
                          <a:effectLst/>
                          <a:latin typeface="Calibri" panose="020F0502020204030204" pitchFamily="34" charset="0"/>
                        </a:rPr>
                        <a:t>0,16%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8345942"/>
                  </a:ext>
                </a:extLst>
              </a:tr>
            </a:tbl>
          </a:graphicData>
        </a:graphic>
      </p:graphicFrame>
      <p:graphicFrame>
        <p:nvGraphicFramePr>
          <p:cNvPr id="18" name="Tabla 17">
            <a:extLst>
              <a:ext uri="{FF2B5EF4-FFF2-40B4-BE49-F238E27FC236}">
                <a16:creationId xmlns:a16="http://schemas.microsoft.com/office/drawing/2014/main" id="{759CB53F-F851-DC0D-1454-D5DF60913FE2}"/>
              </a:ext>
            </a:extLst>
          </p:cNvPr>
          <p:cNvGraphicFramePr>
            <a:graphicFrameLocks noGrp="1"/>
          </p:cNvGraphicFramePr>
          <p:nvPr>
            <p:extLst>
              <p:ext uri="{D42A27DB-BD31-4B8C-83A1-F6EECF244321}">
                <p14:modId xmlns:p14="http://schemas.microsoft.com/office/powerpoint/2010/main" val="4009810565"/>
              </p:ext>
            </p:extLst>
          </p:nvPr>
        </p:nvGraphicFramePr>
        <p:xfrm>
          <a:off x="6639499" y="2769649"/>
          <a:ext cx="4418452" cy="1721472"/>
        </p:xfrm>
        <a:graphic>
          <a:graphicData uri="http://schemas.openxmlformats.org/drawingml/2006/table">
            <a:tbl>
              <a:tblPr/>
              <a:tblGrid>
                <a:gridCol w="2112865">
                  <a:extLst>
                    <a:ext uri="{9D8B030D-6E8A-4147-A177-3AD203B41FA5}">
                      <a16:colId xmlns:a16="http://schemas.microsoft.com/office/drawing/2014/main" val="1464283465"/>
                    </a:ext>
                  </a:extLst>
                </a:gridCol>
                <a:gridCol w="1215320">
                  <a:extLst>
                    <a:ext uri="{9D8B030D-6E8A-4147-A177-3AD203B41FA5}">
                      <a16:colId xmlns:a16="http://schemas.microsoft.com/office/drawing/2014/main" val="2662440419"/>
                    </a:ext>
                  </a:extLst>
                </a:gridCol>
                <a:gridCol w="1090267">
                  <a:extLst>
                    <a:ext uri="{9D8B030D-6E8A-4147-A177-3AD203B41FA5}">
                      <a16:colId xmlns:a16="http://schemas.microsoft.com/office/drawing/2014/main" val="3791795650"/>
                    </a:ext>
                  </a:extLst>
                </a:gridCol>
              </a:tblGrid>
              <a:tr h="215184">
                <a:tc>
                  <a:txBody>
                    <a:bodyPr/>
                    <a:lstStyle/>
                    <a:p>
                      <a:pPr algn="ctr" fontAlgn="b">
                        <a:buNone/>
                      </a:pPr>
                      <a:r>
                        <a:rPr lang="es-CO" sz="1300" b="1" i="0" u="none" strike="noStrike" dirty="0">
                          <a:solidFill>
                            <a:srgbClr val="FFFFFF"/>
                          </a:solidFill>
                          <a:effectLst/>
                          <a:latin typeface="Calibri" panose="020F0502020204030204" pitchFamily="34" charset="0"/>
                        </a:rPr>
                        <a:t>Rango salarial</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b">
                        <a:buNone/>
                      </a:pPr>
                      <a:r>
                        <a:rPr lang="es-CO" sz="1300" b="1" i="0" u="none" strike="noStrike" dirty="0">
                          <a:solidFill>
                            <a:srgbClr val="FFFFFF"/>
                          </a:solidFill>
                          <a:effectLst/>
                          <a:latin typeface="Calibri" panose="020F0502020204030204" pitchFamily="34" charset="0"/>
                        </a:rPr>
                        <a:t>Tasa FSG NAMV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tc>
                  <a:txBody>
                    <a:bodyPr/>
                    <a:lstStyle/>
                    <a:p>
                      <a:pPr algn="ctr" fontAlgn="b">
                        <a:buNone/>
                      </a:pPr>
                      <a:r>
                        <a:rPr lang="es-CO" sz="1300" b="1" i="0" u="none" strike="noStrike">
                          <a:solidFill>
                            <a:srgbClr val="FFFFFF"/>
                          </a:solidFill>
                          <a:effectLst/>
                          <a:latin typeface="Calibri" panose="020F0502020204030204" pitchFamily="34" charset="0"/>
                        </a:rPr>
                        <a:t>Tasa Mensual</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004A"/>
                    </a:solidFill>
                  </a:tcPr>
                </a:tc>
                <a:extLst>
                  <a:ext uri="{0D108BD9-81ED-4DB2-BD59-A6C34878D82A}">
                    <a16:rowId xmlns:a16="http://schemas.microsoft.com/office/drawing/2014/main" val="3632677794"/>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0-1.5_SMMLV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dirty="0">
                          <a:solidFill>
                            <a:srgbClr val="000000"/>
                          </a:solidFill>
                          <a:effectLst/>
                          <a:latin typeface="Calibri" panose="020F0502020204030204" pitchFamily="34" charset="0"/>
                        </a:rPr>
                        <a:t>7,50%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0,63%</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7615548"/>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1.5-2_SMMLV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7,00%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0,58%</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8319589"/>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2-3_SMMLV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5,50%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0,46%</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9906855"/>
                  </a:ext>
                </a:extLst>
              </a:tr>
              <a:tr h="215184">
                <a:tc>
                  <a:txBody>
                    <a:bodyPr/>
                    <a:lstStyle/>
                    <a:p>
                      <a:pPr algn="ctr" fontAlgn="b">
                        <a:buNone/>
                      </a:pPr>
                      <a:r>
                        <a:rPr lang="es-CO" sz="1300" b="0" i="0" u="none" strike="noStrike" dirty="0">
                          <a:solidFill>
                            <a:srgbClr val="000000"/>
                          </a:solidFill>
                          <a:effectLst/>
                          <a:latin typeface="Calibri" panose="020F0502020204030204" pitchFamily="34" charset="0"/>
                        </a:rPr>
                        <a:t>3-4_SMMLV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2,00%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0,17%</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9449617"/>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4-8_SMMLV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0,80%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0,07%</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204695"/>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8-12_SMMLV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0,80%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a:solidFill>
                            <a:srgbClr val="000000"/>
                          </a:solidFill>
                          <a:effectLst/>
                          <a:latin typeface="Calibri" panose="020F0502020204030204" pitchFamily="34" charset="0"/>
                        </a:rPr>
                        <a:t>0,07%</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6228044"/>
                  </a:ext>
                </a:extLst>
              </a:tr>
              <a:tr h="215184">
                <a:tc>
                  <a:txBody>
                    <a:bodyPr/>
                    <a:lstStyle/>
                    <a:p>
                      <a:pPr algn="ctr" fontAlgn="b">
                        <a:buNone/>
                      </a:pPr>
                      <a:r>
                        <a:rPr lang="es-CO" sz="1300" b="0" i="0" u="none" strike="noStrike">
                          <a:solidFill>
                            <a:srgbClr val="000000"/>
                          </a:solidFill>
                          <a:effectLst/>
                          <a:latin typeface="Calibri" panose="020F0502020204030204" pitchFamily="34" charset="0"/>
                        </a:rPr>
                        <a:t>Mayor o igual a12_SMMLV</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dirty="0">
                          <a:solidFill>
                            <a:srgbClr val="000000"/>
                          </a:solidFill>
                          <a:effectLst/>
                          <a:latin typeface="Calibri" panose="020F0502020204030204" pitchFamily="34" charset="0"/>
                        </a:rPr>
                        <a:t>0,80%</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300" b="0" i="0" u="none" strike="noStrike" dirty="0">
                          <a:solidFill>
                            <a:srgbClr val="000000"/>
                          </a:solidFill>
                          <a:effectLst/>
                          <a:latin typeface="Calibri" panose="020F0502020204030204" pitchFamily="34" charset="0"/>
                        </a:rPr>
                        <a:t>0,07%</a:t>
                      </a:r>
                    </a:p>
                  </a:txBody>
                  <a:tcPr marL="7173" marR="7173" marT="71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294426"/>
                  </a:ext>
                </a:extLst>
              </a:tr>
            </a:tbl>
          </a:graphicData>
        </a:graphic>
      </p:graphicFrame>
      <p:cxnSp>
        <p:nvCxnSpPr>
          <p:cNvPr id="20" name="Conector recto 19">
            <a:extLst>
              <a:ext uri="{FF2B5EF4-FFF2-40B4-BE49-F238E27FC236}">
                <a16:creationId xmlns:a16="http://schemas.microsoft.com/office/drawing/2014/main" id="{5D522344-9D59-7F98-17CC-879EACFEE8C8}"/>
              </a:ext>
            </a:extLst>
          </p:cNvPr>
          <p:cNvCxnSpPr>
            <a:cxnSpLocks/>
          </p:cNvCxnSpPr>
          <p:nvPr/>
        </p:nvCxnSpPr>
        <p:spPr>
          <a:xfrm>
            <a:off x="5702323" y="2524538"/>
            <a:ext cx="0" cy="3756956"/>
          </a:xfrm>
          <a:prstGeom prst="line">
            <a:avLst/>
          </a:prstGeom>
          <a:ln>
            <a:solidFill>
              <a:srgbClr val="AC004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9708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1B24DFF-624D-E20A-62C0-1C86250BE60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AE4C497-6C73-F0FB-94AB-9718E219F585}"/>
              </a:ext>
            </a:extLst>
          </p:cNvPr>
          <p:cNvSpPr>
            <a:spLocks noGrp="1"/>
          </p:cNvSpPr>
          <p:nvPr>
            <p:ph type="title"/>
          </p:nvPr>
        </p:nvSpPr>
        <p:spPr>
          <a:xfrm>
            <a:off x="1112642" y="528384"/>
            <a:ext cx="9114097" cy="404304"/>
          </a:xfrm>
        </p:spPr>
        <p:txBody>
          <a:bodyPr anchor="t">
            <a:noAutofit/>
          </a:bodyPr>
          <a:lstStyle/>
          <a:p>
            <a:pPr algn="ctr"/>
            <a:r>
              <a:rPr lang="es-MX" sz="3200" b="1" dirty="0">
                <a:solidFill>
                  <a:srgbClr val="AC0049"/>
                </a:solidFill>
                <a:latin typeface="Aptos ExtraBold" panose="020B0004020202020204" pitchFamily="34" charset="0"/>
              </a:rPr>
              <a:t>Ahorro Centros Vacacionales</a:t>
            </a:r>
            <a:endParaRPr lang="es-CO" sz="3200" b="1" dirty="0">
              <a:solidFill>
                <a:srgbClr val="AC0049"/>
              </a:solidFill>
              <a:latin typeface="Aptos ExtraBold" panose="020B0004020202020204" pitchFamily="34" charset="0"/>
            </a:endParaRPr>
          </a:p>
        </p:txBody>
      </p:sp>
      <p:sp>
        <p:nvSpPr>
          <p:cNvPr id="3" name="Título 1">
            <a:extLst>
              <a:ext uri="{FF2B5EF4-FFF2-40B4-BE49-F238E27FC236}">
                <a16:creationId xmlns:a16="http://schemas.microsoft.com/office/drawing/2014/main" id="{1AB5F23E-D211-DF26-F319-0A82B67B04A7}"/>
              </a:ext>
            </a:extLst>
          </p:cNvPr>
          <p:cNvSpPr txBox="1">
            <a:spLocks/>
          </p:cNvSpPr>
          <p:nvPr/>
        </p:nvSpPr>
        <p:spPr>
          <a:xfrm>
            <a:off x="219456" y="3337962"/>
            <a:ext cx="11859768" cy="25873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endParaRPr lang="es-CO" sz="2000" dirty="0">
              <a:latin typeface="+mn-lt"/>
              <a:ea typeface="+mn-ea"/>
              <a:cs typeface="+mn-cs"/>
            </a:endParaRPr>
          </a:p>
          <a:p>
            <a:pPr marL="457200" indent="-457200">
              <a:buFont typeface="Arial" panose="020B0604020202020204" pitchFamily="34" charset="0"/>
              <a:buChar char="•"/>
            </a:pPr>
            <a:endParaRPr lang="es-CO" sz="2400" b="1" dirty="0">
              <a:solidFill>
                <a:srgbClr val="AC0049"/>
              </a:solidFill>
              <a:latin typeface="Aptos ExtraBold" panose="020B0004020202020204" pitchFamily="34" charset="0"/>
            </a:endParaRPr>
          </a:p>
        </p:txBody>
      </p:sp>
    </p:spTree>
    <p:extLst>
      <p:ext uri="{BB962C8B-B14F-4D97-AF65-F5344CB8AC3E}">
        <p14:creationId xmlns:p14="http://schemas.microsoft.com/office/powerpoint/2010/main" val="76606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988599E-B51A-8CAD-73EB-95070008E80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040A434-C8AA-E307-94D9-62461018F87B}"/>
              </a:ext>
            </a:extLst>
          </p:cNvPr>
          <p:cNvSpPr>
            <a:spLocks noGrp="1"/>
          </p:cNvSpPr>
          <p:nvPr>
            <p:ph type="title"/>
          </p:nvPr>
        </p:nvSpPr>
        <p:spPr>
          <a:xfrm>
            <a:off x="1030346" y="800779"/>
            <a:ext cx="9114097" cy="404304"/>
          </a:xfrm>
        </p:spPr>
        <p:txBody>
          <a:bodyPr anchor="t">
            <a:noAutofit/>
          </a:bodyPr>
          <a:lstStyle/>
          <a:p>
            <a:pPr algn="ctr"/>
            <a:br>
              <a:rPr lang="es-ES" sz="2800" b="1" dirty="0">
                <a:solidFill>
                  <a:srgbClr val="AC0049"/>
                </a:solidFill>
                <a:latin typeface="Aptos ExtraBold" panose="020B0004020202020204" pitchFamily="34" charset="0"/>
              </a:rPr>
            </a:br>
            <a:br>
              <a:rPr lang="es-CO" sz="2800" b="1" dirty="0">
                <a:solidFill>
                  <a:srgbClr val="AC0049"/>
                </a:solidFill>
                <a:latin typeface="Aptos ExtraBold" panose="020B0004020202020204" pitchFamily="34" charset="0"/>
              </a:rPr>
            </a:br>
            <a:endParaRPr lang="es-CO" sz="3200" b="1" dirty="0">
              <a:solidFill>
                <a:srgbClr val="AC0049"/>
              </a:solidFill>
              <a:latin typeface="Aptos ExtraBold" panose="020B0004020202020204" pitchFamily="34" charset="0"/>
            </a:endParaRPr>
          </a:p>
        </p:txBody>
      </p:sp>
    </p:spTree>
    <p:extLst>
      <p:ext uri="{BB962C8B-B14F-4D97-AF65-F5344CB8AC3E}">
        <p14:creationId xmlns:p14="http://schemas.microsoft.com/office/powerpoint/2010/main" val="2376338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963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8380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igrationWizId xmlns="5fbe5073-9f1c-4557-80ed-3957726eb137" xsi:nil="true"/>
    <_activity xmlns="5fbe5073-9f1c-4557-80ed-3957726eb137" xsi:nil="true"/>
    <MigrationWizIdVersion xmlns="5fbe5073-9f1c-4557-80ed-3957726eb137" xsi:nil="true"/>
    <MigrationWizIdPermissions xmlns="5fbe5073-9f1c-4557-80ed-3957726eb13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C4FE59EB982F1D4284D48F3EDFC72B77" ma:contentTypeVersion="13" ma:contentTypeDescription="Crear nuevo documento." ma:contentTypeScope="" ma:versionID="48365f4c30aaa2c8b67dfe604a94ab15">
  <xsd:schema xmlns:xsd="http://www.w3.org/2001/XMLSchema" xmlns:xs="http://www.w3.org/2001/XMLSchema" xmlns:p="http://schemas.microsoft.com/office/2006/metadata/properties" xmlns:ns3="5fbe5073-9f1c-4557-80ed-3957726eb137" targetNamespace="http://schemas.microsoft.com/office/2006/metadata/properties" ma:root="true" ma:fieldsID="52d5b85ba2beccb42e7b4faadc790d7a" ns3:_="">
    <xsd:import namespace="5fbe5073-9f1c-4557-80ed-3957726eb137"/>
    <xsd:element name="properties">
      <xsd:complexType>
        <xsd:sequence>
          <xsd:element name="documentManagement">
            <xsd:complexType>
              <xsd:all>
                <xsd:element ref="ns3:MediaServiceDateTaken" minOccurs="0"/>
                <xsd:element ref="ns3:MigrationWizId" minOccurs="0"/>
                <xsd:element ref="ns3:MigrationWizIdPermissions" minOccurs="0"/>
                <xsd:element ref="ns3:MigrationWizIdVersio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be5073-9f1c-4557-80ed-3957726eb13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igrationWizId" ma:index="9" nillable="true" ma:displayName="MigrationWizId" ma:internalName="MigrationWizId">
      <xsd:simpleType>
        <xsd:restriction base="dms:Text"/>
      </xsd:simpleType>
    </xsd:element>
    <xsd:element name="MigrationWizIdPermissions" ma:index="10" nillable="true" ma:displayName="MigrationWizIdPermissions" ma:internalName="MigrationWizIdPermissions">
      <xsd:simpleType>
        <xsd:restriction base="dms:Text"/>
      </xsd:simpleType>
    </xsd:element>
    <xsd:element name="MigrationWizIdVersion" ma:index="11" nillable="true" ma:displayName="MigrationWizIdVersion" ma:internalName="MigrationWizIdVersion">
      <xsd:simpleType>
        <xsd:restriction base="dms:Text"/>
      </xsd:simpleType>
    </xsd:element>
    <xsd:element name="_activity" ma:index="12" nillable="true" ma:displayName="_activity" ma:hidden="true" ma:internalName="_activity" ma:readOnly="false">
      <xsd:simpleType>
        <xsd:restriction base="dms:Note"/>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F58A572-1639-4CB7-B0F5-2D6DC2DE4FEF}">
  <ds:schemaRefs>
    <ds:schemaRef ds:uri="http://schemas.microsoft.com/sharepoint/v3/contenttype/forms"/>
  </ds:schemaRefs>
</ds:datastoreItem>
</file>

<file path=customXml/itemProps2.xml><?xml version="1.0" encoding="utf-8"?>
<ds:datastoreItem xmlns:ds="http://schemas.openxmlformats.org/officeDocument/2006/customXml" ds:itemID="{4BE0C968-4642-454D-8BF2-C860E51F33E2}">
  <ds:schemaRefs>
    <ds:schemaRef ds:uri="http://schemas.microsoft.com/office/2006/documentManagement/types"/>
    <ds:schemaRef ds:uri="http://www.w3.org/XML/1998/namespace"/>
    <ds:schemaRef ds:uri="http://purl.org/dc/terms/"/>
    <ds:schemaRef ds:uri="http://schemas.openxmlformats.org/package/2006/metadata/core-properties"/>
    <ds:schemaRef ds:uri="http://purl.org/dc/dcmitype/"/>
    <ds:schemaRef ds:uri="http://schemas.microsoft.com/office/2006/metadata/properties"/>
    <ds:schemaRef ds:uri="http://schemas.microsoft.com/office/infopath/2007/PartnerControls"/>
    <ds:schemaRef ds:uri="5fbe5073-9f1c-4557-80ed-3957726eb137"/>
    <ds:schemaRef ds:uri="http://purl.org/dc/elements/1.1/"/>
  </ds:schemaRefs>
</ds:datastoreItem>
</file>

<file path=customXml/itemProps3.xml><?xml version="1.0" encoding="utf-8"?>
<ds:datastoreItem xmlns:ds="http://schemas.openxmlformats.org/officeDocument/2006/customXml" ds:itemID="{B685DE6B-9907-46B4-A242-01A7770D73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be5073-9f1c-4557-80ed-3957726eb1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5036</TotalTime>
  <Words>1118</Words>
  <Application>Microsoft Office PowerPoint</Application>
  <PresentationFormat>Panorámica</PresentationFormat>
  <Paragraphs>315</Paragraphs>
  <Slides>34</Slides>
  <Notes>1</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34</vt:i4>
      </vt:variant>
    </vt:vector>
  </HeadingPairs>
  <TitlesOfParts>
    <vt:vector size="41" baseType="lpstr">
      <vt:lpstr>Aptos</vt:lpstr>
      <vt:lpstr>Aptos Display</vt:lpstr>
      <vt:lpstr>Aptos ExtraBold</vt:lpstr>
      <vt:lpstr>Arial</vt:lpstr>
      <vt:lpstr>Calibri</vt:lpstr>
      <vt:lpstr>Tema de Office</vt:lpstr>
      <vt:lpstr>Worksheet</vt:lpstr>
      <vt:lpstr>Presentación de PowerPoint</vt:lpstr>
      <vt:lpstr>Presentación de PowerPoint</vt:lpstr>
      <vt:lpstr>Evolución Tasas de Referencia</vt:lpstr>
      <vt:lpstr>Análisis Macroeconómico </vt:lpstr>
      <vt:lpstr>Presentación de PowerPoint</vt:lpstr>
      <vt:lpstr>Tasas de Stock Cartera</vt:lpstr>
      <vt:lpstr>Tasa Desembolso Mensual</vt:lpstr>
      <vt:lpstr>Desembolsos mensuales </vt:lpstr>
      <vt:lpstr>Saldo de cartera por línea</vt:lpstr>
      <vt:lpstr>Benchmarking Desembolsos - Consumo Créditos Noviembre Hasta 1 smmlv</vt:lpstr>
      <vt:lpstr>Benchmarking Desembolsos - Consumo Créditos Noviembre De 1 a 3 smmlv</vt:lpstr>
      <vt:lpstr>Benchmarking Desembolsos - Consumo Créditos Noviembre   De 3 a 6 smmlv</vt:lpstr>
      <vt:lpstr>Benchmarking Desembolsos - Consumo Créditos Noviembre De 6 a 12 smmlv</vt:lpstr>
      <vt:lpstr>Benchmarking Desembolsos - Consumo Créditos Noviembre De 12 a 25 smmlv</vt:lpstr>
      <vt:lpstr>Benchmarking Desembolsos - Consumo Créditos Noviembre  </vt:lpstr>
      <vt:lpstr>Benchmarking -  Compra de vivienda VIS pesos, Noviembre Hasta 20 años</vt:lpstr>
      <vt:lpstr>Benchmarking -  Compra de vivienda VIS pesos, Noviembre Superior a 20 años</vt:lpstr>
      <vt:lpstr>Benchmarking -  Compra de vivienda NO VIS pesos, Noviembre   Hasta 20 años</vt:lpstr>
      <vt:lpstr>Benchmarking -  Compra de vivienda NO VIS pesos, Noviembre Superior a 20 años</vt:lpstr>
      <vt:lpstr>Benchmarking -  Compra de vivienda VIS UVR, Noviembre Hasta 20 años</vt:lpstr>
      <vt:lpstr>Benchmarking -  Compra de vivienda VIS UVR, Noviembre Superior a 20 años</vt:lpstr>
      <vt:lpstr>Benchmarking -  Compra de vivienda NO VIS UVR, Noviembre Hasta 20 años</vt:lpstr>
      <vt:lpstr>Benchmarking -  Compra de vivienda NO VIS UVR, Noviembre Superior a 20 años</vt:lpstr>
      <vt:lpstr>Benchmarking Créditos Vivienda, Vehículo – Compra Cartera</vt:lpstr>
      <vt:lpstr>Saldos total pasivos</vt:lpstr>
      <vt:lpstr>TPP captación y Saldos</vt:lpstr>
      <vt:lpstr>Saldos cancelados anticipadamente </vt:lpstr>
      <vt:lpstr>Benchmarking CDATs </vt:lpstr>
      <vt:lpstr>Propuesta Cambio de Tasas </vt:lpstr>
      <vt:lpstr>Propuesta cambio FSG </vt:lpstr>
      <vt:lpstr>Ahorro Centros Vacacionales</vt:lpstr>
      <vt:lpstr>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Jheisson Castillejo Marin</dc:creator>
  <cp:lastModifiedBy>JUAN ANDRES MIRANDA ROJO</cp:lastModifiedBy>
  <cp:revision>185</cp:revision>
  <dcterms:created xsi:type="dcterms:W3CDTF">2025-04-30T20:42:46Z</dcterms:created>
  <dcterms:modified xsi:type="dcterms:W3CDTF">2026-01-22T04:20:31Z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0x010100C4FE59EB982F1D4284D48F3EDFC72B77</vt:lpwstr>
  </property>
</Properties>
</file>